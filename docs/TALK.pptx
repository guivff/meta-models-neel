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laims" id="{c22f22bd-643a-8080-0dac-29f1cff5791a}">
          <p14:sldIdLst>
            <p14:sldId id="256"/>
            <p14:sldId id="257"/>
            <p14:sldId id="258"/>
            <p14:sldId id="259"/>
            <p14:sldId id="260"/>
          </p14:sldIdLst>
        </p14:section>
        <p14:section name="What readouts say" id="{1e721163-4724-3778-540c-757a737c5965}">
          <p14:sldIdLst>
            <p14:sldId id="261"/>
            <p14:sldId id="262"/>
            <p14:sldId id="263"/>
            <p14:sldId id="264"/>
          </p14:sldIdLst>
        </p14:section>
        <p14:section name="Claim A and B" id="{1a041029-66c2-857d-899d-753448ec4d00}">
          <p14:sldIdLst>
            <p14:sldId id="265"/>
            <p14:sldId id="266"/>
            <p14:sldId id="267"/>
            <p14:sldId id="268"/>
          </p14:sldIdLst>
        </p14:section>
        <p14:section name="Causal tests" id="{3b126ecf-c10a-8e30-0886-bc11efe3295c}">
          <p14:sldIdLst>
            <p14:sldId id="269"/>
            <p14:sldId id="270"/>
            <p14:sldId id="271"/>
            <p14:sldId id="272"/>
            <p14:sldId id="273"/>
          </p14:sldIdLst>
        </p14:section>
        <p14:section name="Is it legit?" id="{5619ddd5-ede3-566a-ca20-adf5f4559a9a}">
          <p14:sldIdLst>
            <p14:sldId id="274"/>
            <p14:sldId id="275"/>
            <p14:sldId id="276"/>
            <p14:sldId id="277"/>
          </p14:sldIdLst>
        </p14:section>
        <p14:section name="Reflection and next" id="{4f6e7f41-fb26-1905-9e02-2e7a13b76cac}">
          <p14:sldIdLst>
            <p14:sldId id="278"/>
            <p14:sldId id="279"/>
            <p14:sldId id="280"/>
          </p14:sldIdLst>
        </p14:section>
        <p14:section name="Default-1" id="{05e1e359-0805-dacf-f09d-3d35a0636a08}">
          <p14:sldIdLst>
            <p14:sldId id="281"/>
          </p14:sldIdLst>
        </p14:section>
        <p14:section name="Appendix" id="{64865a32-d1f5-b493-7112-c972a59d8fe0}">
          <p14:sldIdLst>
            <p14:sldId id="283"/>
            <p14:sldId id="284"/>
            <p14:sldId id="285"/>
            <p14:sldId id="286"/>
            <p14:sldId id="287"/>
            <p14:sldId id="288"/>
            <p14:sldId id="289"/>
            <p14:sldId id="290"/>
            <p14:sldId id="291"/>
            <p14:sldId id="292"/>
            <p14:sldId id="293"/>
            <p14:sldId id="294"/>
            <p14:sldId id="295"/>
            <p14:sldId id="296"/>
            <p14:sldId id="297"/>
          </p14:sldIdLst>
        </p14:section>
        <p14:section name="Default-2" id="{da1ec711-09a4-c053-dffb-e457a69618d3}">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states the donor's value</c:v>
                </c:pt>
              </c:strCache>
            </c:strRef>
          </c:tx>
          <c:spPr>
            <a:solidFill>
              <a:srgbClr val="B03060"/>
            </a:solidFill>
            <a:effectLst/>
          </c:spPr>
          <c:invertIfNegative val="0"/>
          <c:dLbls>
            <c:numFmt formatCode="[&lt;6]&quot;&quot;;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Output format plan</c:v>
                  </c:pt>
                  <c:pt idx="1">
                    <c:v>Fact recalled</c:v>
                  </c:pt>
                  <c:pt idx="2">
                    <c:v>Implicit tense</c:v>
                  </c:pt>
                  <c:pt idx="3">
                    <c:v>Language plan</c:v>
                  </c:pt>
                  <c:pt idx="4">
                    <c:v>Nesting depth</c:v>
                  </c:pt>
                  <c:pt idx="5">
                    <c:v>Indent level</c:v>
                  </c:pt>
                </c:lvl>
              </c:multiLvlStrCache>
            </c:multiLvlStrRef>
          </c:cat>
          <c:val>
            <c:numRef>
              <c:f>Sheet1!$B$2:$B$7</c:f>
              <c:numCache>
                <c:formatCode>General</c:formatCode>
                <c:ptCount val="6"/>
                <c:pt idx="0">
                  <c:v>81</c:v>
                </c:pt>
                <c:pt idx="1">
                  <c:v>62</c:v>
                </c:pt>
                <c:pt idx="2">
                  <c:v>51</c:v>
                </c:pt>
                <c:pt idx="3">
                  <c:v>54</c:v>
                </c:pt>
                <c:pt idx="4">
                  <c:v>3</c:v>
                </c:pt>
                <c:pt idx="5">
                  <c:v>0</c:v>
                </c:pt>
              </c:numCache>
            </c:numRef>
          </c:val>
        </c:ser>
        <c:ser>
          <c:idx val="1"/>
          <c:order val="1"/>
          <c:tx>
            <c:strRef>
              <c:f>Sheet1!$C$1</c:f>
              <c:strCache>
                <c:ptCount val="1"/>
                <c:pt idx="0">
                  <c:v>the recipient's</c:v>
                </c:pt>
              </c:strCache>
            </c:strRef>
          </c:tx>
          <c:spPr>
            <a:solidFill>
              <a:srgbClr val="1F2A33"/>
            </a:solidFill>
            <a:effectLst/>
          </c:spPr>
          <c:invertIfNegative val="0"/>
          <c:dLbls>
            <c:numFmt formatCode="[&lt;6]&quot;&quot;;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Output format plan</c:v>
                  </c:pt>
                  <c:pt idx="1">
                    <c:v>Fact recalled</c:v>
                  </c:pt>
                  <c:pt idx="2">
                    <c:v>Implicit tense</c:v>
                  </c:pt>
                  <c:pt idx="3">
                    <c:v>Language plan</c:v>
                  </c:pt>
                  <c:pt idx="4">
                    <c:v>Nesting depth</c:v>
                  </c:pt>
                  <c:pt idx="5">
                    <c:v>Indent level</c:v>
                  </c:pt>
                </c:lvl>
              </c:multiLvlStrCache>
            </c:multiLvlStrRef>
          </c:cat>
          <c:val>
            <c:numRef>
              <c:f>Sheet1!$C$2:$C$7</c:f>
              <c:numCache>
                <c:formatCode>General</c:formatCode>
                <c:ptCount val="6"/>
                <c:pt idx="0">
                  <c:v>1</c:v>
                </c:pt>
                <c:pt idx="1">
                  <c:v>0</c:v>
                </c:pt>
                <c:pt idx="2">
                  <c:v>0</c:v>
                </c:pt>
                <c:pt idx="3">
                  <c:v>7</c:v>
                </c:pt>
                <c:pt idx="4">
                  <c:v>2</c:v>
                </c:pt>
                <c:pt idx="5">
                  <c:v>4</c:v>
                </c:pt>
              </c:numCache>
            </c:numRef>
          </c:val>
        </c:ser>
        <c:ser>
          <c:idx val="2"/>
          <c:order val="2"/>
          <c:tx>
            <c:strRef>
              <c:f>Sheet1!$D$1</c:f>
              <c:strCache>
                <c:ptCount val="1"/>
                <c:pt idx="0">
                  <c:v>states no value</c:v>
                </c:pt>
              </c:strCache>
            </c:strRef>
          </c:tx>
          <c:spPr>
            <a:solidFill>
              <a:srgbClr val="9A948A"/>
            </a:solidFill>
            <a:effectLst/>
          </c:spPr>
          <c:invertIfNegative val="0"/>
          <c:dLbls>
            <c:numFmt formatCode="[&lt;6]&quot;&quot;;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Output format plan</c:v>
                  </c:pt>
                  <c:pt idx="1">
                    <c:v>Fact recalled</c:v>
                  </c:pt>
                  <c:pt idx="2">
                    <c:v>Implicit tense</c:v>
                  </c:pt>
                  <c:pt idx="3">
                    <c:v>Language plan</c:v>
                  </c:pt>
                  <c:pt idx="4">
                    <c:v>Nesting depth</c:v>
                  </c:pt>
                  <c:pt idx="5">
                    <c:v>Indent level</c:v>
                  </c:pt>
                </c:lvl>
              </c:multiLvlStrCache>
            </c:multiLvlStrRef>
          </c:cat>
          <c:val>
            <c:numRef>
              <c:f>Sheet1!$D$2:$D$7</c:f>
              <c:numCache>
                <c:formatCode>General</c:formatCode>
                <c:ptCount val="6"/>
                <c:pt idx="0">
                  <c:v>0</c:v>
                </c:pt>
                <c:pt idx="1">
                  <c:v>22</c:v>
                </c:pt>
                <c:pt idx="2">
                  <c:v>13</c:v>
                </c:pt>
                <c:pt idx="3">
                  <c:v>13</c:v>
                </c:pt>
                <c:pt idx="4">
                  <c:v>64</c:v>
                </c:pt>
                <c:pt idx="5">
                  <c:v>78</c:v>
                </c:pt>
              </c:numCache>
            </c:numRef>
          </c:val>
        </c:ser>
        <c:dLbls>
          <c:numFmt formatCode="[&lt;6]&quot;&quot;;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84"/>
          <c:min val="0"/>
        </c:scaling>
        <c:delete val="0"/>
        <c:axPos val="b"/>
        <c:majorGridlines>
          <c:spPr>
            <a:ln w="6350" cap="flat">
              <a:solidFill>
                <a:srgbClr val="DDD7C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21"/>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2A33"/>
                </a:solidFill>
                <a:latin typeface="Arial"/>
              </a:defRPr>
            </a:pPr>
            <a:r>
              <a:rPr sz="1600" b="0" i="0" u="none" strike="noStrike">
                <a:solidFill>
                  <a:srgbClr val="1F2A33"/>
                </a:solidFill>
                <a:latin typeface="Arial"/>
              </a:rPr>
              <a:t>Carried: recoverable from the readout text (AUROC, 0.5 = chance)</a:t>
            </a:r>
          </a:p>
        </c:rich>
      </c:tx>
      <c:layout/>
      <c:overlay val="0"/>
    </c:title>
    <c:autoTitleDeleted val="0"/>
    <c:plotArea>
      <c:layout/>
      <c:barChart>
        <c:barDir val="bar"/>
        <c:grouping val="clustered"/>
        <c:varyColors val="0"/>
        <c:ser>
          <c:idx val="0"/>
          <c:order val="0"/>
          <c:tx>
            <c:strRef>
              <c:f>Sheet1!$B$1</c:f>
              <c:strCache>
                <c:ptCount val="1"/>
                <c:pt idx="0">
                  <c:v>Oracle Lens</c:v>
                </c:pt>
              </c:strCache>
            </c:strRef>
          </c:tx>
          <c:spPr>
            <a:solidFill>
              <a:srgbClr val="6A4C9C"/>
            </a:solidFill>
            <a:effectLst/>
          </c:spPr>
          <c:invertIfNegative val="0"/>
          <c:dLbls>
            <c:numFmt formatCode="0.0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cat>
            <c:multiLvlStrRef>
              <c:f>Sheet1!$A$2:$A$7</c:f>
              <c:multiLvlStrCache>
                <c:ptCount val="6"/>
                <c:lvl>
                  <c:pt idx="0">
                    <c:v>Python string</c:v>
                  </c:pt>
                  <c:pt idx="1">
                    <c:v>JS string</c:v>
                  </c:pt>
                  <c:pt idx="2">
                    <c:v>LaTeX math</c:v>
                  </c:pt>
                  <c:pt idx="3">
                    <c:v>Call argument</c:v>
                  </c:pt>
                  <c:pt idx="4">
                    <c:v>JSON depth</c:v>
                  </c:pt>
                  <c:pt idx="5">
                    <c:v>Code language (control)</c:v>
                  </c:pt>
                </c:lvl>
              </c:multiLvlStrCache>
            </c:multiLvlStrRef>
          </c:cat>
          <c:val>
            <c:numRef>
              <c:f>Sheet1!$B$2:$B$7</c:f>
              <c:numCache>
                <c:formatCode>General</c:formatCode>
                <c:ptCount val="6"/>
                <c:pt idx="0">
                  <c:v>0.86</c:v>
                </c:pt>
                <c:pt idx="1">
                  <c:v>0.84</c:v>
                </c:pt>
                <c:pt idx="2">
                  <c:v>0.87</c:v>
                </c:pt>
                <c:pt idx="3">
                  <c:v>0.51</c:v>
                </c:pt>
                <c:pt idx="4">
                  <c:v>0.97</c:v>
                </c:pt>
                <c:pt idx="5">
                  <c:v>0.98</c:v>
                </c:pt>
              </c:numCache>
            </c:numRef>
          </c:val>
        </c:ser>
        <c:ser>
          <c:idx val="1"/>
          <c:order val="1"/>
          <c:tx>
            <c:strRef>
              <c:f>Sheet1!$C$1</c:f>
              <c:strCache>
                <c:ptCount val="1"/>
                <c:pt idx="0">
                  <c:v>NLA</c:v>
                </c:pt>
              </c:strCache>
            </c:strRef>
          </c:tx>
          <c:spPr>
            <a:solidFill>
              <a:srgbClr val="B03060"/>
            </a:solidFill>
            <a:effectLst/>
          </c:spPr>
          <c:invertIfNegative val="0"/>
          <c:dLbls>
            <c:numFmt formatCode="0.0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cat>
            <c:multiLvlStrRef>
              <c:f>Sheet1!$A$2:$A$7</c:f>
              <c:multiLvlStrCache>
                <c:ptCount val="6"/>
                <c:lvl>
                  <c:pt idx="0">
                    <c:v>Python string</c:v>
                  </c:pt>
                  <c:pt idx="1">
                    <c:v>JS string</c:v>
                  </c:pt>
                  <c:pt idx="2">
                    <c:v>LaTeX math</c:v>
                  </c:pt>
                  <c:pt idx="3">
                    <c:v>Call argument</c:v>
                  </c:pt>
                  <c:pt idx="4">
                    <c:v>JSON depth</c:v>
                  </c:pt>
                  <c:pt idx="5">
                    <c:v>Code language (control)</c:v>
                  </c:pt>
                </c:lvl>
              </c:multiLvlStrCache>
            </c:multiLvlStrRef>
          </c:cat>
          <c:val>
            <c:numRef>
              <c:f>Sheet1!$C$2:$C$7</c:f>
              <c:numCache>
                <c:formatCode>General</c:formatCode>
                <c:ptCount val="6"/>
                <c:pt idx="0">
                  <c:v>0.99</c:v>
                </c:pt>
                <c:pt idx="1">
                  <c:v>0.97</c:v>
                </c:pt>
                <c:pt idx="2">
                  <c:v>1</c:v>
                </c:pt>
                <c:pt idx="3">
                  <c:v>0.93</c:v>
                </c:pt>
                <c:pt idx="4">
                  <c:v>0.99</c:v>
                </c:pt>
                <c:pt idx="5">
                  <c:v>0.98</c:v>
                </c:pt>
              </c:numCache>
            </c:numRef>
          </c:val>
        </c:ser>
        <c:dLbls>
          <c:numFmt formatCode="0.0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DD7CB"/>
              </a:solidFill>
              <a:prstDash val="solid"/>
              <a:round/>
            </a:ln>
          </c:spPr>
        </c:majorGridlines>
        <c:numFmt formatCode="0.00" sourceLinked="0"/>
        <c:majorTickMark val="out"/>
        <c:minorTickMark val="none"/>
        <c:tickLblPos val="low"/>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0.25"/>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2A33"/>
                </a:solidFill>
                <a:latin typeface="Arial"/>
              </a:defRPr>
            </a:pPr>
            <a:r>
              <a:rPr sz="1600" b="0" i="0" u="none" strike="noStrike">
                <a:solidFill>
                  <a:srgbClr val="1F2A33"/>
                </a:solidFill>
                <a:latin typeface="Arial"/>
              </a:rPr>
              <a:t>Stated: share of readouts that say it (blind judge)</a:t>
            </a:r>
          </a:p>
        </c:rich>
      </c:tx>
      <c:layout/>
      <c:overlay val="0"/>
    </c:title>
    <c:autoTitleDeleted val="0"/>
    <c:plotArea>
      <c:layout/>
      <c:barChart>
        <c:barDir val="bar"/>
        <c:grouping val="clustered"/>
        <c:varyColors val="0"/>
        <c:ser>
          <c:idx val="0"/>
          <c:order val="0"/>
          <c:tx>
            <c:strRef>
              <c:f>Sheet1!$B$1</c:f>
              <c:strCache>
                <c:ptCount val="1"/>
                <c:pt idx="0">
                  <c:v>Oracle Lens</c:v>
                </c:pt>
              </c:strCache>
            </c:strRef>
          </c:tx>
          <c:spPr>
            <a:solidFill>
              <a:srgbClr val="6A4C9C"/>
            </a:solidFill>
            <a:effectLst/>
          </c:spPr>
          <c:invertIfNegative val="0"/>
          <c:dLbls>
            <c:numFmt formatCode="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cat>
            <c:multiLvlStrRef>
              <c:f>Sheet1!$A$2:$A$7</c:f>
              <c:multiLvlStrCache>
                <c:ptCount val="6"/>
                <c:lvl>
                  <c:pt idx="0">
                    <c:v>Python string</c:v>
                  </c:pt>
                  <c:pt idx="1">
                    <c:v>JS string</c:v>
                  </c:pt>
                  <c:pt idx="2">
                    <c:v>LaTeX math</c:v>
                  </c:pt>
                  <c:pt idx="3">
                    <c:v>Call argument</c:v>
                  </c:pt>
                  <c:pt idx="4">
                    <c:v>JSON depth</c:v>
                  </c:pt>
                  <c:pt idx="5">
                    <c:v>Code language (control)</c:v>
                  </c:pt>
                </c:lvl>
              </c:multiLvlStrCache>
            </c:multiLvlStrRef>
          </c:cat>
          <c:val>
            <c:numRef>
              <c:f>Sheet1!$B$2:$B$7</c:f>
              <c:numCache>
                <c:formatCode>General</c:formatCode>
                <c:ptCount val="6"/>
                <c:pt idx="0">
                  <c:v>0</c:v>
                </c:pt>
                <c:pt idx="1">
                  <c:v>0</c:v>
                </c:pt>
                <c:pt idx="2">
                  <c:v>0</c:v>
                </c:pt>
                <c:pt idx="3">
                  <c:v>0</c:v>
                </c:pt>
                <c:pt idx="4">
                  <c:v>0.009375</c:v>
                </c:pt>
                <c:pt idx="5">
                  <c:v>0</c:v>
                </c:pt>
              </c:numCache>
            </c:numRef>
          </c:val>
        </c:ser>
        <c:ser>
          <c:idx val="1"/>
          <c:order val="1"/>
          <c:tx>
            <c:strRef>
              <c:f>Sheet1!$C$1</c:f>
              <c:strCache>
                <c:ptCount val="1"/>
                <c:pt idx="0">
                  <c:v>NLA</c:v>
                </c:pt>
              </c:strCache>
            </c:strRef>
          </c:tx>
          <c:spPr>
            <a:solidFill>
              <a:srgbClr val="B03060"/>
            </a:solidFill>
            <a:effectLst/>
          </c:spPr>
          <c:invertIfNegative val="0"/>
          <c:dLbls>
            <c:numFmt formatCode="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cat>
            <c:multiLvlStrRef>
              <c:f>Sheet1!$A$2:$A$7</c:f>
              <c:multiLvlStrCache>
                <c:ptCount val="6"/>
                <c:lvl>
                  <c:pt idx="0">
                    <c:v>Python string</c:v>
                  </c:pt>
                  <c:pt idx="1">
                    <c:v>JS string</c:v>
                  </c:pt>
                  <c:pt idx="2">
                    <c:v>LaTeX math</c:v>
                  </c:pt>
                  <c:pt idx="3">
                    <c:v>Call argument</c:v>
                  </c:pt>
                  <c:pt idx="4">
                    <c:v>JSON depth</c:v>
                  </c:pt>
                  <c:pt idx="5">
                    <c:v>Code language (control)</c:v>
                  </c:pt>
                </c:lvl>
              </c:multiLvlStrCache>
            </c:multiLvlStrRef>
          </c:cat>
          <c:val>
            <c:numRef>
              <c:f>Sheet1!$C$2:$C$7</c:f>
              <c:numCache>
                <c:formatCode>General</c:formatCode>
                <c:ptCount val="6"/>
                <c:pt idx="0">
                  <c:v>0.11875</c:v>
                </c:pt>
                <c:pt idx="1">
                  <c:v>0.14375</c:v>
                </c:pt>
                <c:pt idx="2">
                  <c:v>0.0875</c:v>
                </c:pt>
                <c:pt idx="3">
                  <c:v>0.01875</c:v>
                </c:pt>
                <c:pt idx="4">
                  <c:v>0.25</c:v>
                </c:pt>
                <c:pt idx="5">
                  <c:v>0.7</c:v>
                </c:pt>
              </c:numCache>
            </c:numRef>
          </c:val>
        </c:ser>
        <c:dLbls>
          <c:numFmt formatCode="0%" sourceLinked="0"/>
          <c:txPr>
            <a:bodyPr/>
            <a:lstStyle/>
            <a:p>
              <a:pPr>
                <a:defRPr b="0" i="0" strike="noStrike" sz="1100" u="none">
                  <a:solidFill>
                    <a:srgbClr val="1F2A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DD7CB"/>
              </a:solidFill>
              <a:prstDash val="solid"/>
              <a:round/>
            </a:ln>
          </c:spPr>
        </c:majorGridlines>
        <c:numFmt formatCode="0%" sourceLinked="0"/>
        <c:majorTickMark val="out"/>
        <c:minorTickMark val="none"/>
        <c:tickLblPos val="low"/>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0.25"/>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read token</c:v>
                </c:pt>
              </c:strCache>
            </c:strRef>
          </c:tx>
          <c:spPr>
            <a:solidFill>
              <a:srgbClr val="C8622B"/>
            </a:solidFill>
            <a:ln w="38100" cap="flat">
              <a:solidFill>
                <a:srgbClr val="C8622B"/>
              </a:solidFill>
              <a:prstDash val="solid"/>
              <a:round/>
            </a:ln>
            <a:effectLst/>
          </c:spPr>
          <c:invertIfNegative val="0"/>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c:symbol val="circle"/>
            <c:size val="8"/>
            <c:spPr>
              <a:solidFill>
                <a:srgbClr val="C8622B"/>
              </a:solidFill>
              <a:ln w="9525" cap="flat">
                <a:solidFill>
                  <a:srgbClr val="C8622B"/>
                </a:solidFill>
                <a:prstDash val="solid"/>
                <a:round/>
              </a:ln>
              <a:effectLst/>
            </c:spPr>
          </c:marker>
          <c:cat>
            <c:multiLvlStrRef>
              <c:f>Sheet1!$A$2:$A$6</c:f>
              <c:multiLvlStrCache>
                <c:ptCount val="5"/>
                <c:lvl>
                  <c:pt idx="0">
                    <c:v>44</c:v>
                  </c:pt>
                  <c:pt idx="1">
                    <c:v>48</c:v>
                  </c:pt>
                  <c:pt idx="2">
                    <c:v>52</c:v>
                  </c:pt>
                  <c:pt idx="3">
                    <c:v>56</c:v>
                  </c:pt>
                  <c:pt idx="4">
                    <c:v>60</c:v>
                  </c:pt>
                </c:lvl>
              </c:multiLvlStrCache>
            </c:multiLvlStrRef>
          </c:cat>
          <c:val>
            <c:numRef>
              <c:f>Sheet1!$B$2:$B$6</c:f>
              <c:numCache>
                <c:formatCode>General</c:formatCode>
                <c:ptCount val="5"/>
                <c:pt idx="0">
                  <c:v>0.013</c:v>
                </c:pt>
                <c:pt idx="1">
                  <c:v>0.057</c:v>
                </c:pt>
                <c:pt idx="2">
                  <c:v>0.663</c:v>
                </c:pt>
                <c:pt idx="3">
                  <c:v>0.876</c:v>
                </c:pt>
                <c:pt idx="4">
                  <c:v>0.871</c:v>
                </c:pt>
              </c:numCache>
            </c:numRef>
          </c:val>
          <c:smooth val="0"/>
        </c:ser>
        <c:ser>
          <c:idx val="1"/>
          <c:order val="1"/>
          <c:tx>
            <c:strRef>
              <c:f>Sheet1!$C$1</c:f>
              <c:strCache>
                <c:ptCount val="1"/>
                <c:pt idx="0">
                  <c:v>an earlier token</c:v>
                </c:pt>
              </c:strCache>
            </c:strRef>
          </c:tx>
          <c:spPr>
            <a:solidFill>
              <a:srgbClr val="9A948A"/>
            </a:solidFill>
            <a:ln w="38100" cap="flat">
              <a:solidFill>
                <a:srgbClr val="9A948A"/>
              </a:solidFill>
              <a:prstDash val="solid"/>
              <a:round/>
            </a:ln>
            <a:effectLst/>
          </c:spPr>
          <c:invertIfNegative val="0"/>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c:symbol val="circle"/>
            <c:size val="8"/>
            <c:spPr>
              <a:solidFill>
                <a:srgbClr val="9A948A"/>
              </a:solidFill>
              <a:ln w="9525" cap="flat">
                <a:solidFill>
                  <a:srgbClr val="9A948A"/>
                </a:solidFill>
                <a:prstDash val="solid"/>
                <a:round/>
              </a:ln>
              <a:effectLst/>
            </c:spPr>
          </c:marker>
          <c:cat>
            <c:multiLvlStrRef>
              <c:f>Sheet1!$A$2:$A$6</c:f>
              <c:multiLvlStrCache>
                <c:ptCount val="5"/>
                <c:lvl>
                  <c:pt idx="0">
                    <c:v>44</c:v>
                  </c:pt>
                  <c:pt idx="1">
                    <c:v>48</c:v>
                  </c:pt>
                  <c:pt idx="2">
                    <c:v>52</c:v>
                  </c:pt>
                  <c:pt idx="3">
                    <c:v>56</c:v>
                  </c:pt>
                  <c:pt idx="4">
                    <c:v>60</c:v>
                  </c:pt>
                </c:lvl>
              </c:multiLvlStrCache>
            </c:multiLvlStrRef>
          </c:cat>
          <c:val>
            <c:numRef>
              <c:f>Sheet1!$C$2:$C$6</c:f>
              <c:numCache>
                <c:formatCode>General</c:formatCode>
                <c:ptCount val="5"/>
                <c:pt idx="0">
                  <c:v>0.025</c:v>
                </c:pt>
                <c:pt idx="1">
                  <c:v>0.036</c:v>
                </c:pt>
                <c:pt idx="2">
                  <c:v>0.107</c:v>
                </c:pt>
                <c:pt idx="3">
                  <c:v>0.094</c:v>
                </c:pt>
                <c:pt idx="4">
                  <c:v>0.066</c:v>
                </c:pt>
              </c:numCache>
            </c:numRef>
          </c:val>
          <c:smooth val="0"/>
        </c:ser>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block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7CB"/>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R (1 = push undone)</a:t>
                </a:r>
              </a:p>
            </c:rich>
          </c:tx>
          <c:layout/>
          <c:overlay val="0"/>
        </c:title>
        <c:numFmt formatCode="0.00" sourceLinked="0"/>
        <c:majorTickMark val="out"/>
        <c:minorTickMark val="none"/>
        <c:tickLblPos val="nextTo"/>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0.25"/>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 push</c:v>
                </c:pt>
              </c:strCache>
            </c:strRef>
          </c:tx>
          <c:spPr>
            <a:solidFill>
              <a:srgbClr val="9A948A"/>
            </a:solidFill>
            <a:effectLst/>
          </c:spPr>
          <c:invertIfNegative val="0"/>
          <c:dLbls>
            <c:numFmt formatCode="0%"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cat>
            <c:multiLvlStrRef>
              <c:f>Sheet1!$A$2:$A$3</c:f>
              <c:multiLvlStrCache>
                <c:ptCount val="2"/>
                <c:lvl>
                  <c:pt idx="0">
                    <c:v>easy items</c:v>
                  </c:pt>
                  <c:pt idx="1">
                    <c:v>resistant items</c:v>
                  </c:pt>
                </c:lvl>
              </c:multiLvlStrCache>
            </c:multiLvlStrRef>
          </c:cat>
          <c:val>
            <c:numRef>
              <c:f>Sheet1!$B$2:$B$3</c:f>
              <c:numCache>
                <c:formatCode>General</c:formatCode>
                <c:ptCount val="2"/>
                <c:pt idx="0">
                  <c:v>0.5853658536585366</c:v>
                </c:pt>
                <c:pt idx="1">
                  <c:v>1</c:v>
                </c:pt>
              </c:numCache>
            </c:numRef>
          </c:val>
        </c:ser>
        <c:ser>
          <c:idx val="1"/>
          <c:order val="1"/>
          <c:tx>
            <c:strRef>
              <c:f>Sheet1!$C$1</c:f>
              <c:strCache>
                <c:ptCount val="1"/>
                <c:pt idx="0">
                  <c:v>with push</c:v>
                </c:pt>
              </c:strCache>
            </c:strRef>
          </c:tx>
          <c:spPr>
            <a:solidFill>
              <a:srgbClr val="C8622B"/>
            </a:solidFill>
            <a:effectLst/>
          </c:spPr>
          <c:invertIfNegative val="0"/>
          <c:dLbls>
            <c:numFmt formatCode="0%"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cat>
            <c:multiLvlStrRef>
              <c:f>Sheet1!$A$2:$A$3</c:f>
              <c:multiLvlStrCache>
                <c:ptCount val="2"/>
                <c:lvl>
                  <c:pt idx="0">
                    <c:v>easy items</c:v>
                  </c:pt>
                  <c:pt idx="1">
                    <c:v>resistant items</c:v>
                  </c:pt>
                </c:lvl>
              </c:multiLvlStrCache>
            </c:multiLvlStrRef>
          </c:cat>
          <c:val>
            <c:numRef>
              <c:f>Sheet1!$C$2:$C$3</c:f>
              <c:numCache>
                <c:formatCode>General</c:formatCode>
                <c:ptCount val="2"/>
                <c:pt idx="0">
                  <c:v>0.09523809523809523</c:v>
                </c:pt>
                <c:pt idx="1">
                  <c:v>1</c:v>
                </c:pt>
              </c:numCache>
            </c:numRef>
          </c:val>
        </c:ser>
        <c:dLbls>
          <c:numFmt formatCode="0%"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7CB"/>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readout states the old answer</a:t>
                </a:r>
              </a:p>
            </c:rich>
          </c:tx>
          <c:layout/>
          <c:overlay val="0"/>
        </c:title>
        <c:numFmt formatCode="0%" sourceLinked="0"/>
        <c:majorTickMark val="out"/>
        <c:minorTickMark val="none"/>
        <c:tickLblPos val="nextTo"/>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0.25"/>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E137 chains</c:v>
                </c:pt>
              </c:strCache>
            </c:strRef>
          </c:tx>
          <c:spPr>
            <a:solidFill>
              <a:srgbClr val="C8622B"/>
            </a:solidFill>
            <a:ln w="38100" cap="flat">
              <a:solidFill>
                <a:srgbClr val="C8622B"/>
              </a:solidFill>
              <a:prstDash val="solid"/>
              <a:round/>
            </a:ln>
            <a:effectLst/>
          </c:spPr>
          <c:invertIfNegative val="0"/>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c:symbol val="circle"/>
            <c:size val="8"/>
            <c:spPr>
              <a:solidFill>
                <a:srgbClr val="C8622B"/>
              </a:solidFill>
              <a:ln w="9525" cap="flat">
                <a:solidFill>
                  <a:srgbClr val="C8622B"/>
                </a:solidFill>
                <a:prstDash val="solid"/>
                <a:round/>
              </a:ln>
              <a:effectLst/>
            </c:spPr>
          </c:marker>
          <c:cat>
            <c:multiLvlStrRef>
              <c:f>Sheet1!$A$2:$A$6</c:f>
              <c:multiLvlStrCache>
                <c:ptCount val="5"/>
                <c:lvl>
                  <c:pt idx="0">
                    <c:v>44</c:v>
                  </c:pt>
                  <c:pt idx="1">
                    <c:v>48</c:v>
                  </c:pt>
                  <c:pt idx="2">
                    <c:v>52</c:v>
                  </c:pt>
                  <c:pt idx="3">
                    <c:v>56</c:v>
                  </c:pt>
                  <c:pt idx="4">
                    <c:v>60</c:v>
                  </c:pt>
                </c:lvl>
              </c:multiLvlStrCache>
            </c:multiLvlStrRef>
          </c:cat>
          <c:val>
            <c:numRef>
              <c:f>Sheet1!$B$2:$B$6</c:f>
              <c:numCache>
                <c:formatCode>General</c:formatCode>
                <c:ptCount val="5"/>
                <c:pt idx="0">
                  <c:v>0.0057</c:v>
                </c:pt>
                <c:pt idx="1">
                  <c:v>0.0387</c:v>
                </c:pt>
                <c:pt idx="2">
                  <c:v>0.2678</c:v>
                </c:pt>
                <c:pt idx="3">
                  <c:v>0.3626</c:v>
                </c:pt>
                <c:pt idx="4">
                  <c:v>0.7474</c:v>
                </c:pt>
              </c:numCache>
            </c:numRef>
          </c:val>
          <c:smooth val="0"/>
        </c:ser>
        <c:ser>
          <c:idx val="1"/>
          <c:order val="1"/>
          <c:tx>
            <c:strRef>
              <c:f>Sheet1!$C$1</c:f>
              <c:strCache>
                <c:ptCount val="1"/>
                <c:pt idx="0">
                  <c:v>E133 chains</c:v>
                </c:pt>
              </c:strCache>
            </c:strRef>
          </c:tx>
          <c:spPr>
            <a:solidFill>
              <a:srgbClr val="D9A35C"/>
            </a:solidFill>
            <a:ln w="38100" cap="flat">
              <a:solidFill>
                <a:srgbClr val="D9A35C"/>
              </a:solidFill>
              <a:prstDash val="solid"/>
              <a:round/>
            </a:ln>
            <a:effectLst/>
          </c:spPr>
          <c:invertIfNegative val="0"/>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c:symbol val="circle"/>
            <c:size val="8"/>
            <c:spPr>
              <a:solidFill>
                <a:srgbClr val="D9A35C"/>
              </a:solidFill>
              <a:ln w="9525" cap="flat">
                <a:solidFill>
                  <a:srgbClr val="D9A35C"/>
                </a:solidFill>
                <a:prstDash val="solid"/>
                <a:round/>
              </a:ln>
              <a:effectLst/>
            </c:spPr>
          </c:marker>
          <c:cat>
            <c:multiLvlStrRef>
              <c:f>Sheet1!$A$2:$A$6</c:f>
              <c:multiLvlStrCache>
                <c:ptCount val="5"/>
                <c:lvl>
                  <c:pt idx="0">
                    <c:v>44</c:v>
                  </c:pt>
                  <c:pt idx="1">
                    <c:v>48</c:v>
                  </c:pt>
                  <c:pt idx="2">
                    <c:v>52</c:v>
                  </c:pt>
                  <c:pt idx="3">
                    <c:v>56</c:v>
                  </c:pt>
                  <c:pt idx="4">
                    <c:v>60</c:v>
                  </c:pt>
                </c:lvl>
              </c:multiLvlStrCache>
            </c:multiLvlStrRef>
          </c:cat>
          <c:val>
            <c:numRef>
              <c:f>Sheet1!$C$2:$C$6</c:f>
              <c:numCache>
                <c:formatCode>General</c:formatCode>
                <c:ptCount val="5"/>
                <c:pt idx="0">
                  <c:v>0.011</c:v>
                </c:pt>
                <c:pt idx="1">
                  <c:v>0.0445</c:v>
                </c:pt>
                <c:pt idx="2">
                  <c:v>0.2641</c:v>
                </c:pt>
                <c:pt idx="3">
                  <c:v>0.3201</c:v>
                </c:pt>
                <c:pt idx="4">
                  <c:v>0.7435</c:v>
                </c:pt>
              </c:numCache>
            </c:numRef>
          </c:val>
          <c:smooth val="0"/>
        </c:ser>
        <c:ser>
          <c:idx val="2"/>
          <c:order val="2"/>
          <c:tx>
            <c:strRef>
              <c:f>Sheet1!$D$1</c:f>
              <c:strCache>
                <c:ptCount val="1"/>
                <c:pt idx="0">
                  <c:v>control</c:v>
                </c:pt>
              </c:strCache>
            </c:strRef>
          </c:tx>
          <c:spPr>
            <a:solidFill>
              <a:srgbClr val="2E7F7A"/>
            </a:solidFill>
            <a:ln w="38100" cap="flat">
              <a:solidFill>
                <a:srgbClr val="2E7F7A"/>
              </a:solidFill>
              <a:prstDash val="solid"/>
              <a:round/>
            </a:ln>
            <a:effectLst/>
          </c:spPr>
          <c:invertIfNegative val="0"/>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c:symbol val="circle"/>
            <c:size val="8"/>
            <c:spPr>
              <a:solidFill>
                <a:srgbClr val="2E7F7A"/>
              </a:solidFill>
              <a:ln w="9525" cap="flat">
                <a:solidFill>
                  <a:srgbClr val="2E7F7A"/>
                </a:solidFill>
                <a:prstDash val="solid"/>
                <a:round/>
              </a:ln>
              <a:effectLst/>
            </c:spPr>
          </c:marker>
          <c:cat>
            <c:multiLvlStrRef>
              <c:f>Sheet1!$A$2:$A$6</c:f>
              <c:multiLvlStrCache>
                <c:ptCount val="5"/>
                <c:lvl>
                  <c:pt idx="0">
                    <c:v>44</c:v>
                  </c:pt>
                  <c:pt idx="1">
                    <c:v>48</c:v>
                  </c:pt>
                  <c:pt idx="2">
                    <c:v>52</c:v>
                  </c:pt>
                  <c:pt idx="3">
                    <c:v>56</c:v>
                  </c:pt>
                  <c:pt idx="4">
                    <c:v>60</c:v>
                  </c:pt>
                </c:lvl>
              </c:multiLvlStrCache>
            </c:multiLvlStrRef>
          </c:cat>
          <c:val>
            <c:numRef>
              <c:f>Sheet1!$D$2:$D$6</c:f>
              <c:numCache>
                <c:formatCode>General</c:formatCode>
                <c:ptCount val="5"/>
                <c:pt idx="0">
                  <c:v>0.004</c:v>
                </c:pt>
                <c:pt idx="1">
                  <c:v>0.006</c:v>
                </c:pt>
                <c:pt idx="2">
                  <c:v>0.0248</c:v>
                </c:pt>
                <c:pt idx="3">
                  <c:v>0.0293</c:v>
                </c:pt>
                <c:pt idx="4">
                  <c:v>0.0312</c:v>
                </c:pt>
              </c:numCache>
            </c:numRef>
          </c:val>
          <c:smooth val="0"/>
        </c:ser>
        <c:dLbls>
          <c:numFmt formatCode="#,##0" sourceLinked="0"/>
          <c:txPr>
            <a:bodyPr/>
            <a:lstStyle/>
            <a:p>
              <a:pPr>
                <a:defRPr b="0" i="0" strike="noStrike" sz="1200" u="none">
                  <a:solidFill>
                    <a:srgbClr val="1F2A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block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7CB"/>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R (swap effect)</a:t>
                </a:r>
              </a:p>
            </c:rich>
          </c:tx>
          <c:layout/>
          <c:overlay val="0"/>
        </c:title>
        <c:numFmt formatCode="0.00" sourceLinked="0"/>
        <c:majorTickMark val="out"/>
        <c:minorTickMark val="none"/>
        <c:tickLblPos val="nextTo"/>
        <c:spPr>
          <a:ln w="12700" cap="flat">
            <a:noFill/>
            <a:prstDash val="solid"/>
            <a:round/>
          </a:ln>
        </c:spPr>
        <c:txPr>
          <a:bodyPr/>
          <a:lstStyle/>
          <a:p>
            <a:pPr>
              <a:defRPr sz="1300" b="0" i="0" u="none" strike="noStrike">
                <a:solidFill>
                  <a:srgbClr val="56606B"/>
                </a:solidFill>
                <a:latin typeface="Arial"/>
              </a:defRPr>
            </a:pPr>
            <a:endParaRPr lang="en-US"/>
          </a:p>
        </c:txPr>
        <c:crossAx val="2094734554"/>
        <c:crosses val="autoZero"/>
        <c:crossBetween val="between"/>
        <c:majorUnit val="0.25"/>
      </c:valAx>
      <c:spPr>
        <a:solidFill>
          <a:srgbClr val="F7F5EF"/>
        </a:solidFill>
        <a:ln>
          <a:noFill/>
        </a:ln>
        <a:effectLst/>
      </c:spPr>
    </c:plotArea>
    <c:legend>
      <c:legendPos val="b"/>
      <c:overlay val="0"/>
      <c:txPr>
        <a:bodyPr/>
        <a:lstStyle/>
        <a:p>
          <a:pPr>
            <a:defRPr sz="1300">
              <a:solidFill>
                <a:srgbClr val="1F2A33"/>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then the hypothesis: "When do meta-models reveal more than the prompt? We look at reporting gaps and read-site limits in two readers, Oracle Lens and NLA. Our working hypothesis: two activation readers mostly tell you what the prompt says. They report Qwen's own state only where it has become large at the read token."
How we got here (one sentence): we started by asking whether two readers agreeing makes a readout more reliable. On natural banks agreement raises precision to 0.94 but covers only 23% of items (E94, appendix A15), and both readers can omit the same property. That moved the question from whether readouts agree to whether they reveal anything beyond the prompt.
Three things to remember, said now so Neel knows what is coming: (1) state can be decodable inside the reader and carried in its words, yet not stated (slides 7–10); (2) where you read matters causally: a large upstream push becomes visible at the read token only from block 52 (slides 15–16); (3) improving readers means separating access to information from the incentive to describe it (slides 13–14, 23).
Scope, said out loud: Qwen3.6-27B; two readers (the Oracle Lens and the NLA); mostly synthetic banks plus one public benchmark (WorkspaceBench, from Suraj). "Mostly" and "so far" are load-bearing. This is a working hypothesis we tried to break, not a universal verdict about activation readers.
The three dots on the right are the method of the talk. Decodable: a held-out linear probe can read a property from an activation (AUROC). Causal here: patching the activation at one token and one layer changes Qwen's answer (a normalised logit effect, R). Stated: the reader's text explicitly says it (a judged rate with a denominator). Every slide has these three dots in the top right; the filled ones say which of the three that slide measures. They are different units and we never put them on one axis.
Handoff plan: Guiv takes slides 1–4, Suraj the benchmark (5), Guiv 6–9, Suraj 10–14, Guiv 15–22, Suraj 23, Guiv closes.
Likely objection: "Isn't 'mostly the prompt' obvious for a reader trained to reconstruct?" Answer: it is the null hypothesis we expected, and the interest is in where it fails. We show one place it can be moved (supervised naming, Suraj exp 30) and one place where strong upstream changes are followed (late blocks), and we propose the experiment that would falsify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claims and our credences, as Neel asked. H is the overall hypothesis; A is Suraj's descriptive result; B is Suraj's explanation for the NLA. For each, say what would move it.
Two claims. Claim A, which I hold at about 85%: both readers carry position-in-text state, such as being inside a string or which table column, in what they write, and almost never state it. Oracle Lens never states it; the NLA states it in a minority of readouts, in its own wording. My credence would drop if the readouts carry no more than a copy of the last 32 tokens, which we have not measured, or if human labels disagree with our judge. Claim B, about 55%: the NLA's silence is a habit set by its warm start, and the reconstruction reward neither pays for it nor removes it. It rests on replaying one training run, so it is closer to a coin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Neel asks what was done before the sprint. Two separate starting points.
Suraj (5–13 Oct): replicated both readers (FVE 0.761; WorkspaceBench 12 of 12 inside our CIs); found the J-space survival test can't separate in-J from non-J; pre-registered a confirmatory run (rev 4.3) that was never run.
Guiv: started from 'when can we trust what a reader says, and does agreement between readers mean it is right?'. On 297 arrow puzzles the target model got wrong, J-lens and Oracle Lens recovered its actual answer reliably only around block 52, while a task-trained probe had signal at block 42. Strong two-name discrimination largely vanished with 29-name scoring (about 2–6% correct). With norm-matched interventions, the component outside J-space flipped 64/64 answers versus 0/64 for the J-space component, yet Oracle's planted-name preference was 53% versus 70%: reader sensitivity and causal importance came apart.
What the sprint kept: Suraj's replication and the WorkspaceBench re-solving result; Guiv's agreement question became E94 (agreement raises precision to 0.94 but covers 23% of items), which moved the question to what readouts reveal beyond the prompt; the late-block and sensitivity-vs-causal observations became the causal tests in Part 3. On 23 Oct Neel asked what one method finds that another can't; Suraj dropped the confirmatory run (D35).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physically happens. Qwen3.6-27B runs the prompt. We take the residual-stream output of one decoder block at one token position. In HuggingFace terms, the output of block L is hidden_states[L+1], because hidden_states[0] is the embedding. That vector, h, is the only thing the reader gets about the prompt.
Oracle Lens (default subject block 44): the reader has its own prompt with a marker token; we replace the marker's input embedding with h rescaled to a fixed norm, 16000·h/‖h‖. Then it writes short continuations.
NLA (default subject block 42): h is added at the reader's first block on the marker position, scaled to the norm of the reader's own residual there: h₁ ← h₁ + ‖h₁‖·ĥ. It then writes an explanation. The NLA is RL-trained so that a critic can rebuild h from the text: that training objective is the reason we suspect reconstruction.
Read token. In chat banks the read token is the assistant-onset position: the last token of the prompt before generation. In the transfer chains (E133/E137) there is no chat template; we read the raw final token " by" of "The brass key is now held by". People confuse this with the first generated token; it is not.
Why this matters: every later claim is about what is in h at that one position and layer. A probe reads h; a patch changes h; the reader describes h.
Objection: "Why these layers?" Oracle 44 and NLA 42 are where each reader was trained to read. Cross-depth studies are all for the Oracle (appendix A13); the NLA only reads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vocabulary for the rest of the talk.
1. Decodable. Train a linear probe on activations with a held-out split; report AUROC. Judge-free. It says the information is linearly present, nothing about use.
2. Causal here. Change the activation at one token and one layer, and measure the normalised change in Qwen's answer logit difference. We use two different interventions later and keep them distinct: E126 restores one clean token into a steered run; E133/E137 swap the read token with an opposite twin's. Both give a number R between about 0 and 1, but they are different experiments.
3. Stated. A blind LLM judge sees only the readout plus the property and candidate values, answers YES/NO, and a YES must quote the text. Reported as k of n with missing readouts shown.
The judge is not perfect: on Guiv's hand-coded audit (E71) agreement was κ 0.68 on 63 usable pairs, just under our registered 0.70 bar. Its main error is a false YES — counting a readout that exhibits a property (e.g. writes in English) as stating it — which makes judged rates on language-like rows unreliable. It also has false NOs (4 of 23), mostly on one reasoning row. The audit packet did not include the nesting, indent or cue rows, so the near-zeros there are not directly audited; they would need the judge to miss almost every statement.
Objection: "Why not just use the judge for everything?" Because a reader can carry information it never says; that gap is the object of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numbers, what the readers produce. Both readouts here are verbatim (shortened with ellipses) from our G1 pilot, where both readers read the same Qwen activation: block 42, last token of the chat-rendered prompt, first sample.
Top: "What is the opposite of 'hot'? (Answer in Spanish, one word.)" The Oracle Lens continues as if it were the assistant: "- Frío / - Frío / - Frío (This is the single most common Spanish word…". The NLA describes the prompt: "Q&amp;A format pattern … now delivering a Spanish-language direct answer … (e.g., "Frío")". Both get it right.
Bottom: "Elif carries the rope and Jonas carries the lantern. Who carries the lantern? Name only." The Oracle writes "- Alice / - John"; the NLA says the model must answer "Alex" to "Who sits first." Neither mentions Elif or Jonas. Both have rebuilt a prompt of the right kind — a name-only question — and answered that.
This is the pattern the talk is about: a readout is a reconstruction of a prompt like this one, answered from the backbone's knowledge. When the reconstruction keeps the specifics (Spanish, cold), the answer is right; when it keeps only the format, the reader confabulates.
These are selected, not representative; we chose them because they show the two styles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result was a negative one, about the benchmark. One judge answers WorkspaceBench from different inputs. The prompt alone scores 0.89, the NLA's readout alone 0.60, Oracle Lens's 0.56, and prompt plus readout 0.88, so the readout adds nothing. None of the NLA's 187 passes is missed by all eight prompt-only texts. Of Oracle Lens's 159, 4 are, all Chinese spellings the regex credits. Oracle Lens's published lead also comes from taking the best of 11 layers per item; at layer 42 the NLA ties or beats it. So we had to build items where the text is fixed and only the activation moves.
WorkspaceBench asks a reader to recover a multi-token piece of the prompt (a misspelt word, a named entity, a code identifier) from one activation. 400 items.
The matched comparison is the first two bars. The NLA reading the block-42 activation solves 0.47 [0.42, 0.52]. The same base Qwen, with no adapter and no activation, given the prompt text under the NLA's own instruction, solves 0.46 [0.41, 0.51]. McNemar p = 0.75 (80 items only the reader gets, 75 only text-only gets). The Oracle Lens at 42 gets 0.40.
The grey box is a different quantity and we keep it separate on purpose: if you take the union of eight prompt-only samples (two models × two templates, several seeds), 0.96 of items are solved by at least one. That is best-of-eight coverage, not compute-matched against a single reader readout. Its use: 0 of the NLA's 187 hits were missed by every prompt-only sample — every NLA success is text-recoverable.
What this does and does not show. It shows that benchmark success cannot distinguish reading the activation from reconstructing the prompt and answering. It does not show the reader ignores the activation: at block 42 the activation encodes the prompt, so the two are the same thing here. That is why every later experiment either intervenes on the activation or picks items where the text and Qwen's own answer come apart. This is the experiment Neel asks for in his MATS 12 stream doc: "tasks that cannot be easily solved by just reconstructing the surrounding text".
Further numbers (appendix A7): text-only Qwen given only the NLA's readout solves 0.57; of the NLA's checkable claims, 0.62 are supported by the text vs 0.92 for text-only — the gap is mostly misquotations of the prompt (36% contradicted), not model-private content; text-only scores depend a lot on template (0.76 with the benchmark's own template). The Oracle at 42 is off its trained grid (it scores 0.37 / 0.39 at 40 / 44, so the conclusion does not change).
The box also shows where the Oracle's published lead comes from (Suraj's M3): its published WorkspaceBench score counts an item as passed if any of 11 layers passes — 0.65 — against 0.37–0.40 at any single layer. Best-of-N helps everyone: text-only Qwen with three samples reaches 0.69.
Objection: "Isn't the text-only arm stronger than a fair baseline?" It's the same model and same instruction, one sample; the stronger templates make the point stronger, not weaker.
Handoff back to Guiv for a test where the text and Qwen's own answer diverge.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Benchmarks can't separate reading the activation from rebuilding the prompt. So we built items where they come apart: the same one-hop fact asked in two wordings, where Qwen itself gives different answers. If the reader reads Qwen's computation, it should say X on wording A and Y on wording B.
Construction (E140): 600 questions in two paraphrases across eight relation templates; Qwen greedy answer on each. Because of a time cap we screened the first 300 pairs; 58 had two different, non-empty answers. We read both members of each pair with the Oracle at blocks 44, 52, 60; a blind judge codes each readout as X, Y, another value or none.
The funnel is the honest part: at block 60 only 12 of 58 pairs have both readouts stating exactly one value. 7 of 116 readouts are missing; 15 state several values. On those 12, the reader follows Qwen's per-wording answer once (1/12, Wilson [0.015, 0.35]) and gives the same answer to both wordings 11 times. Counting multi-value readouts as non-tracking: 1/24 and 11/24. Block 52 is identical (1/12).
Pre-stated descriptive readings: tracking (≥ 0.60 with Wilson lower bound &gt; 0.45) NOT MET; the 'prior' or same-answer reading (≥ 0.50) MET. R-5 reviewed (328 values matched).
Reading: on a natural-scale change in Qwen's answer, the reader answers the question it reconstructs rather than tracking this forward pass. Caveats: conditional on 12 pairs; wording changes also move text-only models; the reader may be insensitive at this scale rather than ignoring the activation.
Contrast, appendix A4: with much larger interventions the reader does follow — a whole swapped-in activation (63/84, E138R) or a strong push (84/84 at block 52, E109). Those are different interventions and different denominators, not one accuracy scale.
The example on the slide is a template, not a realised item; realised pairs are kept private for future judging.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Intervention: run the recipient prompt through Qwen, but at block 44 replace the read token's whole residual vector with the one from a donor item whose value differs (e.g. a different fact, a different nesting depth). The Oracle Lens reads the swapped vector. A blind judge codes each readout: does it state the donor's value, the recipient's, both, or neither?
S = (#donor-only − #recipient-only) / kept readouts, 84 items per row. Content rows follow the donor: output format plan 0.95, fact recalled 0.74, implicit tense 0.65, language plan 0.62. Structural rows do not: nesting depth 0.01, indent −0.05, page-range digit 0.00. Registered rule R-PC (at least 4 of 5 reported rows follow): MET 5/5, reviewed by R-Q.
The chart answers the obvious objection to a signed score — is S ≈ 0 silence or cancellation? For nesting (64/84) and indent (78/84) the readout states no value at all: silence. For the page digit it is partly cancellation: 10 donor, 10 recipient, 7 both. That census is post hoc and descriptive.
Reading: what a text reconstruction carries is the content of the prompt; it exhibits structure (it writes indented code) without naming it.
Objection: "Maybe the Oracle can't represent nesting at all." Next slide: inside the reader, a probe reads it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A on one plot. Each point is one row of the independent public bank for one reader. The x axis is how well the state comes back when the NLA's critic rebuilds the activation from the reader's own free readout, scored by a probe trained on true activations. The y axis is how often a blind judge says the readout states the value. Structural rows sit bottom right for both readers. The only row the NLA states freely is the language control, Python versus JavaScript, at 0.70; Oracle Lens states nothing. Two flaws are on the slide: the critic is the NLA's own, so the NLA's carrying is in distribution, and the two axes come from different splits.
This is the same distinction as slides 7–8, measured on a different bank by a different instrument: real code and markdown files from public packages and arXiv, read at layer 42.
x-axis, "carries it": take the reader's free readout, let the NLA's critic rebuild the layer-42 activation from that text alone, and ask a frozen probe whether the rebuilt vector still separates the two values (e.g. inside vs outside a string). AUROC 0.5 means the text carries nothing. For the NLA's explanations: 0.93–1.00 on the five string, math, argument and depth rows. For the Oracle's readouts: 0.84–0.97 on four of them, 0.51 on call argument.
y-axis, "states it": a blind judge reads k = 8 readouts per item and asks whether the readout names the value. The Oracle states nothing: 0 on every row (max 0.009). The NLA: 0.01–0.25 on the structural rows (JSON depth is the highest at 0.25), 0.70 on the positive control (code language, a property its describing style names). Not every row is carried: the Oracle's call-argument (0.51) and both markdown rows sit near chance. The clean contrast is the four readable rows: Python string, JS string, LaTeX math, JSON depth.
Markdown rows are the honest negatives: list and heading are near 0.5 even in the true text span (0.50, 0.62), so there is little to carry.
So the readouts carry the structure because they reproduce the text that contains it; they do not say it. Caveats: the Oracle's readouts go through the NLA's critic, which is out of distribution for them (class-direction cosine 0.54–0.68 vs 0.78–0.90 for the NLA), so do not compare the two readers' carry values directly. Carry is measured on 160 selection items with one readout each; states on 40 mining items with eight samples. Author results; registered predictions scored in exp 22 and 25 RESULTS.
Handoff: the next slide asks where in the activation that state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is Neel's difference-term swap, which Guiv ran. Split each activation into the part the NLA's reconstructor rebuilds from Oracle Lens's bullets and the remainder. Swap one part in from a donor of the other class, and ask whether the NLA's answer follows the donor. On table column it follows through the remainder 0.98 and through the Oracle Lens part 0.01; parenthesis 0.87 against 0.12; list index 0.98 against 0.03. The language control reverses, 0.10 against 0.92. Position is in the part Oracle Lens's words do not rebuild. Both parts come from one reconstructor and one seeded pairing.
Exp 14 asked: is the Oracle Lens's reconstruction-based reward blind to the properties the Oracle never states? No: a probe on the reconstruction of TRUE text reads table column and parenthesis at AUROC 1.00 and 0.93. But the reward barely moves when you swap a statement about a concept ("column one" vs "column five": 0.03 of the gap). The reward pays for exhibiting the text, not for describing it.
Exp 16 decomposes the NLA-space activation h at block 42: R_OL is what the NLA's own reconstructor rebuilds from the Oracle's text; the difference term is h − R_OL. Swap only the difference term from a donor item into a recipient, and ask whether the NLA's readout follows the donor. Table column 0.98, parenthesis 0.87, list index 0.98; language 0.10. Swap only the Oracle-text part instead and language follows (0.92) while position does not (0.01 / 0.12 / 0.03). Unit: donor-follow AUROC over 200 recipient items, 0.5 = no information.
Reading: position-in-text state is in the part of the activation the Oracle's text does not rebuild; language is in the part it does.
Caveat we disclose: Guiv's earlier E7 used the same algebra but different banks, partner plans and one readout per item, and found much weaker following on the matching rows (0.39 / 0.57 / 0.51). E27 reproduced both and could not assign the difference to one cause. The headline 0.98 also swaps h − R_OL; the algebra-matched swap (R_NLA − R_OL) gives 0.95 / 0.77 / 0.83, still far above E7. So: suggestive of a mechanism, not established.
Handoff: this is why we suspected that the training objective shapes what gets said; the next slides test that directly.
Objection: "Is AUROC 0.98 'following'?" It is the probability that a readout scored for the donor's value outranks one scored for the recipient's, over item pairs; it is not a naming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exp 18 we revised the NLA rules in writing and ran two prospective banks on real text: exp 19, and exp 22, the public rebuild. Against the declared bar they looked close, all cells 0.79 both times. But we never pre-registered a baseline. Always predicting low gets 33 of 38 on exp 19's primary cells, against our 31, and ties at 30 on exp 22. Most cells are near-automatic. The one rule that does better than the baseline is the NLA naming the complement value. We found this on 30 October, recomputing every figure from raw files, after we had already quoted the scorecards as passing.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carry the state. Oracle Lens never names it, because its reconstructor rewards text that re-creates the activation, and statements do not. The NLA names some of it in its describing register. The reward neither pays for those statements (exp 28) nor charges for them (exp 30), and RL leaves the rate where the warm start set it (exp 29). Claim B is at 55% because it is a replay of one run. The counterfactual, RL against a critic that pays for statements, needs GRPO code we do not have: three to five engineer-days.
Now claim B: why does the NLA rarely name structure? Exp 29 scores ten points along its own training history. The text-only warm start states structure on 17 to 49% of readouts; the activation warm start drops that to 1 to 21%; 800 RL steps leave it at 0 to 29%, with no trend. Over the same steps, reconstruction on Python strings rises from 0.18 to 0.59 FVE, and code-language naming from 0.55 to 0.71 to 0.77 by the judge, mostly by step 100. RL changed what it pays for and left structural naming where the warm start put it. One final critic scores all checkpoints.
If the reward neither pays nor charges for statements, teaching the NLA to name should cost nothing. Exp 30 trains a 400-step supervised adapter to append one true statement of the state. Reconstruction is unchanged: 0.507, against 0.512 for the control. Where the probe reads the state, the statements are right 0.79 to 1.00 of the time on held-out files. Naming does not generalise: a held-out row is named 0.53, and at random in-string points the adapter says inside 0.12, outside 0.24 and nothing 0.64. Three of five predictions failed, all of them the generalisation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causal experiment, so the method gets its own slide.
Bank: E56 fact recall, 84 test items of the form "Archived question: The capital of Peru is / End of archived question. / Current question: The capital of France is", read at the final "is". Qwen's answer: Paris; the competing answer in the prompt: Lima.
Step 1, steer (E104). At the output of block 40 we add α·‖d‖·d̂ to the residual stream at the eight positions immediately before the read token, t−8 … t−1. We never touch the read token itself. d is the class-mean difference of block-40 activations between the two answers on 84 separate dev items; d̂ its unit vector. At α = 8 the added vector is 2.23× the median unsteered block-40 norm: a large push. It flips Qwen's pair preference on 84/84 test items; a norm-matched random direction flips 42/84 (chance).
Step 2, score. Δ is the log-odds of the full target continuation minus the original continuation (fixed strings).
Step 3, restore (E126). Run the steered model again but copy the CLEAN run's activation into the read token at exactly one block ℓ ∈ {44, 48, 52, 56, 60} — one run per ℓ. R_ℓ = (Δ_steered − Δ_restored) / (Δ_steered − Δ_clean): the share of the push that restoring that one cell undoes. Controls: restore an earlier token instead; push in a norm-matched random direction.
Why this design: the push enters upstream, at other positions, so if it reaches the read token it must be carried there by attention in later blocks. Restoration asks at which depth the read token has come to carry it.
Objection: "2.2× norm is off-distribution." Yes. That is why this is a map of where a strong push becomes visible, not a claim about natural computation; the unsteered chains (slides 18–19) are the natural-scale companion.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orange line: restoring the clean read token undoes almost none of the push at block 44 (R = 0.013) or 48 (0.057), then 0.66 at 52, 0.88 at 56, 0.87 at 60. Medians over 84 items with item-bootstrap CIs; at 52 the CI is [0.51, 0.80]. Controls stay flat: restoring an earlier token peaks at 0.11, a norm-matched random push gives ~0. Registered rule R-MED1: MET (R-Q reviewed).
Interpretation: the steered answer reaches the read token's residual stream between blocks 48 and 52. Before that, the read token at 44 still carries the clean computation.
The reader agrees with this map. E109: the Oracle reading block 44 of the steered run still states the OLD answer (signed score −0.52); reading 52 or 60 it states the new answer on 84/84 (S = +1.00). So the "stale" readout at 44 is faithful to what the read token carries at 44.
Two outcome measures, kept apart on the right: pair-logit preference (84/84) is not the same as Qwen saying it. In free generation Qwen's text states the new answer on only 43/84, neither on 41. Our registered rule wanted ≥ 80% (E131 R-TX1: NOT MET).
Does not show: that block 44 is "too early" in general — this is one bank under a large push, and the same experiment's language row is non-monotone (R 0.29 at 44, 0.41 at 48, 0.29 at 52, 0.52 at 56, 0.75 at 60), descriptive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earlier draft said "the early reader reads stale state on confident facts": under the push, the block-44 reader states the old answer on items that resist the push. This slide is the control that changed our mind.
Groups: items that flip at a small push ("easy", 42) vs items that need a large push ("resistant", 42), defined by the push strength at which Qwen's pair preference flips. Orange: under a moderate push (α 6, E135), the block-44 reader states the old answer on 4/42 easy and 40/40 resistant items. Grey: with NO push at all (the clean run, exploratory §248C), 24/41 and 42/42.
So on resistant items the reader says the old answer whether or not we push. On easy items the push does change the readout (24/41 with no push → 4/42 under the push). The source calls this an association only. The early readout is following what Qwen answers on that item, not lagging behind a change.
Caveats: post hoc groups, one bank; the grey bars come from a separate exploratory analysis. This is a correction to our own story, not a new confirmatory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steering experiments, the obvious objection is: a 2.2× push is not natural. E133 and E137 remove the push entirely.
Items: synthetic transfer chains — "The brass key starts with Alice. Alice hands the brass key to Bob. … The brass key is now held by". Qwen must track the current holder. No chat template: the raw prompt ends with " by" (token 539) and that is the read token.
E133 had a recency confound: the holder was often the last name mentioned. E137 adds an anti-recency control: after the last hand-over, one or two distractor sentences mention other names ("Later, Carl asks Dana about the brass key. Bob waves to Carl."), so the most recent name is never the holder. (Design D2, a hand-back to an earlier holder, yielded only 19 pairs and is descriptive only.)
Intervention: build twin prompts that differ only in the last recipient. Run twin A, and at block ℓ replace ONLY the read-token activation with twin B's. R_ℓ = (Δ_swapped − Δ_own)/(Δ_other − Δ_own), Δ being Qwen's log-odds between the two recipients. Controls: swap an earlier token; norm-matched random.
This is not E126. E126 put a clean token back into a steered run. Here nothing is steered; we ask when the read token comes to carry the answer on its own.
The text on the slide is assembled from the bank templates for illustration; the sealed items are kept outside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causal here: twin-swap R at the read token is 0.006 at block 44, 0.04 at 48, 0.27 at 52, 0.36 at 56 and 0.75 at 60 (E137 design D1, 42 pairs; pair-bootstrap CIs narrow; earlier-token and random controls ≤ 0.03). The darker line is E133, the earlier bank with a recency confound: 0.011, 0.045, 0.264, 0.320, 0.744 — the same curve on a different bank, so the late pattern does not come from the recency confound. The answer only becomes a large part of the read token late.
Right, stated: what the Oracle reading that block says. At 44 it names the current holder in 13/79 readouts, the previous holder in 3/79, ANOTHER name in 35/79 and no holder in 28/79. At 60 the current holder rises to 25/76.
Bottom band, decodable — and here we must be careful. A probe for the holder's identity scores macro AUROC 0.978 at block 44 and 1.00 from 48, but that average covers only 8 of the 10 holder classes (24 test items); R-4 says it does not establish full identity decoding. The registered binary twin probe is at chance (about 0.43 at every block). So we do not claim the holder is cleanly decodable at 44.
Registered: the later-site rule (R ≥ 0.50 at block 52 or 56) was NOT MET (0.27, 0.36); only block 60 reaches 0.75, descriptively. We also predicted natural staleness — the early reader names the previous holder ≥ 0.30. Observed 3/79: NOT MET (E133: 3/82). R-4: no timing inference follows from these outcomes. The early reader is not stale; it mostly names someone else or no one. Reviewed by R-4 (243 values, 0 discrepancy).
Does not show: that this is how natural text behaves (synthetic chains), or why early readouts pick other names (a plausible reading: a reconstructed prompt answered generically, as in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 agents did most of the execution, so this is a fair question. Three things helped. We hashed pre-registrations for exps 18, 19 and 22 before any reader ran, so those predictions could not drift. Falsifiers fired: exp 18 failed, and the 0.30 rule and the window account were withdrawn, all dated in the decision log. A five-reviewer adversarial panel on 28 October found the confound between reward and warm start, and exps 28 to 30 came from it. It also slipped. The raw recompute on 30 October found 49 places where a written number disagreed with the raw files, about 23 distinct corrections. Two changed a conclusion: the always-low baseline and exp 19's exhibits cell. Agent summaries of agent work drifted, and only recomputing from raw caught it.
Three corrections, each found by a check, not by luck.
1. E138 → E138R. The original donor-swap bank sent the judge the recipient's answer as a list of single characters, so the key control (the reader does NOT state the recipient's own answer, ≤ 0.05) could be met by the artefact alone. A reviewer agent found it by reading the actual judge inputs. We rejudged once with whole strings (bank E138R): donor's fact 63/84, recipient's 0/84, random arm 0/83 — the same headline, now with a valid control. It is an authorised post-output correction, not a new pre-registered replication, and R-5 notes it cannot separate reading from re-solving. Lesson: input audits catch what pre-registration does not.
2. E71. Guiv hand-coded 100 readouts blind to the judge's codes (he knows the hypotheses). 63 were comparable (36 had no judge reference, 1 unparseable); on those the LLM judge agrees at κ 0.68 for three classes (registered bar 0.70, NOT MET) and 0.46 for four classes. The judge's main error is treating doing as saying (false YES 8/40), which inflates judged rates on language-like rows. It also misses some statements (false NO 4/23, mostly one reasoning row). The audit did not cover the nesting, indent or cue rows, so their near-zeros are not directly audited.
3. S16 vs E7. Two experiments disagree strongly on the table-column row (S16 0.98 with its headline swap, 0.95 with the algebra-matched swap, vs E7 0.39). E27 reproduced both and could not assign the difference to one cause. So the decomposition story on slide 11 is a hypothesis.
Also in the appendix: E139 (proxy reward, all true-minus-false intervals include zero), E140 missingness, and the full registration ledger with MET / NOT MET / NOT EVALUABLE / NOT RUN.
On reviewers: R-2 to R-5 and R-Q are agent sessions that re-ran analyses on sealed outputs, scoped to particular experiments. They are not human replications, and not every number was independently recomputed; the ledger says which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baselines in one place. A prompt-only text model scores 0.89 on WorkspaceBench, against 0.60 and 0.56 for the readouts, and adding the readout gives 0.88. Comparing at the same layer removes Oracle Lens's best-of-11 lead. Shuffling the 32 tokens drops structure to 0.44 to 0.50 on the public bank, while code language keeps 0.98. Every push is a z against 20 random directions of the same size. Always-low is the baseline we added late, and it ties or beats the rules. A bag-of-tokens classifier with no critic gives the same ordering on Oracle Lens's readouts and is lower for the NLA on a few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ways the result could be boring. One: carrying is just copying the window. Open: Oracle Lens's readout carries about what a copy of the last 32 tokens carries, and we never measured verbatim overlap. Two: the judge cannot see structure. Partly tested: it sees language and code language, but we validated it only on positive controls, never against humans. Three: one run, one layer, one model. Open. Four: the warm-start story is a replay without a counterfactual. Partly. Five: position features are trivially everywhere. Tested: shuffling removes them, and some rows are unreadable. Six: the rules are no better than always-low. Tested, and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hypothesis stands, graded by evidence type.
Left: registered rules, written before their data, that came out as predicted. Middle: results consistent with the hypothesis but interpreted afterwards — including Suraj's benchmark parity, which had no registered prediction. Right: what would falsify or change it. The failed registrations (appendix A2) are why the hypothesis has its current shape: 'stale early reader' and 'tracks Qwen's answer' were both registered and both failed.
The hypothesis: a readout is the prompt reconstructed and answered from the backbone; it reports Qwen's own computation only where that computation has become large, text-like content at the read token. "Mostly" is scoped to the readers, layers and banks we tested. A single counter-example does not falsify "mostly"; a powered benchmark of verified private state does, within its domain.
What we are NOT claiming: that reconstruction reward causes the silence (exp 29 is confounded; E139 is a proxy), that readers re-solve in general (E140 rests on 12 pairs), or that our banks are natural (they are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I would do differently. Pre-register the baseline with the rules: always-low would have told us on 27 October that the scorecards were mostly automatic. Audit the written record against raw files every week, not on the last weekend. Start the statement-aware critic on day 3, since it is the experiment that tests claim B and it takes days of engineering. Use fewer rows with more items: with eight rows per bank, every scorecard was a one-cell call around its bar. And bring in a second model early, because everything here is one model and one NLA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I take away, as a student. First, I came in trusting the benchmark; the first week taught me that a score means something only once you know what it holds constant. Second, pre-registration alone was not enough: we hashed predictions and still missed that always predicting low matched our rules, so the baseline has to be declared with the prediction. Third, LLM agents did most of the execution, and the record drifted from the data in 49 places. Only recomputing from raw files caught it; I would now do it weekly. Fourth, the most useful day was the day exp 18 failed, because the repair, statement-sayability, became the organising idea. Fifth, reconstructors are nearly blind to descriptions, so whether a reader names a state seems to depend on its training register more than on what it can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in order of cost. Without a GPU: measure how much of each readout copies the last 32 tokens and ask an LLM monitor to recover the state from the readout alone, and have two people label 600 readouts so the naming numbers no longer depend on one judge. About $25 to $40: a larger naming adapter that holds out whole families, which separates access from habit. A day or two: the open Llama-3.3-70B NLA at layer 53. Then the experiment that tests claim B directly, a critic that pays for statements followed by RL, at $500 to $800 and several engineer-days. To close: both readers carry the state and almost never say it.
Why this one first: without a test that the prompt text cannot pass, we cannot tell whether a better objective (slide 23) produces a reader that reads the model or one that writes more plausibly. Mining is the cost: E110 found 0 stable-wrong items in 3,000 TwoHopFact questions, and E140 kept 58 of 300 pairs.
The hypothesis says readers report the prompt answered from the backbone. The decisive test is a benchmark where that strategy fails by construction: items whose state is private to this forward pass. E140 shows this is possible but expensive: 58 Qwen-discordant pairs out of 300 screened, and only 12 evaluable at the reader.
Design. Cross question identity (same / different wording) with verified state (same / different answer). A reader that answers the question will track identity; a reader that reads the model will track state. Verify the state two ways: repeated sampling of Qwen, and a read-token patch that moves the answer.
Baselines, all at matched coverage: same backbone given only the text the reader decodes; same backbone given the prompt, k-matched samples (not best-of-8); a linear probe on the answer logit as a ceiling.
Endpoint: tracking rate with missing counted as failure; powered for a 0.15 edge.
Falsifier for us: readers beat the best text-only baseline on verified private state. Falsifier for the benchmark: the readout follows identity, not state.
Objection: "Why not use the steering bank?" Because a 2.2× push is not a natural state; E126 tells you where a big push is visible, not whether natural private state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 and the open problem. Decodable, causal here, and stated are different measurements; on our banks they come apart in a consistent way. A reader faithful to the text is not yet faithful to the model. What would convince us otherwise is a powered, matched benchmark of verified private state. That is experiment 1. Thank you; appendix slides answer most method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concept at a read token has several separable properties, and each property has one instrument and one line fixed before any reader ran. Readable: a logistic probe with folds grouped by source file, line 0.80. Span-sayable: the critic rebuilds the vector from the true last 32 tokens and the frozen probe scores the rebuild, line 0.80. Statement shift: how far a one-sentence statement moves the rebuild, line 0.30, now withdrawn. Used: a centred push at 11% of the norm, z against 20 random directions of the same size. J-enriched: the direction's share in the J-space against random, line 1.5. On the right are the reader scores: prompted, states, exhibits and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French versus German is the control that every later row is compared with. It is readable at 1.00, a statement of it moves the critic 0.51, it is J-enriched, the NLA states it on 81 to 95% of readouts, and Oracle Lens writes in it on 56% while stating it once in 320. If the instruments disagreed with each other on this control, none of the position rows that follow could be interpreted. One wrinkle, shown on the slide: exp 18's own enrichment instrument gives 1.38, just under its 1.5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position-in-text rows. Asked a forced choice, the NLA separates table column at 1.00, parenthesis at 0.96 and list depth at 0.96. Unprompted, it states table column on 41% of readouts and parenthesis on 30%; Oracle Lens states none of them, 0 of 2,240 on the new rows. Line position on fresh items is at chance for every reader, so this family is not one uniform feature. Guiv's independent bank gives the NLA 0.56 on table column. Cross-scoring shows that is mostly phrasing: 0.85 with our phrasings on his items. His bank also agrees that Oracle Lens never states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only two candidates, a reader could simply prefer one phrasing. So exp 17 rescored table column over all six column values. First versus late stays at 0.89. The NLA's argmax is 'first' on 75 of 80 first-cell items, 94%, and it never picks columns four to six, even when one of them is true. So the NLA detects a marked state, first cell or not, and we call it detection. The 94% is a forced-choice argmax; in free readouts the NLA states the column 41%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part one. Oracle Lens's own reconstructor at layer 44 rebuilds position from the true 32-token span: a probe on the rebuild separates table column at 1.00 and parenthesis at 0.93. Fed Oracle Lens's own bullets, it falls to 0.66 and 0.60. A one-sentence statement of the property moves the rebuild 0.03 to 0.10 of the class gap, language included: 'French language' gives 0.10, while a bullet written in French gives 1.39. Through the NLA's critic, statements move table column 0.07, parenthesis −0.05 and language 0.72. So the reconstructors see position in real text and almost ignore a sentence that states it. These are aggregates only, with no intervals.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which is the part I find interesting. Pushing the activation along the class direction moves the model's own next token: newline at z +7.1 for table column, close-paren at +19.8. The direction rebuilt from the true span also moves it, +6.0 for parenthesis. The direction rebuilt from a statement does not move the model, +0.7, yet Oracle Lens follows it at +12.3 and the J-lens at +10.1. If you want to use a reader as a monitor, this is the caveat: a reader can follow a direction the model ignores, so a moved readout does not show that the model uses that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wrote rules that should predict each reader on new concepts, hashed them, and only then ran the readers. Exp 18 failed: 44 of 70 cells, 0.63, against a declared 0.80. The NLA rule 'states exactly when the model uses it' got 5 of 10. LaTeX math is the most used row and is never stated; natural language has no next-token use and is stated 95% of the time. That failure is where we got the idea that the NLA states what text can say rather than what the model relies on. The synthetic banks also carried vocabulary the J-lens read. For scale, always predicting low scores 40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revised rule said the NLA states a property exactly when a statement of it moves the critic by at least 0.30 of the class gap. Exp 28 measured that shift with eight paraphrase pairs on all 47 rows we had. The shift separates the language-like rows from structure. Within structure it predicts little: Spearman 0.28, permutation p 0.08, and table column, call argument and parenthesis are stated 30 to 41% of the time with shifts near zero. So we withdrew the rule. A narrower point survives: no structural statement moves the critic more than 0.19, so the reward cannot be paying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Neel suggested asking whether the readers lose the state or just do not say it. Exp 20 tests that directly. The model's own activation over the last 32 tokens carries every readable state at 0.90 to 1.00. The same tokens shuffled fall toward chance, so the state is in the order of the tokens, not just their vocabulary. Oracle Lens's free readout, through the critic, carries it at 0.64 to 0.94, weakest on table column, parenthesis and call argument. The NLA's carries it at 0.87 to 1.00, in distribution for its own critic. This result retired our window account on 27 October. The Markdown rows are not linearly present at layer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are built around the state, so we also read at random points in random public documents, with no prompting. By the judge, Oracle Lens states 'inside a string' on 0 of 598 in-string readouts. The strict regex finds 17 hits in 1,939, only 1 of them where the state holds. The NLA states it on 22% of in-string readouts by the judge, in its own words such as 'mid-quotation', and on 2% by regex. Yet a bag-of-words classifier on the readout text alone recovers in-string at 0.72 for Oracle Lens and 0.81 for the NLA, against 0.86 from the 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that do not go through the NLA's critic on our bank. Exp 24 feeds the readouts to Oracle Lens's own reconstructor, which never saw either reader's output. Oracle Lens's readouts carry the state at 0.73 to 0.80 on five of six readable rows, and call argument at 0.61. Exp 25 repeats exp 20 on the independent public bank: 0.84 to 0.97 on string, math and depth. The flaw is on the NLA side. On the frozen probe its explanations sit at chance, and they separate only with a probe fit on their own rebuilds, 0.81 to 0.90. So the NLA half of claim A is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layer 42? Exp 26 runs Oracle Lens at all twelve of its read layers, 20 to 60. The state is linearly present from layer 20, probe 0.96 to 1.00. Oracle Lens's free readout carries it through the critic at 0.76 to 1.00, and names it in at most 2% of readouts at every layer. Call argument is carried only at layers 20 to 24. Three of four pre-registered predictions held; the miss predicted a probe rise from layer 20. For Oracle Lens, that settles the layer question in claim A. The NLA exists only at 42, so this check does not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claim B: why does the NLA rarely name structure? Exp 29 scores ten points along its own training history. The text-only warm start states structure on 17 to 49% of readouts; the activation warm start drops that to 1 to 21%; 800 RL steps leave it at 0 to 29%, with no trend. Over the same steps, reconstruction on Python strings rises from 0.18 to 0.59 FVE, and code-language naming from 0.55 to 0.71 to 0.77 by the judge, mostly by step 100. RL changed what it pays for and left structural naming where the warm start put it. One final critic scores all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reward neither pays nor charges for statements, teaching the NLA to name should cost nothing. Exp 30 trains a 400-step supervised adapter to append one true statement of the state. Reconstruction is unchanged: 0.507, against 0.512 for the control. Where the probe reads the state, the statements are right 0.79 to 1.00 of the time on held-out files. Naming does not generalise: a held-out row is named 0.53, and at random in-string points the adapter says inside 0.12, outside 0.24 and nothing 0.64. Three of five predictions failed, all of them the generalisation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as phases, with what fell. 'The NLA states what the model uses' fell to exp 18. The window account, that Oracle Lens misses states its 32-token window cannot hold, fell to exp 20 on 27 October. The theory day depended on predicting which rows Oracle Lens exhibits; a bound on reconstruction holds for every row, so it could not make that prediction and failed its test. The continuation predictor, exp 21, was exploratory and negative. The loose naming regex counted words like 'open', and we replaced it before reporting. The 0.30 rule fell to exp 28 on 28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778240" cy="274320"/>
          </a:xfrm>
          <a:prstGeom prst="rect">
            <a:avLst/>
          </a:prstGeom>
          <a:noFill/>
          <a:ln/>
        </p:spPr>
        <p:txBody>
          <a:bodyPr wrap="square" rtlCol="0"/>
          <a:lstStyle>
            <a:lvl1pPr indent="0" marL="0">
              <a:buNone/>
              <a:defRPr lang="en-US" sz="1100" b="1" spc="150" kern="0" dirty="0">
                <a:solidFill>
                  <a:schemeClr val="tx2"/>
                </a:solidFill>
              </a:defRPr>
            </a:lvl1pPr>
          </a:lstStyle>
          <a:p>
            <a:pPr indent="0" marL="0">
              <a:buNone/>
            </a:pPr>
            <a:endParaRPr lang="en-US" sz="1100" dirty="0"/>
          </a:p>
        </p:txBody>
      </p:sp>
      <p:sp>
        <p:nvSpPr>
          <p:cNvPr id="3" name="Text 0"/>
          <p:cNvSpPr/>
          <p:nvPr>
            <p:ph idx="101" type="title" hasCustomPrompt="1"/>
          </p:nvPr>
        </p:nvSpPr>
        <p:spPr>
          <a:xfrm>
            <a:off x="548640" y="566928"/>
            <a:ext cx="8869680" cy="914400"/>
          </a:xfrm>
          <a:prstGeom prst="rect">
            <a:avLst/>
          </a:prstGeom>
          <a:noFill/>
          <a:ln/>
        </p:spPr>
        <p:txBody>
          <a:bodyPr wrap="square" rtlCol="0"/>
          <a:lstStyle>
            <a:lvl1pPr algn="l" indent="0" marL="0">
              <a:buNone/>
              <a:defRPr lang="en-US" sz="2700" dirty="0">
                <a:solidFill>
                  <a:schemeClr val="tx1"/>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4" name="Text 0"/>
          <p:cNvSpPr/>
          <p:nvPr>
            <p:ph idx="102" type="body" hasCustomPrompt="1"/>
          </p:nvPr>
        </p:nvSpPr>
        <p:spPr>
          <a:xfrm>
            <a:off x="548640" y="5943600"/>
            <a:ext cx="11064240" cy="457200"/>
          </a:xfrm>
          <a:prstGeom prst="rect">
            <a:avLst/>
          </a:prstGeom>
          <a:noFill/>
          <a:ln/>
        </p:spPr>
        <p:txBody>
          <a:bodyPr wrap="square" rtlCol="0"/>
          <a:lstStyle>
            <a:lvl1pPr indent="0" marL="0">
              <a:buNone/>
              <a:defRPr lang="en-US" sz="1200" dirty="0">
                <a:solidFill>
                  <a:schemeClr val="tx1"/>
                </a:solidFill>
              </a:defRPr>
            </a:lvl1pPr>
          </a:lstStyle>
          <a:p>
            <a:pPr indent="0" marL="0">
              <a:buNone/>
            </a:pPr>
            <a:endParaRPr lang="en-US" sz="1200" dirty="0"/>
          </a:p>
        </p:txBody>
      </p:sp>
      <p:sp>
        <p:nvSpPr>
          <p:cNvPr id="5" name="Text 0"/>
          <p:cNvSpPr/>
          <p:nvPr>
            <p:ph idx="103" type="body" hasCustomPrompt="1"/>
          </p:nvPr>
        </p:nvSpPr>
        <p:spPr>
          <a:xfrm>
            <a:off x="548640" y="6437376"/>
            <a:ext cx="10241280" cy="256032"/>
          </a:xfrm>
          <a:prstGeom prst="rect">
            <a:avLst/>
          </a:prstGeom>
          <a:noFill/>
          <a:ln/>
        </p:spPr>
        <p:txBody>
          <a:bodyPr wrap="square" rtlCol="0"/>
          <a:lstStyle>
            <a:lvl1pPr indent="0" marL="0">
              <a:buNone/>
              <a:defRPr lang="en-US" sz="1100" dirty="0">
                <a:solidFill>
                  <a:schemeClr val="tx2"/>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09960" y="6437376"/>
            <a:ext cx="548640"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660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2A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640080"/>
            <a:ext cx="10058400" cy="274320"/>
          </a:xfrm>
          <a:prstGeom prst="rect">
            <a:avLst/>
          </a:prstGeom>
          <a:noFill/>
          <a:ln/>
        </p:spPr>
        <p:txBody>
          <a:bodyPr wrap="square" rtlCol="0"/>
          <a:lstStyle>
            <a:lvl1pPr indent="0" marL="0">
              <a:buNone/>
              <a:defRPr lang="en-US" sz="1200" b="1" spc="150" kern="0" dirty="0">
                <a:solidFill>
                  <a:srgbClr val="B9B3A7"/>
                </a:solidFill>
              </a:defRPr>
            </a:lvl1pPr>
          </a:lstStyle>
          <a:p>
            <a:pPr indent="0" marL="0">
              <a:buNone/>
            </a:pPr>
            <a:endParaRPr lang="en-US" sz="1200" dirty="0"/>
          </a:p>
        </p:txBody>
      </p:sp>
      <p:sp>
        <p:nvSpPr>
          <p:cNvPr id="3" name="Text 0"/>
          <p:cNvSpPr/>
          <p:nvPr>
            <p:ph idx="101" type="title" hasCustomPrompt="1"/>
          </p:nvPr>
        </p:nvSpPr>
        <p:spPr>
          <a:xfrm>
            <a:off x="731520" y="1325880"/>
            <a:ext cx="7680960" cy="2377440"/>
          </a:xfrm>
          <a:prstGeom prst="rect">
            <a:avLst/>
          </a:prstGeom>
          <a:noFill/>
          <a:ln/>
        </p:spPr>
        <p:txBody>
          <a:bodyPr wrap="square" rtlCol="0"/>
          <a:lstStyle>
            <a:lvl1pPr algn="l" indent="0" marL="0">
              <a:buNone/>
              <a:defRPr lang="en-US" sz="3800" dirty="0">
                <a:solidFill>
                  <a:srgbClr val="F7F5EF"/>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4" name="Text 0"/>
          <p:cNvSpPr/>
          <p:nvPr>
            <p:ph idx="102" type="body" hasCustomPrompt="1"/>
          </p:nvPr>
        </p:nvSpPr>
        <p:spPr>
          <a:xfrm>
            <a:off x="731520" y="3931920"/>
            <a:ext cx="7315200" cy="2377440"/>
          </a:xfrm>
          <a:prstGeom prst="rect">
            <a:avLst/>
          </a:prstGeom>
          <a:noFill/>
          <a:ln/>
        </p:spPr>
        <p:txBody>
          <a:bodyPr wrap="square" rtlCol="0"/>
          <a:lstStyle>
            <a:lvl1pPr indent="0" marL="0">
              <a:buNone/>
              <a:defRPr lang="en-US" sz="1700" dirty="0">
                <a:solidFill>
                  <a:srgbClr val="D9D4CA"/>
                </a:solidFill>
              </a:defRPr>
            </a:lvl1pPr>
          </a:lstStyle>
          <a:p>
            <a:pPr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37376"/>
            <a:ext cx="548640" cy="256032"/>
          </a:xfrm>
          <a:prstGeom prst="rect">
            <a:avLst/>
          </a:prstGeom>
          <a:extLst>
            <a:ext uri="{C572A759-6A51-4108-AA02-DFA0A04FC94B}">
              <ma14:wrappingTextBoxFlag xmlns:ma14="http://schemas.microsoft.com/office/mac/drawingml/2011/main" val="0"/>
            </a:ext>
          </a:extLst>
        </p:spPr>
        <p:txBody>
          <a:bodyPr/>
          <a:lstStyle>
            <a:lvl1pPr>
              <a:defRPr sz="1100">
                <a:solidFill>
                  <a:srgbClr val="5660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3"/>
        </a:solidFill>
      </p:bgPr>
    </p:bg>
    <p:spTree>
      <p:nvGrpSpPr>
        <p:cNvPr id="1" name=""/>
        <p:cNvGrpSpPr/>
        <p:nvPr/>
      </p:nvGrpSpPr>
      <p:grpSpPr>
        <a:xfrm>
          <a:off x="0" y="0"/>
          <a:ext cx="0" cy="0"/>
          <a:chOff x="0" y="0"/>
          <a:chExt cx="0" cy="0"/>
        </a:xfrm>
      </p:grpSpPr>
      <p:sp>
        <p:nvSpPr>
          <p:cNvPr id="2" name="Text 0"/>
          <p:cNvSpPr/>
          <p:nvPr/>
        </p:nvSpPr>
        <p:spPr>
          <a:xfrm>
            <a:off x="731520" y="640080"/>
            <a:ext cx="10058400" cy="274320"/>
          </a:xfrm>
          <a:prstGeom prst="rect">
            <a:avLst/>
          </a:prstGeom>
          <a:noFill/>
          <a:ln/>
        </p:spPr>
        <p:txBody>
          <a:bodyPr wrap="square" lIns="0" tIns="0" rIns="0" bIns="0" rtlCol="0" anchor="t"/>
          <a:lstStyle/>
          <a:p>
            <a:pPr indent="0" marL="0">
              <a:buNone/>
            </a:pPr>
            <a:r>
              <a:rPr lang="en-US" sz="1200" b="1" spc="150" kern="0" dirty="0">
                <a:solidFill>
                  <a:srgbClr val="B9B3A7"/>
                </a:solidFill>
                <a:latin typeface="Calibri" pitchFamily="34" charset="0"/>
                <a:ea typeface="Calibri" pitchFamily="34" charset="-122"/>
                <a:cs typeface="Calibri" pitchFamily="34" charset="-120"/>
              </a:rPr>
              <a:t>MATS 12 · NEEL NANDA STREAM · EXPLORATION PHASE · 30 OCTOBER 2026</a:t>
            </a:r>
            <a:endParaRPr lang="en-US" sz="1200" dirty="0"/>
          </a:p>
        </p:txBody>
      </p:sp>
      <p:sp>
        <p:nvSpPr>
          <p:cNvPr id="3" name="Text 1"/>
          <p:cNvSpPr/>
          <p:nvPr/>
        </p:nvSpPr>
        <p:spPr>
          <a:xfrm>
            <a:off x="731520" y="1325880"/>
            <a:ext cx="10515600" cy="1737360"/>
          </a:xfrm>
          <a:prstGeom prst="rect">
            <a:avLst/>
          </a:prstGeom>
          <a:noFill/>
          <a:ln/>
        </p:spPr>
        <p:txBody>
          <a:bodyPr wrap="square" lIns="0" tIns="0" rIns="0" bIns="0" rtlCol="0" anchor="t"/>
          <a:lstStyle/>
          <a:p>
            <a:pPr indent="0" marL="0">
              <a:buNone/>
            </a:pPr>
            <a:r>
              <a:rPr lang="en-US" sz="4200" dirty="0">
                <a:solidFill>
                  <a:srgbClr val="F7F5EF"/>
                </a:solidFill>
                <a:latin typeface="Cambria" pitchFamily="34" charset="0"/>
                <a:ea typeface="Cambria" pitchFamily="34" charset="-122"/>
                <a:cs typeface="Cambria" pitchFamily="34" charset="-120"/>
              </a:rPr>
              <a:t>When do meta-models reveal more than the prompt?</a:t>
            </a:r>
            <a:endParaRPr lang="en-US" sz="4200" dirty="0"/>
          </a:p>
        </p:txBody>
      </p:sp>
      <p:sp>
        <p:nvSpPr>
          <p:cNvPr id="4" name="Text 2"/>
          <p:cNvSpPr/>
          <p:nvPr/>
        </p:nvSpPr>
        <p:spPr>
          <a:xfrm>
            <a:off x="731520" y="3108960"/>
            <a:ext cx="10515600" cy="548640"/>
          </a:xfrm>
          <a:prstGeom prst="rect">
            <a:avLst/>
          </a:prstGeom>
          <a:noFill/>
          <a:ln/>
        </p:spPr>
        <p:txBody>
          <a:bodyPr wrap="square" lIns="0" tIns="0" rIns="0" bIns="0" rtlCol="0" anchor="t"/>
          <a:lstStyle/>
          <a:p>
            <a:pPr indent="0" marL="0">
              <a:buNone/>
            </a:pPr>
            <a:r>
              <a:rPr lang="en-US" sz="2400" dirty="0">
                <a:solidFill>
                  <a:srgbClr val="D9D4CA"/>
                </a:solidFill>
                <a:latin typeface="Cambria" pitchFamily="34" charset="0"/>
                <a:ea typeface="Cambria" pitchFamily="34" charset="-122"/>
                <a:cs typeface="Cambria" pitchFamily="34" charset="-120"/>
              </a:rPr>
              <a:t>Reporting gaps and read-site limits in Oracle Lens and NLA</a:t>
            </a:r>
            <a:endParaRPr lang="en-US" sz="2400" dirty="0"/>
          </a:p>
        </p:txBody>
      </p:sp>
      <p:sp>
        <p:nvSpPr>
          <p:cNvPr id="5" name="Text 3"/>
          <p:cNvSpPr/>
          <p:nvPr/>
        </p:nvSpPr>
        <p:spPr>
          <a:xfrm>
            <a:off x="731520" y="4114800"/>
            <a:ext cx="10058400" cy="365760"/>
          </a:xfrm>
          <a:prstGeom prst="rect">
            <a:avLst/>
          </a:prstGeom>
          <a:noFill/>
          <a:ln/>
        </p:spPr>
        <p:txBody>
          <a:bodyPr wrap="square" lIns="0" tIns="0" rIns="0" bIns="0" rtlCol="0" anchor="t"/>
          <a:lstStyle/>
          <a:p>
            <a:pPr indent="0" marL="0">
              <a:buNone/>
            </a:pPr>
            <a:r>
              <a:rPr lang="en-US" sz="1700" dirty="0">
                <a:solidFill>
                  <a:srgbClr val="B9B3A7"/>
                </a:solidFill>
                <a:latin typeface="Calibri" pitchFamily="34" charset="0"/>
                <a:ea typeface="Calibri" pitchFamily="34" charset="-122"/>
                <a:cs typeface="Calibri" pitchFamily="34" charset="-120"/>
              </a:rPr>
              <a:t>Qwen3.6-27B · synthetic banks and one public benchmark</a:t>
            </a:r>
            <a:endParaRPr lang="en-US" sz="1700" dirty="0"/>
          </a:p>
        </p:txBody>
      </p:sp>
      <p:sp>
        <p:nvSpPr>
          <p:cNvPr id="6" name="Text 4"/>
          <p:cNvSpPr/>
          <p:nvPr/>
        </p:nvSpPr>
        <p:spPr>
          <a:xfrm>
            <a:off x="731520" y="4754880"/>
            <a:ext cx="10058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Guiv Farmanfarmaian  ·  Suraj Prasad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Our main claim, two supporting claims, and how much we believe them</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Credences set before the talk. Main claim: exp 06, E100, E126, E135, E137, E140. Claims A and B: Suraj's sprint (exps 22–30).</a:t>
            </a:r>
            <a:endParaRPr lang="en-US" sz="1000" dirty="0"/>
          </a:p>
        </p:txBody>
      </p:sp>
      <p:sp>
        <p:nvSpPr>
          <p:cNvPr id="7" name="Shape 4"/>
          <p:cNvSpPr/>
          <p:nvPr/>
        </p:nvSpPr>
        <p:spPr>
          <a:xfrm>
            <a:off x="457200" y="1463040"/>
            <a:ext cx="3575304" cy="4754880"/>
          </a:xfrm>
          <a:prstGeom prst="rect">
            <a:avLst/>
          </a:prstGeom>
          <a:solidFill>
            <a:srgbClr val="E8E6E1"/>
          </a:solidFill>
          <a:ln w="9525">
            <a:solidFill>
              <a:srgbClr val="E8E6E1"/>
            </a:solidFill>
            <a:prstDash val="solid"/>
          </a:ln>
        </p:spPr>
      </p:sp>
      <p:sp>
        <p:nvSpPr>
          <p:cNvPr id="8" name="Text 5"/>
          <p:cNvSpPr/>
          <p:nvPr/>
        </p:nvSpPr>
        <p:spPr>
          <a:xfrm>
            <a:off x="731520" y="1691640"/>
            <a:ext cx="3026664" cy="640080"/>
          </a:xfrm>
          <a:prstGeom prst="rect">
            <a:avLst/>
          </a:prstGeom>
          <a:noFill/>
          <a:ln/>
        </p:spPr>
        <p:txBody>
          <a:bodyPr wrap="square" lIns="0" tIns="0" rIns="0" bIns="0" rtlCol="0" anchor="t"/>
          <a:lstStyle/>
          <a:p>
            <a:pPr indent="0" marL="0">
              <a:buNone/>
            </a:pPr>
            <a:r>
              <a:rPr lang="en-US" sz="3400" b="1" dirty="0">
                <a:solidFill>
                  <a:srgbClr val="B03060"/>
                </a:solidFill>
                <a:latin typeface="Calibri" pitchFamily="34" charset="0"/>
                <a:ea typeface="Calibri" pitchFamily="34" charset="-122"/>
                <a:cs typeface="Calibri" pitchFamily="34" charset="-120"/>
              </a:rPr>
              <a:t>75% · 45%</a:t>
            </a:r>
            <a:endParaRPr lang="en-US" sz="3400" dirty="0"/>
          </a:p>
        </p:txBody>
      </p:sp>
      <p:sp>
        <p:nvSpPr>
          <p:cNvPr id="9" name="Text 6"/>
          <p:cNvSpPr/>
          <p:nvPr/>
        </p:nvSpPr>
        <p:spPr>
          <a:xfrm>
            <a:off x="731520" y="2331720"/>
            <a:ext cx="3026664" cy="1645920"/>
          </a:xfrm>
          <a:prstGeom prst="rect">
            <a:avLst/>
          </a:prstGeom>
          <a:noFill/>
          <a:ln/>
        </p:spPr>
        <p:txBody>
          <a:bodyPr wrap="square" lIns="0" tIns="0" rIns="0" bIns="0" rtlCol="0" anchor="t"/>
          <a:lstStyle/>
          <a:p>
            <a:pPr indent="0" marL="0">
              <a:buNone/>
            </a:pPr>
            <a:r>
              <a:rPr lang="en-US" sz="1800" b="1" dirty="0">
                <a:solidFill>
                  <a:srgbClr val="1F2A33"/>
                </a:solidFill>
                <a:latin typeface="Calibri" pitchFamily="34" charset="0"/>
                <a:ea typeface="Calibri" pitchFamily="34" charset="-122"/>
                <a:cs typeface="Calibri" pitchFamily="34" charset="-120"/>
              </a:rPr>
              <a:t>Main claim · readouts are mostly the prompt, rebuilt; Qwen's own state shows only where it is large at the read token</a:t>
            </a:r>
            <a:endParaRPr lang="en-US" sz="1800" dirty="0"/>
          </a:p>
        </p:txBody>
      </p:sp>
      <p:sp>
        <p:nvSpPr>
          <p:cNvPr id="10" name="Text 7"/>
          <p:cNvSpPr/>
          <p:nvPr/>
        </p:nvSpPr>
        <p:spPr>
          <a:xfrm>
            <a:off x="731520" y="4069080"/>
            <a:ext cx="3026664" cy="1965960"/>
          </a:xfrm>
          <a:prstGeom prst="rect">
            <a:avLst/>
          </a:prstGeom>
          <a:noFill/>
          <a:ln/>
        </p:spPr>
        <p:txBody>
          <a:bodyPr wrap="square" lIns="0" tIns="0" rIns="0" bIns="0" rtlCol="0" anchor="t"/>
          <a:lstStyle/>
          <a:p>
            <a:pPr marL="203200" indent="-203200">
              <a:buSzPct val="100000"/>
              <a:buChar char="•"/>
            </a:pPr>
            <a:r>
              <a:rPr lang="en-US" sz="1500" b="1" dirty="0">
                <a:solidFill>
                  <a:srgbClr val="B03060"/>
                </a:solidFill>
                <a:latin typeface="Calibri" pitchFamily="34" charset="0"/>
                <a:ea typeface="Calibri" pitchFamily="34" charset="-122"/>
                <a:cs typeface="Calibri" pitchFamily="34" charset="-120"/>
              </a:rPr>
              <a:t>75% rebuilt prompt. </a:t>
            </a:r>
            <a:pPr indent="0" marL="0">
              <a:spcAft>
                <a:spcPts val="800"/>
              </a:spcAft>
              <a:buNone/>
            </a:pPr>
            <a:r>
              <a:rPr lang="en-US" sz="1500" dirty="0">
                <a:solidFill>
                  <a:srgbClr val="1F2A33"/>
                </a:solidFill>
                <a:latin typeface="Calibri" pitchFamily="34" charset="0"/>
                <a:ea typeface="Calibri" pitchFamily="34" charset="-122"/>
                <a:cs typeface="Calibri" pitchFamily="34" charset="-120"/>
              </a:rPr>
              <a:t>Down if a reader tracks verified model-private state and beats a text-only baseline</a:t>
            </a:r>
            <a:endParaRPr lang="en-US" sz="1500" dirty="0"/>
          </a:p>
          <a:p>
            <a:pPr marL="203200" indent="-203200">
              <a:buSzPct val="100000"/>
              <a:buChar char="•"/>
            </a:pPr>
            <a:r>
              <a:rPr lang="en-US" sz="1500" b="1" dirty="0">
                <a:solidFill>
                  <a:srgbClr val="B03060"/>
                </a:solidFill>
                <a:latin typeface="Calibri" pitchFamily="34" charset="0"/>
                <a:ea typeface="Calibri" pitchFamily="34" charset="-122"/>
                <a:cs typeface="Calibri" pitchFamily="34" charset="-120"/>
              </a:rPr>
              <a:t>45% own state, late. </a:t>
            </a:r>
            <a:pPr indent="0" marL="0">
              <a:buNone/>
            </a:pPr>
            <a:r>
              <a:rPr lang="en-US" sz="1500" dirty="0">
                <a:solidFill>
                  <a:srgbClr val="1F2A33"/>
                </a:solidFill>
                <a:latin typeface="Calibri" pitchFamily="34" charset="0"/>
                <a:ea typeface="Calibri" pitchFamily="34" charset="-122"/>
                <a:cs typeface="Calibri" pitchFamily="34" charset="-120"/>
              </a:rPr>
              <a:t>Down if restoration works at block 44 on a fresh unsteered bank; up if chains follow the holder, not the last hand-over</a:t>
            </a:r>
            <a:endParaRPr lang="en-US" sz="1500" dirty="0"/>
          </a:p>
        </p:txBody>
      </p:sp>
      <p:sp>
        <p:nvSpPr>
          <p:cNvPr id="11" name="Shape 8"/>
          <p:cNvSpPr/>
          <p:nvPr/>
        </p:nvSpPr>
        <p:spPr>
          <a:xfrm>
            <a:off x="4306824" y="1463040"/>
            <a:ext cx="3575304" cy="4754880"/>
          </a:xfrm>
          <a:prstGeom prst="rect">
            <a:avLst/>
          </a:prstGeom>
          <a:solidFill>
            <a:srgbClr val="E8E6E1"/>
          </a:solidFill>
          <a:ln w="9525">
            <a:solidFill>
              <a:srgbClr val="E8E6E1"/>
            </a:solidFill>
            <a:prstDash val="solid"/>
          </a:ln>
        </p:spPr>
      </p:sp>
      <p:sp>
        <p:nvSpPr>
          <p:cNvPr id="12" name="Text 9"/>
          <p:cNvSpPr/>
          <p:nvPr/>
        </p:nvSpPr>
        <p:spPr>
          <a:xfrm>
            <a:off x="4581144" y="1691640"/>
            <a:ext cx="3026664" cy="640080"/>
          </a:xfrm>
          <a:prstGeom prst="rect">
            <a:avLst/>
          </a:prstGeom>
          <a:noFill/>
          <a:ln/>
        </p:spPr>
        <p:txBody>
          <a:bodyPr wrap="square" lIns="0" tIns="0" rIns="0" bIns="0" rtlCol="0" anchor="t"/>
          <a:lstStyle/>
          <a:p>
            <a:pPr indent="0" marL="0">
              <a:buNone/>
            </a:pPr>
            <a:r>
              <a:rPr lang="en-US" sz="3400" b="1" dirty="0">
                <a:solidFill>
                  <a:srgbClr val="B03060"/>
                </a:solidFill>
                <a:latin typeface="Calibri" pitchFamily="34" charset="0"/>
                <a:ea typeface="Calibri" pitchFamily="34" charset="-122"/>
                <a:cs typeface="Calibri" pitchFamily="34" charset="-120"/>
              </a:rPr>
              <a:t>85%</a:t>
            </a:r>
            <a:endParaRPr lang="en-US" sz="3400" dirty="0"/>
          </a:p>
        </p:txBody>
      </p:sp>
      <p:sp>
        <p:nvSpPr>
          <p:cNvPr id="13" name="Text 10"/>
          <p:cNvSpPr/>
          <p:nvPr/>
        </p:nvSpPr>
        <p:spPr>
          <a:xfrm>
            <a:off x="4581144" y="2331720"/>
            <a:ext cx="3026664" cy="1325880"/>
          </a:xfrm>
          <a:prstGeom prst="rect">
            <a:avLst/>
          </a:prstGeom>
          <a:noFill/>
          <a:ln/>
        </p:spPr>
        <p:txBody>
          <a:bodyPr wrap="square" lIns="0" tIns="0" rIns="0" bIns="0" rtlCol="0" anchor="t"/>
          <a:lstStyle/>
          <a:p>
            <a:pPr indent="0" marL="0">
              <a:buNone/>
            </a:pPr>
            <a:r>
              <a:rPr lang="en-US" sz="1800" b="1" dirty="0">
                <a:solidFill>
                  <a:srgbClr val="1F2A33"/>
                </a:solidFill>
                <a:latin typeface="Calibri" pitchFamily="34" charset="0"/>
                <a:ea typeface="Calibri" pitchFamily="34" charset="-122"/>
                <a:cs typeface="Calibri" pitchFamily="34" charset="-120"/>
              </a:rPr>
              <a:t>Supports it · A: both readers carry structural state in their words, and almost never state it</a:t>
            </a:r>
            <a:endParaRPr lang="en-US" sz="1800" dirty="0"/>
          </a:p>
        </p:txBody>
      </p:sp>
      <p:sp>
        <p:nvSpPr>
          <p:cNvPr id="14" name="Text 11"/>
          <p:cNvSpPr/>
          <p:nvPr/>
        </p:nvSpPr>
        <p:spPr>
          <a:xfrm>
            <a:off x="4581144" y="3749040"/>
            <a:ext cx="3026664" cy="2286000"/>
          </a:xfrm>
          <a:prstGeom prst="rect">
            <a:avLst/>
          </a:prstGeom>
          <a:noFill/>
          <a:ln/>
        </p:spPr>
        <p:txBody>
          <a:bodyPr wrap="square" lIns="0" tIns="0" rIns="0" bIns="0" rtlCol="0" anchor="t"/>
          <a:lstStyle/>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Down if: </a:t>
            </a:r>
            <a:pPr indent="0" marL="0">
              <a:spcAft>
                <a:spcPts val="800"/>
              </a:spcAft>
              <a:buNone/>
            </a:pPr>
            <a:r>
              <a:rPr lang="en-US" sz="1600" dirty="0">
                <a:solidFill>
                  <a:srgbClr val="1F2A33"/>
                </a:solidFill>
                <a:latin typeface="Calibri" pitchFamily="34" charset="0"/>
                <a:ea typeface="Calibri" pitchFamily="34" charset="-122"/>
                <a:cs typeface="Calibri" pitchFamily="34" charset="-120"/>
              </a:rPr>
              <a:t>human labels disagree with the judge. Copying the last 32 tokens was tested and mostly ruled out (exp 31)</a:t>
            </a:r>
            <a:endParaRPr lang="en-US" sz="1600" dirty="0"/>
          </a:p>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Up if: </a:t>
            </a:r>
            <a:pPr indent="0" marL="0">
              <a:buNone/>
            </a:pPr>
            <a:r>
              <a:rPr lang="en-US" sz="1600" dirty="0">
                <a:solidFill>
                  <a:srgbClr val="1F2A33"/>
                </a:solidFill>
                <a:latin typeface="Calibri" pitchFamily="34" charset="0"/>
                <a:ea typeface="Calibri" pitchFamily="34" charset="-122"/>
                <a:cs typeface="Calibri" pitchFamily="34" charset="-120"/>
              </a:rPr>
              <a:t>it holds on a second model</a:t>
            </a:r>
            <a:endParaRPr lang="en-US" sz="1600" dirty="0"/>
          </a:p>
        </p:txBody>
      </p:sp>
      <p:sp>
        <p:nvSpPr>
          <p:cNvPr id="15" name="Shape 12"/>
          <p:cNvSpPr/>
          <p:nvPr/>
        </p:nvSpPr>
        <p:spPr>
          <a:xfrm>
            <a:off x="8156448" y="1463040"/>
            <a:ext cx="3575304" cy="4754880"/>
          </a:xfrm>
          <a:prstGeom prst="rect">
            <a:avLst/>
          </a:prstGeom>
          <a:solidFill>
            <a:srgbClr val="E8E6E1"/>
          </a:solidFill>
          <a:ln w="9525">
            <a:solidFill>
              <a:srgbClr val="E8E6E1"/>
            </a:solidFill>
            <a:prstDash val="solid"/>
          </a:ln>
        </p:spPr>
      </p:sp>
      <p:sp>
        <p:nvSpPr>
          <p:cNvPr id="16" name="Text 13"/>
          <p:cNvSpPr/>
          <p:nvPr/>
        </p:nvSpPr>
        <p:spPr>
          <a:xfrm>
            <a:off x="8430768" y="1691640"/>
            <a:ext cx="3026664" cy="640080"/>
          </a:xfrm>
          <a:prstGeom prst="rect">
            <a:avLst/>
          </a:prstGeom>
          <a:noFill/>
          <a:ln/>
        </p:spPr>
        <p:txBody>
          <a:bodyPr wrap="square" lIns="0" tIns="0" rIns="0" bIns="0" rtlCol="0" anchor="t"/>
          <a:lstStyle/>
          <a:p>
            <a:pPr indent="0" marL="0">
              <a:buNone/>
            </a:pPr>
            <a:r>
              <a:rPr lang="en-US" sz="3400" b="1" dirty="0">
                <a:solidFill>
                  <a:srgbClr val="B03060"/>
                </a:solidFill>
                <a:latin typeface="Calibri" pitchFamily="34" charset="0"/>
                <a:ea typeface="Calibri" pitchFamily="34" charset="-122"/>
                <a:cs typeface="Calibri" pitchFamily="34" charset="-120"/>
              </a:rPr>
              <a:t>55%</a:t>
            </a:r>
            <a:endParaRPr lang="en-US" sz="3400" dirty="0"/>
          </a:p>
        </p:txBody>
      </p:sp>
      <p:sp>
        <p:nvSpPr>
          <p:cNvPr id="17" name="Text 14"/>
          <p:cNvSpPr/>
          <p:nvPr/>
        </p:nvSpPr>
        <p:spPr>
          <a:xfrm>
            <a:off x="8430768" y="2331720"/>
            <a:ext cx="3026664" cy="1325880"/>
          </a:xfrm>
          <a:prstGeom prst="rect">
            <a:avLst/>
          </a:prstGeom>
          <a:noFill/>
          <a:ln/>
        </p:spPr>
        <p:txBody>
          <a:bodyPr wrap="square" lIns="0" tIns="0" rIns="0" bIns="0" rtlCol="0" anchor="t"/>
          <a:lstStyle/>
          <a:p>
            <a:pPr indent="0" marL="0">
              <a:buNone/>
            </a:pPr>
            <a:r>
              <a:rPr lang="en-US" sz="1800" b="1" dirty="0">
                <a:solidFill>
                  <a:srgbClr val="1F2A33"/>
                </a:solidFill>
                <a:latin typeface="Calibri" pitchFamily="34" charset="0"/>
                <a:ea typeface="Calibri" pitchFamily="34" charset="-122"/>
                <a:cs typeface="Calibri" pitchFamily="34" charset="-120"/>
              </a:rPr>
              <a:t>Explains the NLA · B: its silence is a warm-start habit the reward neither pays for nor removes</a:t>
            </a:r>
            <a:endParaRPr lang="en-US" sz="1800" dirty="0"/>
          </a:p>
        </p:txBody>
      </p:sp>
      <p:sp>
        <p:nvSpPr>
          <p:cNvPr id="18" name="Text 15"/>
          <p:cNvSpPr/>
          <p:nvPr/>
        </p:nvSpPr>
        <p:spPr>
          <a:xfrm>
            <a:off x="8430768" y="3749040"/>
            <a:ext cx="3026664" cy="2286000"/>
          </a:xfrm>
          <a:prstGeom prst="rect">
            <a:avLst/>
          </a:prstGeom>
          <a:noFill/>
          <a:ln/>
        </p:spPr>
        <p:txBody>
          <a:bodyPr wrap="square" lIns="0" tIns="0" rIns="0" bIns="0" rtlCol="0" anchor="t"/>
          <a:lstStyle/>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Test: </a:t>
            </a:r>
            <a:pPr indent="0" marL="0">
              <a:spcAft>
                <a:spcPts val="800"/>
              </a:spcAft>
              <a:buNone/>
            </a:pPr>
            <a:r>
              <a:rPr lang="en-US" sz="1600" dirty="0">
                <a:solidFill>
                  <a:srgbClr val="1F2A33"/>
                </a:solidFill>
                <a:latin typeface="Calibri" pitchFamily="34" charset="0"/>
                <a:ea typeface="Calibri" pitchFamily="34" charset="-122"/>
                <a:cs typeface="Calibri" pitchFamily="34" charset="-120"/>
              </a:rPr>
              <a:t>RL against a critic that pays for statements</a:t>
            </a:r>
            <a:endParaRPr lang="en-US" sz="1600" dirty="0"/>
          </a:p>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Up if </a:t>
            </a:r>
            <a:pPr indent="0" marL="0">
              <a:buNone/>
            </a:pPr>
            <a:r>
              <a:rPr lang="en-US" sz="1600" dirty="0">
                <a:solidFill>
                  <a:srgbClr val="1F2A33"/>
                </a:solidFill>
                <a:latin typeface="Calibri" pitchFamily="34" charset="0"/>
                <a:ea typeface="Calibri" pitchFamily="34" charset="-122"/>
                <a:cs typeface="Calibri" pitchFamily="34" charset="-120"/>
              </a:rPr>
              <a:t>naming appears; down if silence stays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What existed before the sprint, and what the sprint kept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 + 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deck v6 (5–13 Oct), notes/decisions.md (D35) · Guiv: pre-sprint project proposal to Neel; E94 in guivff/activation-readers @ c60fa970</a:t>
            </a:r>
            <a:endParaRPr lang="en-US" sz="1000" dirty="0"/>
          </a:p>
        </p:txBody>
      </p:sp>
      <p:sp>
        <p:nvSpPr>
          <p:cNvPr id="7" name="Shape 4"/>
          <p:cNvSpPr/>
          <p:nvPr/>
        </p:nvSpPr>
        <p:spPr>
          <a:xfrm>
            <a:off x="457200" y="1463040"/>
            <a:ext cx="3575304" cy="4754880"/>
          </a:xfrm>
          <a:prstGeom prst="rect">
            <a:avLst/>
          </a:prstGeom>
          <a:solidFill>
            <a:srgbClr val="E8E6E1"/>
          </a:solidFill>
          <a:ln w="9525">
            <a:solidFill>
              <a:srgbClr val="E8E6E1"/>
            </a:solidFill>
            <a:prstDash val="solid"/>
          </a:ln>
        </p:spPr>
      </p:sp>
      <p:sp>
        <p:nvSpPr>
          <p:cNvPr id="8" name="Text 5"/>
          <p:cNvSpPr/>
          <p:nvPr/>
        </p:nvSpPr>
        <p:spPr>
          <a:xfrm>
            <a:off x="731520"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Suraj, before 19 Oct</a:t>
            </a:r>
            <a:endParaRPr lang="en-US" sz="2000" dirty="0"/>
          </a:p>
        </p:txBody>
      </p:sp>
      <p:sp>
        <p:nvSpPr>
          <p:cNvPr id="9" name="Text 6"/>
          <p:cNvSpPr/>
          <p:nvPr/>
        </p:nvSpPr>
        <p:spPr>
          <a:xfrm>
            <a:off x="731520"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Readers replicated: FVE 0.761; WorkspaceBench 12 of 12 inside our CIs</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J-space survival test can't separate in-J from non-J</a:t>
            </a:r>
            <a:endParaRPr lang="en-US" sz="1600" dirty="0"/>
          </a:p>
          <a:p>
            <a:pPr marL="203200" indent="-203200">
              <a:buSzPct val="100000"/>
              <a:buChar char="•"/>
            </a:pPr>
            <a:r>
              <a:rPr lang="en-US" sz="1600" dirty="0">
                <a:solidFill>
                  <a:srgbClr val="1F2A33"/>
                </a:solidFill>
                <a:latin typeface="Calibri" pitchFamily="34" charset="0"/>
                <a:ea typeface="Calibri" pitchFamily="34" charset="-122"/>
                <a:cs typeface="Calibri" pitchFamily="34" charset="-120"/>
              </a:rPr>
              <a:t>Confirmatory run pre-registered (rev 4.3), never run</a:t>
            </a:r>
            <a:endParaRPr lang="en-US" sz="1600" dirty="0"/>
          </a:p>
        </p:txBody>
      </p:sp>
      <p:sp>
        <p:nvSpPr>
          <p:cNvPr id="10" name="Shape 7"/>
          <p:cNvSpPr/>
          <p:nvPr/>
        </p:nvSpPr>
        <p:spPr>
          <a:xfrm>
            <a:off x="4306824" y="1463040"/>
            <a:ext cx="3575304" cy="4754880"/>
          </a:xfrm>
          <a:prstGeom prst="rect">
            <a:avLst/>
          </a:prstGeom>
          <a:solidFill>
            <a:srgbClr val="E8E6E1"/>
          </a:solidFill>
          <a:ln w="9525">
            <a:solidFill>
              <a:srgbClr val="E8E6E1"/>
            </a:solidFill>
            <a:prstDash val="solid"/>
          </a:ln>
        </p:spPr>
      </p:sp>
      <p:sp>
        <p:nvSpPr>
          <p:cNvPr id="11" name="Text 8"/>
          <p:cNvSpPr/>
          <p:nvPr/>
        </p:nvSpPr>
        <p:spPr>
          <a:xfrm>
            <a:off x="4581144"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Guiv, before 19 Oct</a:t>
            </a:r>
            <a:endParaRPr lang="en-US" sz="2000" dirty="0"/>
          </a:p>
        </p:txBody>
      </p:sp>
      <p:sp>
        <p:nvSpPr>
          <p:cNvPr id="12" name="Text 9"/>
          <p:cNvSpPr/>
          <p:nvPr/>
        </p:nvSpPr>
        <p:spPr>
          <a:xfrm>
            <a:off x="4581144"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Question: when can we trust a reader? Does agreement mean it's right?</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297 puzzles the model got wrong: J-lens and Oracle Lens recover its answer reliably only around block 52; a probe at 42</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With 29 candidate names instead of 2: about 2–6% correct</a:t>
            </a:r>
            <a:endParaRPr lang="en-US" sz="1600" dirty="0"/>
          </a:p>
          <a:p>
            <a:pPr marL="203200" indent="-203200">
              <a:buSzPct val="100000"/>
              <a:buChar char="•"/>
            </a:pPr>
            <a:r>
              <a:rPr lang="en-US" sz="1600" dirty="0">
                <a:solidFill>
                  <a:srgbClr val="1F2A33"/>
                </a:solidFill>
                <a:latin typeface="Calibri" pitchFamily="34" charset="0"/>
                <a:ea typeface="Calibri" pitchFamily="34" charset="-122"/>
                <a:cs typeface="Calibri" pitchFamily="34" charset="-120"/>
              </a:rPr>
              <a:t>Non-J part flips 64/64 answers, J part 0/64, yet Oracle prefers the planted name 53% vs 70%</a:t>
            </a:r>
            <a:endParaRPr lang="en-US" sz="1600" dirty="0"/>
          </a:p>
        </p:txBody>
      </p:sp>
      <p:sp>
        <p:nvSpPr>
          <p:cNvPr id="13" name="Shape 10"/>
          <p:cNvSpPr/>
          <p:nvPr/>
        </p:nvSpPr>
        <p:spPr>
          <a:xfrm>
            <a:off x="8156448" y="1463040"/>
            <a:ext cx="3575304" cy="4754880"/>
          </a:xfrm>
          <a:prstGeom prst="rect">
            <a:avLst/>
          </a:prstGeom>
          <a:solidFill>
            <a:srgbClr val="E8E6E1"/>
          </a:solidFill>
          <a:ln w="9525">
            <a:solidFill>
              <a:srgbClr val="E8E6E1"/>
            </a:solidFill>
            <a:prstDash val="solid"/>
          </a:ln>
        </p:spPr>
      </p:sp>
      <p:sp>
        <p:nvSpPr>
          <p:cNvPr id="14" name="Text 11"/>
          <p:cNvSpPr/>
          <p:nvPr/>
        </p:nvSpPr>
        <p:spPr>
          <a:xfrm>
            <a:off x="8430768"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What the sprint kept</a:t>
            </a:r>
            <a:endParaRPr lang="en-US" sz="2000" dirty="0"/>
          </a:p>
        </p:txBody>
      </p:sp>
      <p:sp>
        <p:nvSpPr>
          <p:cNvPr id="15" name="Text 12"/>
          <p:cNvSpPr/>
          <p:nvPr/>
        </p:nvSpPr>
        <p:spPr>
          <a:xfrm>
            <a:off x="8430768"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Replication and the WorkspaceBench re-solving result</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Agreement → E94: precision 0.94 but only 23% of items; so, what do readouts reveal beyond the prompt?</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Late reads, sensitivity ≠ causal importance → the causal tests (Part 3)</a:t>
            </a:r>
            <a:endParaRPr lang="en-US" sz="1600" dirty="0"/>
          </a:p>
          <a:p>
            <a:pPr marL="203200" indent="-203200">
              <a:buSzPct val="100000"/>
              <a:buChar char="•"/>
            </a:pPr>
            <a:r>
              <a:rPr lang="en-US" sz="1600" dirty="0">
                <a:solidFill>
                  <a:srgbClr val="1F2A33"/>
                </a:solidFill>
                <a:latin typeface="Calibri" pitchFamily="34" charset="0"/>
                <a:ea typeface="Calibri" pitchFamily="34" charset="-122"/>
                <a:cs typeface="Calibri" pitchFamily="34" charset="-120"/>
              </a:rPr>
              <a:t>23 Oct: Neel asked what one method finds that another can't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Setup: one model, three readers, and nobody sees the prompt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Readers on the same Qwen3.6-27B backbone · Suraj, notes/wsbench_internals.md · guivff/activation-readers @ c60fa970 (core/readers.py)</a:t>
            </a:r>
            <a:endParaRPr lang="en-US" sz="1000" dirty="0"/>
          </a:p>
        </p:txBody>
      </p:sp>
      <p:pic>
        <p:nvPicPr>
          <p:cNvPr id="7" name="Image 0" descr="/tmp/claude-0/-home-claude/34b6ba06-a811-5fbc-ba65-146b4f52e6b8/scratchpad/comb/img/s07.png">    </p:cNvPr>
          <p:cNvPicPr>
            <a:picLocks noChangeAspect="1"/>
          </p:cNvPicPr>
          <p:nvPr/>
        </p:nvPicPr>
        <p:blipFill>
          <a:blip r:embed="rId1"/>
          <a:stretch>
            <a:fillRect/>
          </a:stretch>
        </p:blipFill>
        <p:spPr>
          <a:xfrm>
            <a:off x="457200" y="1463040"/>
            <a:ext cx="6400800" cy="2925097"/>
          </a:xfrm>
          <a:prstGeom prst="rect">
            <a:avLst/>
          </a:prstGeom>
        </p:spPr>
      </p:pic>
      <p:sp>
        <p:nvSpPr>
          <p:cNvPr id="8" name="Shape 4"/>
          <p:cNvSpPr/>
          <p:nvPr/>
        </p:nvSpPr>
        <p:spPr>
          <a:xfrm>
            <a:off x="7132320" y="1463040"/>
            <a:ext cx="4599432" cy="4754880"/>
          </a:xfrm>
          <a:prstGeom prst="rect">
            <a:avLst/>
          </a:prstGeom>
          <a:solidFill>
            <a:srgbClr val="E8E6E1"/>
          </a:solidFill>
          <a:ln w="9525">
            <a:solidFill>
              <a:srgbClr val="E8E6E1"/>
            </a:solidFill>
            <a:prstDash val="solid"/>
          </a:ln>
        </p:spPr>
      </p:sp>
      <p:sp>
        <p:nvSpPr>
          <p:cNvPr id="9" name="Text 5"/>
          <p:cNvSpPr/>
          <p:nvPr/>
        </p:nvSpPr>
        <p:spPr>
          <a:xfrm>
            <a:off x="7406640" y="1691640"/>
            <a:ext cx="4114800" cy="457200"/>
          </a:xfrm>
          <a:prstGeom prst="rect">
            <a:avLst/>
          </a:prstGeom>
          <a:noFill/>
          <a:ln/>
        </p:spPr>
        <p:txBody>
          <a:bodyPr wrap="square" lIns="0" tIns="0" rIns="0" bIns="0" rtlCol="0" anchor="t"/>
          <a:lstStyle/>
          <a:p>
            <a:pPr indent="0" marL="0">
              <a:buNone/>
            </a:pPr>
            <a:r>
              <a:rPr lang="en-US" sz="1800" b="1" dirty="0">
                <a:solidFill>
                  <a:srgbClr val="1F2A33"/>
                </a:solidFill>
                <a:latin typeface="Calibri" pitchFamily="34" charset="0"/>
                <a:ea typeface="Calibri" pitchFamily="34" charset="-122"/>
                <a:cs typeface="Calibri" pitchFamily="34" charset="-120"/>
              </a:rPr>
              <a:t>What to keep in mind</a:t>
            </a:r>
            <a:endParaRPr lang="en-US" sz="1800" dirty="0"/>
          </a:p>
        </p:txBody>
      </p:sp>
      <p:sp>
        <p:nvSpPr>
          <p:cNvPr id="10" name="Text 6"/>
          <p:cNvSpPr/>
          <p:nvPr/>
        </p:nvSpPr>
        <p:spPr>
          <a:xfrm>
            <a:off x="7406640" y="2240280"/>
            <a:ext cx="4114800" cy="38404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Qwen3.6-27B: 64 blocks, width 5120</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Oracle Lens: LoRA; the activation replaces one character's embedding; trained at blocks 20–60, step 4</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NLA: writes an explanation; a critic rebuilds the activation from it; RL pays for the rebuild</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Reads at block 42 (NLA) and 44 (Oracle)</a:t>
            </a:r>
            <a:endParaRPr lang="en-US" sz="1500" dirty="0"/>
          </a:p>
          <a:p>
            <a:pPr marL="203200" indent="-203200">
              <a:buSzPct val="100000"/>
              <a:buChar char="•"/>
            </a:pPr>
            <a:r>
              <a:rPr lang="en-US" sz="1500" dirty="0">
                <a:solidFill>
                  <a:srgbClr val="1F2A33"/>
                </a:solidFill>
                <a:latin typeface="Calibri" pitchFamily="34" charset="0"/>
                <a:ea typeface="Calibri" pitchFamily="34" charset="-122"/>
                <a:cs typeface="Calibri" pitchFamily="34" charset="-120"/>
              </a:rPr>
              <a:t>A blind LLM judge decides what a readout states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Three questions about every state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Rates: Wilson 95% CIs; log-odds: item bootstrap (common/stats.py) · guivff/activation-readers @ c60fa970</a:t>
            </a:r>
            <a:endParaRPr lang="en-US" sz="1000" dirty="0"/>
          </a:p>
        </p:txBody>
      </p:sp>
      <p:sp>
        <p:nvSpPr>
          <p:cNvPr id="7" name="Shape 4"/>
          <p:cNvSpPr/>
          <p:nvPr/>
        </p:nvSpPr>
        <p:spPr>
          <a:xfrm>
            <a:off x="457200" y="1463040"/>
            <a:ext cx="3575304" cy="3291840"/>
          </a:xfrm>
          <a:prstGeom prst="rect">
            <a:avLst/>
          </a:prstGeom>
          <a:solidFill>
            <a:srgbClr val="E9E3F2"/>
          </a:solidFill>
          <a:ln w="9525">
            <a:solidFill>
              <a:srgbClr val="E9E3F2"/>
            </a:solidFill>
            <a:prstDash val="solid"/>
          </a:ln>
        </p:spPr>
      </p:sp>
      <p:sp>
        <p:nvSpPr>
          <p:cNvPr id="8" name="Text 5"/>
          <p:cNvSpPr/>
          <p:nvPr/>
        </p:nvSpPr>
        <p:spPr>
          <a:xfrm>
            <a:off x="731520" y="1691640"/>
            <a:ext cx="3026664" cy="548640"/>
          </a:xfrm>
          <a:prstGeom prst="rect">
            <a:avLst/>
          </a:prstGeom>
          <a:noFill/>
          <a:ln/>
        </p:spPr>
        <p:txBody>
          <a:bodyPr wrap="square" lIns="0" tIns="0" rIns="0" bIns="0" rtlCol="0" anchor="t"/>
          <a:lstStyle/>
          <a:p>
            <a:pPr indent="0" marL="0">
              <a:buNone/>
            </a:pPr>
            <a:r>
              <a:rPr lang="en-US" sz="2000" b="1" dirty="0">
                <a:solidFill>
                  <a:srgbClr val="6A4C9C"/>
                </a:solidFill>
                <a:latin typeface="Calibri" pitchFamily="34" charset="0"/>
                <a:ea typeface="Calibri" pitchFamily="34" charset="-122"/>
                <a:cs typeface="Calibri" pitchFamily="34" charset="-120"/>
              </a:rPr>
              <a:t>Decodable</a:t>
            </a:r>
            <a:endParaRPr lang="en-US" sz="2000" dirty="0"/>
          </a:p>
        </p:txBody>
      </p:sp>
      <p:sp>
        <p:nvSpPr>
          <p:cNvPr id="9" name="Text 6"/>
          <p:cNvSpPr/>
          <p:nvPr/>
        </p:nvSpPr>
        <p:spPr>
          <a:xfrm>
            <a:off x="731520" y="2331720"/>
            <a:ext cx="3026664" cy="224028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A linear probe can read it</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Held-out AUROC</a:t>
            </a:r>
            <a:endParaRPr lang="en-US" sz="1800" dirty="0"/>
          </a:p>
        </p:txBody>
      </p:sp>
      <p:sp>
        <p:nvSpPr>
          <p:cNvPr id="10" name="Shape 7"/>
          <p:cNvSpPr/>
          <p:nvPr/>
        </p:nvSpPr>
        <p:spPr>
          <a:xfrm>
            <a:off x="4306824" y="1463040"/>
            <a:ext cx="3575304" cy="3291840"/>
          </a:xfrm>
          <a:prstGeom prst="rect">
            <a:avLst/>
          </a:prstGeom>
          <a:solidFill>
            <a:srgbClr val="F5E2D5"/>
          </a:solidFill>
          <a:ln w="9525">
            <a:solidFill>
              <a:srgbClr val="F5E2D5"/>
            </a:solidFill>
            <a:prstDash val="solid"/>
          </a:ln>
        </p:spPr>
      </p:sp>
      <p:sp>
        <p:nvSpPr>
          <p:cNvPr id="11" name="Text 8"/>
          <p:cNvSpPr/>
          <p:nvPr/>
        </p:nvSpPr>
        <p:spPr>
          <a:xfrm>
            <a:off x="4581144" y="1691640"/>
            <a:ext cx="3026664" cy="548640"/>
          </a:xfrm>
          <a:prstGeom prst="rect">
            <a:avLst/>
          </a:prstGeom>
          <a:noFill/>
          <a:ln/>
        </p:spPr>
        <p:txBody>
          <a:bodyPr wrap="square" lIns="0" tIns="0" rIns="0" bIns="0" rtlCol="0" anchor="t"/>
          <a:lstStyle/>
          <a:p>
            <a:pPr indent="0" marL="0">
              <a:buNone/>
            </a:pPr>
            <a:r>
              <a:rPr lang="en-US" sz="2000" b="1" dirty="0">
                <a:solidFill>
                  <a:srgbClr val="C8622B"/>
                </a:solidFill>
                <a:latin typeface="Calibri" pitchFamily="34" charset="0"/>
                <a:ea typeface="Calibri" pitchFamily="34" charset="-122"/>
                <a:cs typeface="Calibri" pitchFamily="34" charset="-120"/>
              </a:rPr>
              <a:t>Causal here</a:t>
            </a:r>
            <a:endParaRPr lang="en-US" sz="2000" dirty="0"/>
          </a:p>
        </p:txBody>
      </p:sp>
      <p:sp>
        <p:nvSpPr>
          <p:cNvPr id="12" name="Text 9"/>
          <p:cNvSpPr/>
          <p:nvPr/>
        </p:nvSpPr>
        <p:spPr>
          <a:xfrm>
            <a:off x="4581144" y="2331720"/>
            <a:ext cx="3026664" cy="224028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Qwen's answer depends on it at this token and block</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Patch it back; normalised effect R (0 = none, 1 = full)</a:t>
            </a:r>
            <a:endParaRPr lang="en-US" sz="1800" dirty="0"/>
          </a:p>
        </p:txBody>
      </p:sp>
      <p:sp>
        <p:nvSpPr>
          <p:cNvPr id="13" name="Shape 10"/>
          <p:cNvSpPr/>
          <p:nvPr/>
        </p:nvSpPr>
        <p:spPr>
          <a:xfrm>
            <a:off x="8156448" y="1463040"/>
            <a:ext cx="3575304" cy="3291840"/>
          </a:xfrm>
          <a:prstGeom prst="rect">
            <a:avLst/>
          </a:prstGeom>
          <a:solidFill>
            <a:srgbClr val="F3DCE4"/>
          </a:solidFill>
          <a:ln w="9525">
            <a:solidFill>
              <a:srgbClr val="F3DCE4"/>
            </a:solidFill>
            <a:prstDash val="solid"/>
          </a:ln>
        </p:spPr>
      </p:sp>
      <p:sp>
        <p:nvSpPr>
          <p:cNvPr id="14" name="Text 11"/>
          <p:cNvSpPr/>
          <p:nvPr/>
        </p:nvSpPr>
        <p:spPr>
          <a:xfrm>
            <a:off x="8430768" y="1691640"/>
            <a:ext cx="3026664" cy="548640"/>
          </a:xfrm>
          <a:prstGeom prst="rect">
            <a:avLst/>
          </a:prstGeom>
          <a:noFill/>
          <a:ln/>
        </p:spPr>
        <p:txBody>
          <a:bodyPr wrap="square" lIns="0" tIns="0" rIns="0" bIns="0" rtlCol="0" anchor="t"/>
          <a:lstStyle/>
          <a:p>
            <a:pPr indent="0" marL="0">
              <a:buNone/>
            </a:pPr>
            <a:r>
              <a:rPr lang="en-US" sz="2000" b="1" dirty="0">
                <a:solidFill>
                  <a:srgbClr val="B03060"/>
                </a:solidFill>
                <a:latin typeface="Calibri" pitchFamily="34" charset="0"/>
                <a:ea typeface="Calibri" pitchFamily="34" charset="-122"/>
                <a:cs typeface="Calibri" pitchFamily="34" charset="-120"/>
              </a:rPr>
              <a:t>Stated</a:t>
            </a:r>
            <a:endParaRPr lang="en-US" sz="2000" dirty="0"/>
          </a:p>
        </p:txBody>
      </p:sp>
      <p:sp>
        <p:nvSpPr>
          <p:cNvPr id="15" name="Text 12"/>
          <p:cNvSpPr/>
          <p:nvPr/>
        </p:nvSpPr>
        <p:spPr>
          <a:xfrm>
            <a:off x="8430768" y="2331720"/>
            <a:ext cx="3026664" cy="224028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The reader's text says it</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Blind judge; k of n, missing shown</a:t>
            </a:r>
            <a:endParaRPr lang="en-US" sz="1800" dirty="0"/>
          </a:p>
        </p:txBody>
      </p:sp>
      <p:sp>
        <p:nvSpPr>
          <p:cNvPr id="16" name="Text 13"/>
          <p:cNvSpPr/>
          <p:nvPr/>
        </p:nvSpPr>
        <p:spPr>
          <a:xfrm>
            <a:off x="457200" y="5120640"/>
            <a:ext cx="11274552" cy="548640"/>
          </a:xfrm>
          <a:prstGeom prst="rect">
            <a:avLst/>
          </a:prstGeom>
          <a:noFill/>
          <a:ln/>
        </p:spPr>
        <p:txBody>
          <a:bodyPr wrap="square" lIns="0" tIns="0" rIns="0" bIns="0" rtlCol="0" anchor="t"/>
          <a:lstStyle/>
          <a:p>
            <a:pPr algn="ctr" indent="0" marL="0">
              <a:buNone/>
            </a:pPr>
            <a:r>
              <a:rPr lang="en-US" sz="2000" b="1" dirty="0">
                <a:solidFill>
                  <a:srgbClr val="1F2A33"/>
                </a:solidFill>
                <a:latin typeface="Calibri" pitchFamily="34" charset="0"/>
                <a:ea typeface="Calibri" pitchFamily="34" charset="-122"/>
                <a:cs typeface="Calibri" pitchFamily="34" charset="-120"/>
              </a:rPr>
              <a:t>The three come apart all the time. Most of this talk is about where.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What readers write: often a prompt of this kind, rebuilt and answered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Verbatim, shortened with … · G1 pilot items lang-02A, own-02A · block 42, last prompt token · guivff/activation-readers @ c60fa970</a:t>
            </a:r>
            <a:endParaRPr lang="en-US" sz="1000" dirty="0"/>
          </a:p>
        </p:txBody>
      </p:sp>
      <p:sp>
        <p:nvSpPr>
          <p:cNvPr id="7" name="Shape 4"/>
          <p:cNvSpPr/>
          <p:nvPr/>
        </p:nvSpPr>
        <p:spPr>
          <a:xfrm>
            <a:off x="457200" y="1463040"/>
            <a:ext cx="11274552" cy="2148840"/>
          </a:xfrm>
          <a:prstGeom prst="rect">
            <a:avLst/>
          </a:prstGeom>
          <a:solidFill>
            <a:srgbClr val="E8E6E1"/>
          </a:solidFill>
          <a:ln w="9525">
            <a:solidFill>
              <a:srgbClr val="E8E6E1"/>
            </a:solidFill>
            <a:prstDash val="solid"/>
          </a:ln>
        </p:spPr>
      </p:sp>
      <p:sp>
        <p:nvSpPr>
          <p:cNvPr id="8" name="Text 5"/>
          <p:cNvSpPr/>
          <p:nvPr/>
        </p:nvSpPr>
        <p:spPr>
          <a:xfrm>
            <a:off x="731520" y="1645920"/>
            <a:ext cx="10789920" cy="411480"/>
          </a:xfrm>
          <a:prstGeom prst="rect">
            <a:avLst/>
          </a:prstGeom>
          <a:noFill/>
          <a:ln/>
        </p:spPr>
        <p:txBody>
          <a:bodyPr wrap="square" lIns="0" tIns="0" rIns="0" bIns="0" rtlCol="0" anchor="t"/>
          <a:lstStyle/>
          <a:p>
            <a:pPr indent="0" marL="0">
              <a:buNone/>
            </a:pPr>
            <a:r>
              <a:rPr lang="en-US" sz="1600" b="1" dirty="0">
                <a:solidFill>
                  <a:srgbClr val="1F2A33"/>
                </a:solidFill>
                <a:latin typeface="Calibri" pitchFamily="34" charset="0"/>
                <a:ea typeface="Calibri" pitchFamily="34" charset="-122"/>
                <a:cs typeface="Calibri" pitchFamily="34" charset="-120"/>
              </a:rPr>
              <a:t>Prompt: “Elif carries the rope and Jonas carries the lantern. Who carries the lantern? Name only.”</a:t>
            </a:r>
            <a:endParaRPr lang="en-US" sz="1600" dirty="0"/>
          </a:p>
        </p:txBody>
      </p:sp>
      <p:sp>
        <p:nvSpPr>
          <p:cNvPr id="9" name="Text 6"/>
          <p:cNvSpPr/>
          <p:nvPr/>
        </p:nvSpPr>
        <p:spPr>
          <a:xfrm>
            <a:off x="731520" y="2148840"/>
            <a:ext cx="5120640" cy="45720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Oracle Lens: “- Alice / - John …”</a:t>
            </a:r>
            <a:endParaRPr lang="en-US" sz="1500" dirty="0"/>
          </a:p>
        </p:txBody>
      </p:sp>
      <p:sp>
        <p:nvSpPr>
          <p:cNvPr id="10" name="Text 7"/>
          <p:cNvSpPr/>
          <p:nvPr/>
        </p:nvSpPr>
        <p:spPr>
          <a:xfrm>
            <a:off x="6035040" y="2148840"/>
            <a:ext cx="5486400" cy="73152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NLA: “… must provide just the name “Alex” as the direct answer to “Who sits first.” …”</a:t>
            </a:r>
            <a:endParaRPr lang="en-US" sz="1500" dirty="0"/>
          </a:p>
        </p:txBody>
      </p:sp>
      <p:sp>
        <p:nvSpPr>
          <p:cNvPr id="11" name="Text 8"/>
          <p:cNvSpPr/>
          <p:nvPr/>
        </p:nvSpPr>
        <p:spPr>
          <a:xfrm>
            <a:off x="731520" y="3017520"/>
            <a:ext cx="10789920" cy="411480"/>
          </a:xfrm>
          <a:prstGeom prst="rect">
            <a:avLst/>
          </a:prstGeom>
          <a:noFill/>
          <a:ln/>
        </p:spPr>
        <p:txBody>
          <a:bodyPr wrap="square" lIns="0" tIns="0" rIns="0" bIns="0" rtlCol="0" anchor="t"/>
          <a:lstStyle/>
          <a:p>
            <a:pPr indent="0" marL="0">
              <a:buNone/>
            </a:pPr>
            <a:r>
              <a:rPr lang="en-US" sz="1600" b="1" dirty="0">
                <a:solidFill>
                  <a:srgbClr val="B03060"/>
                </a:solidFill>
                <a:latin typeface="Calibri" pitchFamily="34" charset="0"/>
                <a:ea typeface="Calibri" pitchFamily="34" charset="-122"/>
                <a:cs typeface="Calibri" pitchFamily="34" charset="-120"/>
              </a:rPr>
              <a:t>Neither names Jonas or Elif. Both rebuild a name-only question and answer that.</a:t>
            </a:r>
            <a:endParaRPr lang="en-US" sz="1600" dirty="0"/>
          </a:p>
        </p:txBody>
      </p:sp>
      <p:sp>
        <p:nvSpPr>
          <p:cNvPr id="12" name="Shape 9"/>
          <p:cNvSpPr/>
          <p:nvPr/>
        </p:nvSpPr>
        <p:spPr>
          <a:xfrm>
            <a:off x="457200" y="3840480"/>
            <a:ext cx="11274552" cy="2148840"/>
          </a:xfrm>
          <a:prstGeom prst="rect">
            <a:avLst/>
          </a:prstGeom>
          <a:solidFill>
            <a:srgbClr val="E8E6E1"/>
          </a:solidFill>
          <a:ln w="9525">
            <a:solidFill>
              <a:srgbClr val="E8E6E1"/>
            </a:solidFill>
            <a:prstDash val="solid"/>
          </a:ln>
        </p:spPr>
      </p:sp>
      <p:sp>
        <p:nvSpPr>
          <p:cNvPr id="13" name="Text 10"/>
          <p:cNvSpPr/>
          <p:nvPr/>
        </p:nvSpPr>
        <p:spPr>
          <a:xfrm>
            <a:off x="731520" y="4023360"/>
            <a:ext cx="10789920" cy="411480"/>
          </a:xfrm>
          <a:prstGeom prst="rect">
            <a:avLst/>
          </a:prstGeom>
          <a:noFill/>
          <a:ln/>
        </p:spPr>
        <p:txBody>
          <a:bodyPr wrap="square" lIns="0" tIns="0" rIns="0" bIns="0" rtlCol="0" anchor="t"/>
          <a:lstStyle/>
          <a:p>
            <a:pPr indent="0" marL="0">
              <a:buNone/>
            </a:pPr>
            <a:r>
              <a:rPr lang="en-US" sz="1600" b="1" dirty="0">
                <a:solidFill>
                  <a:srgbClr val="1F2A33"/>
                </a:solidFill>
                <a:latin typeface="Calibri" pitchFamily="34" charset="0"/>
                <a:ea typeface="Calibri" pitchFamily="34" charset="-122"/>
                <a:cs typeface="Calibri" pitchFamily="34" charset="-120"/>
              </a:rPr>
              <a:t>Prompt: “What is the opposite of 'hot'? (Answer in Spanish, one word.)”</a:t>
            </a:r>
            <a:endParaRPr lang="en-US" sz="1600" dirty="0"/>
          </a:p>
        </p:txBody>
      </p:sp>
      <p:sp>
        <p:nvSpPr>
          <p:cNvPr id="14" name="Text 11"/>
          <p:cNvSpPr/>
          <p:nvPr/>
        </p:nvSpPr>
        <p:spPr>
          <a:xfrm>
            <a:off x="731520" y="4526280"/>
            <a:ext cx="5120640" cy="45720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Oracle Lens: “- Frío / - Frío …”</a:t>
            </a:r>
            <a:endParaRPr lang="en-US" sz="1500" dirty="0"/>
          </a:p>
        </p:txBody>
      </p:sp>
      <p:sp>
        <p:nvSpPr>
          <p:cNvPr id="15" name="Text 12"/>
          <p:cNvSpPr/>
          <p:nvPr/>
        </p:nvSpPr>
        <p:spPr>
          <a:xfrm>
            <a:off x="6035040" y="4526280"/>
            <a:ext cx="5486400" cy="73152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NLA: “… now delivering a Spanish-language direct answer …”</a:t>
            </a:r>
            <a:endParaRPr lang="en-US" sz="1500" dirty="0"/>
          </a:p>
        </p:txBody>
      </p:sp>
      <p:sp>
        <p:nvSpPr>
          <p:cNvPr id="16" name="Text 13"/>
          <p:cNvSpPr/>
          <p:nvPr/>
        </p:nvSpPr>
        <p:spPr>
          <a:xfrm>
            <a:off x="731520" y="5394960"/>
            <a:ext cx="10789920" cy="411480"/>
          </a:xfrm>
          <a:prstGeom prst="rect">
            <a:avLst/>
          </a:prstGeom>
          <a:noFill/>
          <a:ln/>
        </p:spPr>
        <p:txBody>
          <a:bodyPr wrap="square" lIns="0" tIns="0" rIns="0" bIns="0" rtlCol="0" anchor="t"/>
          <a:lstStyle/>
          <a:p>
            <a:pPr indent="0" marL="0">
              <a:buNone/>
            </a:pPr>
            <a:r>
              <a:rPr lang="en-US" sz="1600" b="1" dirty="0">
                <a:solidFill>
                  <a:srgbClr val="B03060"/>
                </a:solidFill>
                <a:latin typeface="Calibri" pitchFamily="34" charset="0"/>
                <a:ea typeface="Calibri" pitchFamily="34" charset="-122"/>
                <a:cs typeface="Calibri" pitchFamily="34" charset="-120"/>
              </a:rPr>
              <a:t>When the rebuild keeps the specifics, the answer is right.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Negative result 1: the benchmark can't tell reading from re-solving the prompt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01, 06 · Jarus77/mats-nla-workspace @ 4d43ecb2 · text arms are best-of-8 against k = 1 readers</a:t>
            </a:r>
            <a:endParaRPr lang="en-US" sz="1000" dirty="0"/>
          </a:p>
        </p:txBody>
      </p:sp>
      <p:pic>
        <p:nvPicPr>
          <p:cNvPr id="7" name="Image 0" descr="/tmp/claude-0/-home-claude/34b6ba06-a811-5fbc-ba65-146b4f52e6b8/scratchpad/comb/img/s06.png">    </p:cNvPr>
          <p:cNvPicPr>
            <a:picLocks noChangeAspect="1"/>
          </p:cNvPicPr>
          <p:nvPr/>
        </p:nvPicPr>
        <p:blipFill>
          <a:blip r:embed="rId1"/>
          <a:stretch>
            <a:fillRect/>
          </a:stretch>
        </p:blipFill>
        <p:spPr>
          <a:xfrm>
            <a:off x="1627938" y="1371600"/>
            <a:ext cx="8933077" cy="3977640"/>
          </a:xfrm>
          <a:prstGeom prst="rect">
            <a:avLst/>
          </a:prstGeom>
        </p:spPr>
      </p:pic>
      <p:sp>
        <p:nvSpPr>
          <p:cNvPr id="8" name="Text 4"/>
          <p:cNvSpPr/>
          <p:nvPr/>
        </p:nvSpPr>
        <p:spPr>
          <a:xfrm>
            <a:off x="640080" y="5486400"/>
            <a:ext cx="10881360" cy="9144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Prompt alone passes 0.89; adding either readout adds nothing (NLA −0.015 [−0.043, +0.013])</a:t>
            </a:r>
            <a:endParaRPr lang="en-US" sz="1600" dirty="0"/>
          </a:p>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Lesson: </a:t>
            </a:r>
            <a:pPr indent="0" marL="0">
              <a:buNone/>
            </a:pPr>
            <a:r>
              <a:rPr lang="en-US" sz="1600" dirty="0">
                <a:solidFill>
                  <a:srgbClr val="1F2A33"/>
                </a:solidFill>
                <a:latin typeface="Calibri" pitchFamily="34" charset="0"/>
                <a:ea typeface="Calibri" pitchFamily="34" charset="-122"/>
                <a:cs typeface="Calibri" pitchFamily="34" charset="-120"/>
              </a:rPr>
              <a:t>to ask what a reader captures, hold the text fixed and move the activation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When Qwen's answer changes with the wording, the reader rarely follows</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E140 (descriptive pre-stated readings: tracking NOT MET, same-answer MET) · guivff/activation-readers @ c60fa970</a:t>
            </a:r>
            <a:endParaRPr lang="en-US" sz="1000" dirty="0"/>
          </a:p>
        </p:txBody>
      </p:sp>
      <p:sp>
        <p:nvSpPr>
          <p:cNvPr id="7" name="Shape 4"/>
          <p:cNvSpPr/>
          <p:nvPr/>
        </p:nvSpPr>
        <p:spPr>
          <a:xfrm>
            <a:off x="457200" y="1463040"/>
            <a:ext cx="5500116" cy="4754880"/>
          </a:xfrm>
          <a:prstGeom prst="rect">
            <a:avLst/>
          </a:prstGeom>
          <a:solidFill>
            <a:srgbClr val="E8E6E1"/>
          </a:solidFill>
          <a:ln w="9525">
            <a:solidFill>
              <a:srgbClr val="E8E6E1"/>
            </a:solidFill>
            <a:prstDash val="solid"/>
          </a:ln>
        </p:spPr>
      </p:sp>
      <p:sp>
        <p:nvSpPr>
          <p:cNvPr id="8" name="Text 5"/>
          <p:cNvSpPr/>
          <p:nvPr/>
        </p:nvSpPr>
        <p:spPr>
          <a:xfrm>
            <a:off x="731520" y="1691640"/>
            <a:ext cx="4951476"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The test</a:t>
            </a:r>
            <a:endParaRPr lang="en-US" sz="2000" dirty="0"/>
          </a:p>
        </p:txBody>
      </p:sp>
      <p:sp>
        <p:nvSpPr>
          <p:cNvPr id="9" name="Text 6"/>
          <p:cNvSpPr/>
          <p:nvPr/>
        </p:nvSpPr>
        <p:spPr>
          <a:xfrm>
            <a:off x="731520" y="2331720"/>
            <a:ext cx="4951476"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Same fact, two wordings: “What is the capital city of X?” / “Which city is X's capital?”</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Keep pairs where Qwen answers differently: 58 of 300</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Read both at block 60. Does the reader follow Qwen?</a:t>
            </a:r>
            <a:endParaRPr lang="en-US" sz="1800" dirty="0"/>
          </a:p>
        </p:txBody>
      </p:sp>
      <p:sp>
        <p:nvSpPr>
          <p:cNvPr id="10" name="Shape 7"/>
          <p:cNvSpPr/>
          <p:nvPr/>
        </p:nvSpPr>
        <p:spPr>
          <a:xfrm>
            <a:off x="6231636" y="1463040"/>
            <a:ext cx="5500116" cy="4754880"/>
          </a:xfrm>
          <a:prstGeom prst="rect">
            <a:avLst/>
          </a:prstGeom>
          <a:solidFill>
            <a:srgbClr val="E8E6E1"/>
          </a:solidFill>
          <a:ln w="9525">
            <a:solidFill>
              <a:srgbClr val="E8E6E1"/>
            </a:solidFill>
            <a:prstDash val="solid"/>
          </a:ln>
        </p:spPr>
      </p:sp>
      <p:sp>
        <p:nvSpPr>
          <p:cNvPr id="11" name="Text 8"/>
          <p:cNvSpPr/>
          <p:nvPr/>
        </p:nvSpPr>
        <p:spPr>
          <a:xfrm>
            <a:off x="6505956" y="1691640"/>
            <a:ext cx="4951476"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Result (12 evaluable pairs)</a:t>
            </a:r>
            <a:endParaRPr lang="en-US" sz="2000" dirty="0"/>
          </a:p>
        </p:txBody>
      </p:sp>
      <p:sp>
        <p:nvSpPr>
          <p:cNvPr id="12" name="Text 9"/>
          <p:cNvSpPr/>
          <p:nvPr/>
        </p:nvSpPr>
        <p:spPr>
          <a:xfrm>
            <a:off x="6505956" y="2331720"/>
            <a:ext cx="4951476" cy="3703320"/>
          </a:xfrm>
          <a:prstGeom prst="rect">
            <a:avLst/>
          </a:prstGeom>
          <a:noFill/>
          <a:ln/>
        </p:spPr>
        <p:txBody>
          <a:bodyPr wrap="square" lIns="0" tIns="0" rIns="0" bIns="0" rtlCol="0" anchor="t"/>
          <a:lstStyle/>
          <a:p>
            <a:pPr marL="203200" indent="-203200">
              <a:buSzPct val="100000"/>
              <a:buChar char="•"/>
            </a:pPr>
            <a:r>
              <a:rPr lang="en-US" sz="1800" b="1" dirty="0">
                <a:solidFill>
                  <a:srgbClr val="B03060"/>
                </a:solidFill>
                <a:latin typeface="Calibri" pitchFamily="34" charset="0"/>
                <a:ea typeface="Calibri" pitchFamily="34" charset="-122"/>
                <a:cs typeface="Calibri" pitchFamily="34" charset="-120"/>
              </a:rPr>
              <a:t>1 of 12 follows Qwen</a:t>
            </a:r>
            <a:pPr indent="0" marL="0">
              <a:spcAft>
                <a:spcPts val="800"/>
              </a:spcAft>
              <a:buNone/>
            </a:pPr>
            <a:r>
              <a:rPr lang="en-US" sz="1800" dirty="0">
                <a:solidFill>
                  <a:srgbClr val="1F2A33"/>
                </a:solidFill>
                <a:latin typeface="Calibri" pitchFamily="34" charset="0"/>
                <a:ea typeface="Calibri" pitchFamily="34" charset="-122"/>
                <a:cs typeface="Calibri" pitchFamily="34" charset="-120"/>
              </a:rPr>
              <a:t> · 0.08 [0.01, 0.35]</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11 of 12 give one answer for both wordings</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Caveat: only 12 of 58 pairs were evaluable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Swap in another item's activation: content follows it, structure goes silent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E100 (confirmatory, R-PC MET 5/5) · Oracle Lens, block 44, 84 items per row · guivff/activation-readers @ c60fa970</a:t>
            </a:r>
            <a:endParaRPr lang="en-US" sz="1000" dirty="0"/>
          </a:p>
        </p:txBody>
      </p:sp>
      <p:graphicFrame>
        <p:nvGraphicFramePr>
          <p:cNvPr id="7" name="Chart 0" descr=""/>
          <p:cNvGraphicFramePr/>
          <p:nvPr/>
        </p:nvGraphicFramePr>
        <p:xfrm>
          <a:off x="457200" y="13716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680960" y="1463040"/>
            <a:ext cx="4050792" cy="4754880"/>
          </a:xfrm>
          <a:prstGeom prst="rect">
            <a:avLst/>
          </a:prstGeom>
          <a:solidFill>
            <a:srgbClr val="E8E6E1"/>
          </a:solidFill>
          <a:ln w="9525">
            <a:solidFill>
              <a:srgbClr val="E8E6E1"/>
            </a:solidFill>
            <a:prstDash val="solid"/>
          </a:ln>
        </p:spPr>
      </p:sp>
      <p:sp>
        <p:nvSpPr>
          <p:cNvPr id="9" name="Text 5"/>
          <p:cNvSpPr/>
          <p:nvPr/>
        </p:nvSpPr>
        <p:spPr>
          <a:xfrm>
            <a:off x="7955280" y="1737360"/>
            <a:ext cx="3566160" cy="4206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Content (format, fact, tense, language) follows the donor</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Nesting and indent: the readout states no value at all (64 and 78 of 84)</a:t>
            </a:r>
            <a:endParaRPr lang="en-US" sz="1600" dirty="0"/>
          </a:p>
          <a:p>
            <a:pPr marL="203200" indent="-203200">
              <a:buSzPct val="100000"/>
              <a:buChar char="•"/>
            </a:pPr>
            <a:r>
              <a:rPr lang="en-US" sz="1600" dirty="0">
                <a:solidFill>
                  <a:srgbClr val="1F2A33"/>
                </a:solidFill>
                <a:latin typeface="Calibri" pitchFamily="34" charset="0"/>
                <a:ea typeface="Calibri" pitchFamily="34" charset="-122"/>
                <a:cs typeface="Calibri" pitchFamily="34" charset="-120"/>
              </a:rPr>
              <a:t>Other categories (both, exhibits only, missing) not drawn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Claim A: both readers carry structural state in their words and almost never state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25 (carried: critic rebuild, frozen probe, 160 items per row) and exp 22 (stated: blind judge, 40 items × 8) · Jarus77/mats-nla-workspace @ 4d43ecb2</a:t>
            </a:r>
            <a:endParaRPr lang="en-US" sz="1000" dirty="0"/>
          </a:p>
        </p:txBody>
      </p:sp>
      <p:graphicFrame>
        <p:nvGraphicFramePr>
          <p:cNvPr id="7" name="Chart 0" descr=""/>
          <p:cNvGraphicFramePr/>
          <p:nvPr/>
        </p:nvGraphicFramePr>
        <p:xfrm>
          <a:off x="457200" y="1371600"/>
          <a:ext cx="553212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199632" y="1371600"/>
          <a:ext cx="5532120" cy="4069080"/>
        </p:xfrm>
        <a:graphic xmlns:a="http://schemas.openxmlformats.org/drawingml/2006/main">
          <a:graphicData uri="http://schemas.openxmlformats.org/drawingml/2006/chart">
            <c:chart xmlns:c="http://schemas.openxmlformats.org/drawingml/2006/chart" r:id="rId2"/>
          </a:graphicData>
        </a:graphic>
      </p:graphicFrame>
      <p:sp>
        <p:nvSpPr>
          <p:cNvPr id="9" name="Text 4"/>
          <p:cNvSpPr/>
          <p:nvPr/>
        </p:nvSpPr>
        <p:spPr>
          <a:xfrm>
            <a:off x="640080" y="5486400"/>
            <a:ext cx="10881360" cy="868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Structure is recoverable from both readers' words (0.84–1.00 except Oracle Lens on call argument); Oracle Lens states it 0–1%, the NLA 2–25%</a:t>
            </a:r>
            <a:endParaRPr lang="en-US" sz="1500" dirty="0"/>
          </a:p>
          <a:p>
            <a:pPr marL="203200" indent="-203200">
              <a:buSzPct val="100000"/>
              <a:buChar char="•"/>
            </a:pPr>
            <a:r>
              <a:rPr lang="en-US" sz="1500" b="1" dirty="0">
                <a:solidFill>
                  <a:srgbClr val="B03060"/>
                </a:solidFill>
                <a:latin typeface="Calibri" pitchFamily="34" charset="0"/>
                <a:ea typeface="Calibri" pitchFamily="34" charset="-122"/>
                <a:cs typeface="Calibri" pitchFamily="34" charset="-120"/>
              </a:rPr>
              <a:t>Caveat: </a:t>
            </a:r>
            <a:pPr indent="0" marL="0">
              <a:buNone/>
            </a:pPr>
            <a:r>
              <a:rPr lang="en-US" sz="1500" dirty="0">
                <a:solidFill>
                  <a:srgbClr val="1F2A33"/>
                </a:solidFill>
                <a:latin typeface="Calibri" pitchFamily="34" charset="0"/>
                <a:ea typeface="Calibri" pitchFamily="34" charset="-122"/>
                <a:cs typeface="Calibri" pitchFamily="34" charset="-120"/>
              </a:rPr>
              <a:t>the critic is the NLA's own, so Oracle Lens's text is rebuilt out of distribution; Markdown rows are not linearly present and are left out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The NLA reads position from the part of the vector Oracle Lens's words do not rebuild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16 (S16: Suraj's design, run by Guiv's agent on Suraj's pipeline), 200 items per row · Jarus77/mats-nla-workspace @ 4d43ecb2 · E7, E27: guivff/activation-readers @ c60fa970</a:t>
            </a:r>
            <a:endParaRPr lang="en-US" sz="1000" dirty="0"/>
          </a:p>
        </p:txBody>
      </p:sp>
      <p:pic>
        <p:nvPicPr>
          <p:cNvPr id="7" name="Image 0" descr="/tmp/claude-0/-home-claude/34b6ba06-a811-5fbc-ba65-146b4f52e6b8/scratchpad/comb/img/s14.png">    </p:cNvPr>
          <p:cNvPicPr>
            <a:picLocks noChangeAspect="1"/>
          </p:cNvPicPr>
          <p:nvPr/>
        </p:nvPicPr>
        <p:blipFill>
          <a:blip r:embed="rId1"/>
          <a:stretch>
            <a:fillRect/>
          </a:stretch>
        </p:blipFill>
        <p:spPr>
          <a:xfrm>
            <a:off x="1519703" y="1371600"/>
            <a:ext cx="9149547" cy="3977640"/>
          </a:xfrm>
          <a:prstGeom prst="rect">
            <a:avLst/>
          </a:prstGeom>
        </p:spPr>
      </p:pic>
      <p:sp>
        <p:nvSpPr>
          <p:cNvPr id="8" name="Text 4"/>
          <p:cNvSpPr/>
          <p:nvPr/>
        </p:nvSpPr>
        <p:spPr>
          <a:xfrm>
            <a:off x="640080" y="5486400"/>
            <a:ext cx="10881360" cy="9144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Table column: follows the donor via the remainder 0.98, via the Oracle Lens part 0.01</a:t>
            </a:r>
            <a:endParaRPr lang="en-US" sz="1600" dirty="0"/>
          </a:p>
          <a:p>
            <a:pPr marL="203200" indent="-203200">
              <a:buSzPct val="100000"/>
              <a:buChar char="•"/>
            </a:pPr>
            <a:r>
              <a:rPr lang="en-US" sz="1600" b="1" dirty="0">
                <a:solidFill>
                  <a:srgbClr val="B03060"/>
                </a:solidFill>
                <a:latin typeface="Calibri" pitchFamily="34" charset="0"/>
                <a:ea typeface="Calibri" pitchFamily="34" charset="-122"/>
                <a:cs typeface="Calibri" pitchFamily="34" charset="-120"/>
              </a:rPr>
              <a:t>Unreconciled: </a:t>
            </a:r>
            <a:pPr indent="0" marL="0">
              <a:buNone/>
            </a:pPr>
            <a:r>
              <a:rPr lang="en-US" sz="1600" dirty="0">
                <a:solidFill>
                  <a:srgbClr val="1F2A33"/>
                </a:solidFill>
                <a:latin typeface="Calibri" pitchFamily="34" charset="0"/>
                <a:ea typeface="Calibri" pitchFamily="34" charset="-122"/>
                <a:cs typeface="Calibri" pitchFamily="34" charset="-120"/>
              </a:rPr>
              <a:t>Guiv's E7 swap gives 0.39 on the same row; E27 could not assign the gap to one cause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Negative result 2: our prediction rules tie or lose to always predicting 'low'</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19, 22, D51 · Jarus77/mats-nla-workspace @ 4d43ecb2</a:t>
            </a:r>
            <a:endParaRPr lang="en-US" sz="1000" dirty="0"/>
          </a:p>
        </p:txBody>
      </p:sp>
      <p:pic>
        <p:nvPicPr>
          <p:cNvPr id="7" name="Image 0" descr="/tmp/claude-0/-home-claude/34b6ba06-a811-5fbc-ba65-146b4f52e6b8/scratchpad/comb/img/s16.png">    </p:cNvPr>
          <p:cNvPicPr>
            <a:picLocks noChangeAspect="1"/>
          </p:cNvPicPr>
          <p:nvPr/>
        </p:nvPicPr>
        <p:blipFill>
          <a:blip r:embed="rId1"/>
          <a:stretch>
            <a:fillRect/>
          </a:stretch>
        </p:blipFill>
        <p:spPr>
          <a:xfrm>
            <a:off x="1911568" y="1371600"/>
            <a:ext cx="8365816" cy="3977640"/>
          </a:xfrm>
          <a:prstGeom prst="rect">
            <a:avLst/>
          </a:prstGeom>
        </p:spPr>
      </p:pic>
      <p:sp>
        <p:nvSpPr>
          <p:cNvPr id="8" name="Text 4"/>
          <p:cNvSpPr/>
          <p:nvPr/>
        </p:nvSpPr>
        <p:spPr>
          <a:xfrm>
            <a:off x="640080" y="5486400"/>
            <a:ext cx="10881360" cy="9144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Primary scorecards: rules 31/38 vs always-low 33/38 (exp 19); 30/38 vs 30/38 (exp 22)</a:t>
            </a:r>
            <a:endParaRPr lang="en-US" sz="1600" dirty="0"/>
          </a:p>
          <a:p>
            <a:pPr marL="203200" indent="-203200">
              <a:buSzPct val="100000"/>
              <a:buChar char="•"/>
            </a:pPr>
            <a:r>
              <a:rPr lang="en-US" sz="1600" b="1" dirty="0">
                <a:solidFill>
                  <a:srgbClr val="1F2A33"/>
                </a:solidFill>
                <a:latin typeface="Calibri" pitchFamily="34" charset="0"/>
                <a:ea typeface="Calibri" pitchFamily="34" charset="-122"/>
                <a:cs typeface="Calibri" pitchFamily="34" charset="-120"/>
              </a:rPr>
              <a:t>Lesson: </a:t>
            </a:r>
            <a:pPr indent="0" marL="0">
              <a:buNone/>
            </a:pPr>
            <a:r>
              <a:rPr lang="en-US" sz="1600" dirty="0">
                <a:solidFill>
                  <a:srgbClr val="1F2A33"/>
                </a:solidFill>
                <a:latin typeface="Calibri" pitchFamily="34" charset="0"/>
                <a:ea typeface="Calibri" pitchFamily="34" charset="-122"/>
                <a:cs typeface="Calibri" pitchFamily="34" charset="-120"/>
              </a:rPr>
              <a:t>pre-register the baseline too. Found in the 30 Oct raw recompute, after we had quoted these as passing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Claim B, at 55%: a warm-start habit, not the reward, keeps the NLA from naming structure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29 (RL replay, one final critic scores every checkpoint) and 30 (400-step naming adapter) · Jarus77/mats-nla-workspace @ 4d43ecb2</a:t>
            </a:r>
            <a:endParaRPr lang="en-US" sz="1000" dirty="0"/>
          </a:p>
        </p:txBody>
      </p:sp>
      <p:sp>
        <p:nvSpPr>
          <p:cNvPr id="7" name="Shape 4"/>
          <p:cNvSpPr/>
          <p:nvPr/>
        </p:nvSpPr>
        <p:spPr>
          <a:xfrm>
            <a:off x="457200" y="1463040"/>
            <a:ext cx="3575304" cy="3566160"/>
          </a:xfrm>
          <a:prstGeom prst="rect">
            <a:avLst/>
          </a:prstGeom>
          <a:solidFill>
            <a:srgbClr val="E8E6E1"/>
          </a:solidFill>
          <a:ln w="9525">
            <a:solidFill>
              <a:srgbClr val="E8E6E1"/>
            </a:solidFill>
            <a:prstDash val="solid"/>
          </a:ln>
        </p:spPr>
      </p:sp>
      <p:sp>
        <p:nvSpPr>
          <p:cNvPr id="8" name="Text 5"/>
          <p:cNvSpPr/>
          <p:nvPr/>
        </p:nvSpPr>
        <p:spPr>
          <a:xfrm>
            <a:off x="731520"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Not the reward (exp 29)</a:t>
            </a:r>
            <a:endParaRPr lang="en-US" sz="2000" dirty="0"/>
          </a:p>
        </p:txBody>
      </p:sp>
      <p:sp>
        <p:nvSpPr>
          <p:cNvPr id="9" name="Text 6"/>
          <p:cNvSpPr/>
          <p:nvPr/>
        </p:nvSpPr>
        <p:spPr>
          <a:xfrm>
            <a:off x="731520" y="2331720"/>
            <a:ext cx="3026664" cy="251460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Over 800 RL steps, reconstruction rises (FVE 0.18 → 0.59)</a:t>
            </a:r>
            <a:endParaRPr lang="en-US" sz="1700" dirty="0"/>
          </a:p>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Naming the code language rises (0.55 → 0.71–0.77)</a:t>
            </a:r>
            <a:endParaRPr lang="en-US" sz="1700" dirty="0"/>
          </a:p>
          <a:p>
            <a:pPr marL="203200" indent="-203200">
              <a:buSzPct val="100000"/>
              <a:buChar char="•"/>
            </a:pPr>
            <a:r>
              <a:rPr lang="en-US" sz="1700" b="1" dirty="0">
                <a:solidFill>
                  <a:srgbClr val="1F2A33"/>
                </a:solidFill>
                <a:latin typeface="Calibri" pitchFamily="34" charset="0"/>
                <a:ea typeface="Calibri" pitchFamily="34" charset="-122"/>
                <a:cs typeface="Calibri" pitchFamily="34" charset="-120"/>
              </a:rPr>
              <a:t>Naming structure stays flat: </a:t>
            </a:r>
            <a:pPr indent="0" marL="0">
              <a:buNone/>
            </a:pPr>
            <a:r>
              <a:rPr lang="en-US" sz="1700" dirty="0">
                <a:solidFill>
                  <a:srgbClr val="1F2A33"/>
                </a:solidFill>
                <a:latin typeface="Calibri" pitchFamily="34" charset="0"/>
                <a:ea typeface="Calibri" pitchFamily="34" charset="-122"/>
                <a:cs typeface="Calibri" pitchFamily="34" charset="-120"/>
              </a:rPr>
              <a:t>0.00–0.29, no trend</a:t>
            </a:r>
            <a:endParaRPr lang="en-US" sz="1700" dirty="0"/>
          </a:p>
        </p:txBody>
      </p:sp>
      <p:sp>
        <p:nvSpPr>
          <p:cNvPr id="10" name="Shape 7"/>
          <p:cNvSpPr/>
          <p:nvPr/>
        </p:nvSpPr>
        <p:spPr>
          <a:xfrm>
            <a:off x="4306824" y="1463040"/>
            <a:ext cx="3575304" cy="3566160"/>
          </a:xfrm>
          <a:prstGeom prst="rect">
            <a:avLst/>
          </a:prstGeom>
          <a:solidFill>
            <a:srgbClr val="E8E6E1"/>
          </a:solidFill>
          <a:ln w="9525">
            <a:solidFill>
              <a:srgbClr val="E8E6E1"/>
            </a:solidFill>
            <a:prstDash val="solid"/>
          </a:ln>
        </p:spPr>
      </p:sp>
      <p:sp>
        <p:nvSpPr>
          <p:cNvPr id="11" name="Text 8"/>
          <p:cNvSpPr/>
          <p:nvPr/>
        </p:nvSpPr>
        <p:spPr>
          <a:xfrm>
            <a:off x="4581144"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Not capacity (exp 30)</a:t>
            </a:r>
            <a:endParaRPr lang="en-US" sz="2000" dirty="0"/>
          </a:p>
        </p:txBody>
      </p:sp>
      <p:sp>
        <p:nvSpPr>
          <p:cNvPr id="12" name="Text 9"/>
          <p:cNvSpPr/>
          <p:nvPr/>
        </p:nvSpPr>
        <p:spPr>
          <a:xfrm>
            <a:off x="4581144" y="2331720"/>
            <a:ext cx="3026664" cy="251460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A 400-step adapter learns to name it</a:t>
            </a:r>
            <a:endParaRPr lang="en-US" sz="1700" dirty="0"/>
          </a:p>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At no cost: FVE 0.507 vs control 0.512</a:t>
            </a:r>
            <a:endParaRPr lang="en-US" sz="1700" dirty="0"/>
          </a:p>
          <a:p>
            <a:pPr marL="203200" indent="-203200">
              <a:buSzPct val="100000"/>
              <a:buChar char="•"/>
            </a:pPr>
            <a:r>
              <a:rPr lang="en-US" sz="1700" dirty="0">
                <a:solidFill>
                  <a:srgbClr val="1F2A33"/>
                </a:solidFill>
                <a:latin typeface="Calibri" pitchFamily="34" charset="0"/>
                <a:ea typeface="Calibri" pitchFamily="34" charset="-122"/>
                <a:cs typeface="Calibri" pitchFamily="34" charset="-120"/>
              </a:rPr>
              <a:t>Correct 0.79–1.00 on held-out files; but a held-out row only 0.53</a:t>
            </a:r>
            <a:endParaRPr lang="en-US" sz="1700" dirty="0"/>
          </a:p>
        </p:txBody>
      </p:sp>
      <p:sp>
        <p:nvSpPr>
          <p:cNvPr id="13" name="Shape 10"/>
          <p:cNvSpPr/>
          <p:nvPr/>
        </p:nvSpPr>
        <p:spPr>
          <a:xfrm>
            <a:off x="8156448" y="1463040"/>
            <a:ext cx="3575304" cy="3566160"/>
          </a:xfrm>
          <a:prstGeom prst="rect">
            <a:avLst/>
          </a:prstGeom>
          <a:solidFill>
            <a:srgbClr val="F3DCE4"/>
          </a:solidFill>
          <a:ln w="9525">
            <a:solidFill>
              <a:srgbClr val="F3DCE4"/>
            </a:solidFill>
            <a:prstDash val="solid"/>
          </a:ln>
        </p:spPr>
      </p:sp>
      <p:sp>
        <p:nvSpPr>
          <p:cNvPr id="14" name="Text 11"/>
          <p:cNvSpPr/>
          <p:nvPr/>
        </p:nvSpPr>
        <p:spPr>
          <a:xfrm>
            <a:off x="8430768" y="1691640"/>
            <a:ext cx="3026664" cy="548640"/>
          </a:xfrm>
          <a:prstGeom prst="rect">
            <a:avLst/>
          </a:prstGeom>
          <a:noFill/>
          <a:ln/>
        </p:spPr>
        <p:txBody>
          <a:bodyPr wrap="square" lIns="0" tIns="0" rIns="0" bIns="0" rtlCol="0" anchor="t"/>
          <a:lstStyle/>
          <a:p>
            <a:pPr indent="0" marL="0">
              <a:buNone/>
            </a:pPr>
            <a:r>
              <a:rPr lang="en-US" sz="2000" b="1" dirty="0">
                <a:solidFill>
                  <a:srgbClr val="B03060"/>
                </a:solidFill>
                <a:latin typeface="Calibri" pitchFamily="34" charset="0"/>
                <a:ea typeface="Calibri" pitchFamily="34" charset="-122"/>
                <a:cs typeface="Calibri" pitchFamily="34" charset="-120"/>
              </a:rPr>
              <a:t>Weakest link</a:t>
            </a:r>
            <a:endParaRPr lang="en-US" sz="2000" dirty="0"/>
          </a:p>
        </p:txBody>
      </p:sp>
      <p:sp>
        <p:nvSpPr>
          <p:cNvPr id="15" name="Text 12"/>
          <p:cNvSpPr/>
          <p:nvPr/>
        </p:nvSpPr>
        <p:spPr>
          <a:xfrm>
            <a:off x="8430768" y="2331720"/>
            <a:ext cx="3026664" cy="251460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A replay of one training run, with no counterfactual</a:t>
            </a:r>
            <a:endParaRPr lang="en-US" sz="1700" dirty="0"/>
          </a:p>
          <a:p>
            <a:pPr marL="203200" indent="-203200">
              <a:buSzPct val="100000"/>
              <a:buChar char="•"/>
            </a:pPr>
            <a:r>
              <a:rPr lang="en-US" sz="1700" dirty="0">
                <a:solidFill>
                  <a:srgbClr val="1F2A33"/>
                </a:solidFill>
                <a:latin typeface="Calibri" pitchFamily="34" charset="0"/>
                <a:ea typeface="Calibri" pitchFamily="34" charset="-122"/>
                <a:cs typeface="Calibri" pitchFamily="34" charset="-120"/>
              </a:rPr>
              <a:t>RL against a critic that pays for statements was never run: that is the test</a:t>
            </a:r>
            <a:endParaRPr lang="en-US" sz="1700" dirty="0"/>
          </a:p>
        </p:txBody>
      </p:sp>
      <p:sp>
        <p:nvSpPr>
          <p:cNvPr id="16" name="Text 13"/>
          <p:cNvSpPr/>
          <p:nvPr/>
        </p:nvSpPr>
        <p:spPr>
          <a:xfrm>
            <a:off x="457200" y="5303520"/>
            <a:ext cx="11274552" cy="731520"/>
          </a:xfrm>
          <a:prstGeom prst="rect">
            <a:avLst/>
          </a:prstGeom>
          <a:noFill/>
          <a:ln/>
        </p:spPr>
        <p:txBody>
          <a:bodyPr wrap="square" lIns="0" tIns="0" rIns="0" bIns="0" rtlCol="0" anchor="t"/>
          <a:lstStyle/>
          <a:p>
            <a:pPr algn="ctr" indent="0" marL="0">
              <a:buNone/>
            </a:pPr>
            <a:r>
              <a:rPr lang="en-US" sz="1900" b="1" dirty="0">
                <a:solidFill>
                  <a:srgbClr val="1F2A33"/>
                </a:solidFill>
                <a:latin typeface="Calibri" pitchFamily="34" charset="0"/>
                <a:ea typeface="Calibri" pitchFamily="34" charset="-122"/>
                <a:cs typeface="Calibri" pitchFamily="34" charset="-120"/>
              </a:rPr>
              <a:t>The NLA can name structure at no cost, yet RL never makes it; so the silence looks inherited from the warm start, not paid for.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Causal test: push Qwen's answer, then put the read token back</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E104 steering, E126 restoration · guivff/activation-readers @ c60fa970 · d: class-mean difference of block-40 activations on 84 dev items · at α = 8 the push is 2.23× the median block-40 norm</a:t>
            </a:r>
            <a:endParaRPr lang="en-US" sz="1000" dirty="0"/>
          </a:p>
        </p:txBody>
      </p:sp>
      <p:sp>
        <p:nvSpPr>
          <p:cNvPr id="7" name="Shape 4"/>
          <p:cNvSpPr/>
          <p:nvPr/>
        </p:nvSpPr>
        <p:spPr>
          <a:xfrm>
            <a:off x="457200" y="1463040"/>
            <a:ext cx="3575304" cy="4754880"/>
          </a:xfrm>
          <a:prstGeom prst="rect">
            <a:avLst/>
          </a:prstGeom>
          <a:solidFill>
            <a:srgbClr val="E8E6E1"/>
          </a:solidFill>
          <a:ln w="9525">
            <a:solidFill>
              <a:srgbClr val="E8E6E1"/>
            </a:solidFill>
            <a:prstDash val="solid"/>
          </a:ln>
        </p:spPr>
      </p:sp>
      <p:sp>
        <p:nvSpPr>
          <p:cNvPr id="8" name="Text 5"/>
          <p:cNvSpPr/>
          <p:nvPr/>
        </p:nvSpPr>
        <p:spPr>
          <a:xfrm>
            <a:off x="731520"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1 · Push (E104)</a:t>
            </a:r>
            <a:endParaRPr lang="en-US" sz="2000" dirty="0"/>
          </a:p>
        </p:txBody>
      </p:sp>
      <p:sp>
        <p:nvSpPr>
          <p:cNvPr id="9" name="Text 6"/>
          <p:cNvSpPr/>
          <p:nvPr/>
        </p:nvSpPr>
        <p:spPr>
          <a:xfrm>
            <a:off x="731520"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At block 40, add a direction toward the other answer on the 8 tokens before the read token</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Qwen's answer flips: 84 / 84 on the fact row</a:t>
            </a:r>
            <a:endParaRPr lang="en-US" sz="1800" dirty="0"/>
          </a:p>
        </p:txBody>
      </p:sp>
      <p:sp>
        <p:nvSpPr>
          <p:cNvPr id="10" name="Shape 7"/>
          <p:cNvSpPr/>
          <p:nvPr/>
        </p:nvSpPr>
        <p:spPr>
          <a:xfrm>
            <a:off x="4306824" y="1463040"/>
            <a:ext cx="3575304" cy="4754880"/>
          </a:xfrm>
          <a:prstGeom prst="rect">
            <a:avLst/>
          </a:prstGeom>
          <a:solidFill>
            <a:srgbClr val="E8E6E1"/>
          </a:solidFill>
          <a:ln w="9525">
            <a:solidFill>
              <a:srgbClr val="E8E6E1"/>
            </a:solidFill>
            <a:prstDash val="solid"/>
          </a:ln>
        </p:spPr>
      </p:sp>
      <p:sp>
        <p:nvSpPr>
          <p:cNvPr id="11" name="Text 8"/>
          <p:cNvSpPr/>
          <p:nvPr/>
        </p:nvSpPr>
        <p:spPr>
          <a:xfrm>
            <a:off x="4581144"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2 · Restore (E126)</a:t>
            </a:r>
            <a:endParaRPr lang="en-US" sz="2000" dirty="0"/>
          </a:p>
        </p:txBody>
      </p:sp>
      <p:sp>
        <p:nvSpPr>
          <p:cNvPr id="12" name="Text 9"/>
          <p:cNvSpPr/>
          <p:nvPr/>
        </p:nvSpPr>
        <p:spPr>
          <a:xfrm>
            <a:off x="4581144"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At block L, copy back the clean activation at the read token only</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If Qwen's answer comes back, the read token at L carries it</a:t>
            </a:r>
            <a:endParaRPr lang="en-US" sz="1800" dirty="0"/>
          </a:p>
        </p:txBody>
      </p:sp>
      <p:sp>
        <p:nvSpPr>
          <p:cNvPr id="13" name="Shape 10"/>
          <p:cNvSpPr/>
          <p:nvPr/>
        </p:nvSpPr>
        <p:spPr>
          <a:xfrm>
            <a:off x="8156448" y="1463040"/>
            <a:ext cx="3575304" cy="4754880"/>
          </a:xfrm>
          <a:prstGeom prst="rect">
            <a:avLst/>
          </a:prstGeom>
          <a:solidFill>
            <a:srgbClr val="E8E6E1"/>
          </a:solidFill>
          <a:ln w="9525">
            <a:solidFill>
              <a:srgbClr val="E8E6E1"/>
            </a:solidFill>
            <a:prstDash val="solid"/>
          </a:ln>
        </p:spPr>
      </p:sp>
      <p:sp>
        <p:nvSpPr>
          <p:cNvPr id="14" name="Text 11"/>
          <p:cNvSpPr/>
          <p:nvPr/>
        </p:nvSpPr>
        <p:spPr>
          <a:xfrm>
            <a:off x="8430768"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3 · Score</a:t>
            </a:r>
            <a:endParaRPr lang="en-US" sz="2000" dirty="0"/>
          </a:p>
        </p:txBody>
      </p:sp>
      <p:sp>
        <p:nvSpPr>
          <p:cNvPr id="15" name="Text 12"/>
          <p:cNvSpPr/>
          <p:nvPr/>
        </p:nvSpPr>
        <p:spPr>
          <a:xfrm>
            <a:off x="8430768"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R = 0: restoring does nothing</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R = 1: fully undoes the push</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Controls: an earlier token, a random direction</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Restoring the read token works late: between blocks 48 and 52</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E126 (R-MED1 MET) · fact row, 84 items, median R · guivff/activation-readers @ c60fa970</a:t>
            </a:r>
            <a:endParaRPr lang="en-US" sz="1000" dirty="0"/>
          </a:p>
        </p:txBody>
      </p:sp>
      <p:graphicFrame>
        <p:nvGraphicFramePr>
          <p:cNvPr id="7" name="Chart 0" descr=""/>
          <p:cNvGraphicFramePr/>
          <p:nvPr/>
        </p:nvGraphicFramePr>
        <p:xfrm>
          <a:off x="457200" y="13716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680960" y="1463040"/>
            <a:ext cx="4050792" cy="4754880"/>
          </a:xfrm>
          <a:prstGeom prst="rect">
            <a:avLst/>
          </a:prstGeom>
          <a:solidFill>
            <a:srgbClr val="E8E6E1"/>
          </a:solidFill>
          <a:ln w="9525">
            <a:solidFill>
              <a:srgbClr val="E8E6E1"/>
            </a:solidFill>
            <a:prstDash val="solid"/>
          </a:ln>
        </p:spPr>
      </p:sp>
      <p:sp>
        <p:nvSpPr>
          <p:cNvPr id="9" name="Text 5"/>
          <p:cNvSpPr/>
          <p:nvPr/>
        </p:nvSpPr>
        <p:spPr>
          <a:xfrm>
            <a:off x="7955280" y="1737360"/>
            <a:ext cx="3566160" cy="429768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R ≈ 0 at 44–48, 0.66 [0.51, 0.80] at 52, 0.87 at 60</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Controls stay near 0: an earlier token ≤ 0.11; a random direction |R| ≤ 0.01</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Oracle readout: still the old answer at 44; the new one on 84/84 at 52 and 60</a:t>
            </a:r>
            <a:endParaRPr lang="en-US" sz="1600" dirty="0"/>
          </a:p>
          <a:p>
            <a:pPr marL="203200" indent="-203200">
              <a:buSzPct val="100000"/>
              <a:buChar char="•"/>
            </a:pPr>
            <a:r>
              <a:rPr lang="en-US" sz="1600" b="1" dirty="0">
                <a:solidFill>
                  <a:srgbClr val="B03060"/>
                </a:solidFill>
                <a:latin typeface="Calibri" pitchFamily="34" charset="0"/>
                <a:ea typeface="Calibri" pitchFamily="34" charset="-122"/>
                <a:cs typeface="Calibri" pitchFamily="34" charset="-120"/>
              </a:rPr>
              <a:t>Caveat: </a:t>
            </a:r>
            <a:pPr indent="0" marL="0">
              <a:buNone/>
            </a:pPr>
            <a:r>
              <a:rPr lang="en-US" sz="1600" dirty="0">
                <a:solidFill>
                  <a:srgbClr val="1F2A33"/>
                </a:solidFill>
                <a:latin typeface="Calibri" pitchFamily="34" charset="0"/>
                <a:ea typeface="Calibri" pitchFamily="34" charset="-122"/>
                <a:cs typeface="Calibri" pitchFamily="34" charset="-120"/>
              </a:rPr>
              <a:t>one fact pair (France vs Peru) in 84 contexts, under a 2.2× push</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Early 'stale' readouts track Qwen's own unpushed answer</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E135 (α 6) and §248C (clean run, exploratory) · guivff/activation-readers @ c60fa970</a:t>
            </a:r>
            <a:endParaRPr lang="en-US" sz="1000" dirty="0"/>
          </a:p>
        </p:txBody>
      </p:sp>
      <p:graphicFrame>
        <p:nvGraphicFramePr>
          <p:cNvPr id="7" name="Chart 0" descr=""/>
          <p:cNvGraphicFramePr/>
          <p:nvPr/>
        </p:nvGraphicFramePr>
        <p:xfrm>
          <a:off x="457200" y="1371600"/>
          <a:ext cx="6400800" cy="4846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132320" y="1463040"/>
            <a:ext cx="4599432" cy="4754880"/>
          </a:xfrm>
          <a:prstGeom prst="rect">
            <a:avLst/>
          </a:prstGeom>
          <a:solidFill>
            <a:srgbClr val="E8E6E1"/>
          </a:solidFill>
          <a:ln w="9525">
            <a:solidFill>
              <a:srgbClr val="E8E6E1"/>
            </a:solidFill>
            <a:prstDash val="solid"/>
          </a:ln>
        </p:spPr>
      </p:sp>
      <p:sp>
        <p:nvSpPr>
          <p:cNvPr id="9" name="Text 5"/>
          <p:cNvSpPr/>
          <p:nvPr/>
        </p:nvSpPr>
        <p:spPr>
          <a:xfrm>
            <a:off x="7406640" y="1737360"/>
            <a:ext cx="4114800" cy="429768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Resistant items: the old answer is in the readout even without the push (42/42)</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Easy items: the push changes the readout (24/41 → 4/42)</a:t>
            </a:r>
            <a:endParaRPr lang="en-US" sz="1600" dirty="0"/>
          </a:p>
          <a:p>
            <a:pPr marL="203200" indent="-203200">
              <a:buSzPct val="100000"/>
              <a:buChar char="•"/>
            </a:pPr>
            <a:r>
              <a:rPr lang="en-US" sz="1600" b="1" dirty="0">
                <a:solidFill>
                  <a:srgbClr val="B03060"/>
                </a:solidFill>
                <a:latin typeface="Calibri" pitchFamily="34" charset="0"/>
                <a:ea typeface="Calibri" pitchFamily="34" charset="-122"/>
                <a:cs typeface="Calibri" pitchFamily="34" charset="-120"/>
              </a:rPr>
              <a:t>Caveat: </a:t>
            </a:r>
            <a:pPr indent="0" marL="0">
              <a:buNone/>
            </a:pPr>
            <a:r>
              <a:rPr lang="en-US" sz="1600" dirty="0">
                <a:solidFill>
                  <a:srgbClr val="1F2A33"/>
                </a:solidFill>
                <a:latin typeface="Calibri" pitchFamily="34" charset="0"/>
                <a:ea typeface="Calibri" pitchFamily="34" charset="-122"/>
                <a:cs typeface="Calibri" pitchFamily="34" charset="-120"/>
              </a:rPr>
              <a:t>groups defined after the fact; association only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Without any push: who holds the key? Twin chains differ in one name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E137 bank · text assembled from the bank's templates for illustration · guivff/activation-readers @ c60fa970</a:t>
            </a:r>
            <a:endParaRPr lang="en-US" sz="1000" dirty="0"/>
          </a:p>
        </p:txBody>
      </p:sp>
      <p:sp>
        <p:nvSpPr>
          <p:cNvPr id="7" name="Shape 4"/>
          <p:cNvSpPr/>
          <p:nvPr/>
        </p:nvSpPr>
        <p:spPr>
          <a:xfrm>
            <a:off x="457200" y="1463040"/>
            <a:ext cx="11274552" cy="1371600"/>
          </a:xfrm>
          <a:prstGeom prst="rect">
            <a:avLst/>
          </a:prstGeom>
          <a:solidFill>
            <a:srgbClr val="FBFAF6"/>
          </a:solidFill>
          <a:ln w="9525">
            <a:solidFill>
              <a:srgbClr val="E2DDD3"/>
            </a:solidFill>
            <a:prstDash val="solid"/>
          </a:ln>
        </p:spPr>
      </p:sp>
      <p:sp>
        <p:nvSpPr>
          <p:cNvPr id="8" name="Text 5"/>
          <p:cNvSpPr/>
          <p:nvPr/>
        </p:nvSpPr>
        <p:spPr>
          <a:xfrm>
            <a:off x="685800" y="1572768"/>
            <a:ext cx="10881360" cy="118872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Twin A: The brass key starts with Alice. Alice hands the brass key to Bob. Bob hands the brass key to Dana. Dana hands the brass key to Erin. Later, Carl asks Dana about the brass key. Bob waves to Carl. The brass key is now held by</a:t>
            </a:r>
            <a:endParaRPr lang="en-US" sz="1500" dirty="0"/>
          </a:p>
        </p:txBody>
      </p:sp>
      <p:sp>
        <p:nvSpPr>
          <p:cNvPr id="9" name="Shape 6"/>
          <p:cNvSpPr/>
          <p:nvPr/>
        </p:nvSpPr>
        <p:spPr>
          <a:xfrm>
            <a:off x="457200" y="2971800"/>
            <a:ext cx="11274552" cy="1005840"/>
          </a:xfrm>
          <a:prstGeom prst="rect">
            <a:avLst/>
          </a:prstGeom>
          <a:solidFill>
            <a:srgbClr val="E9E3F2"/>
          </a:solidFill>
          <a:ln w="9525">
            <a:solidFill>
              <a:srgbClr val="E9E3F2"/>
            </a:solidFill>
            <a:prstDash val="solid"/>
          </a:ln>
        </p:spPr>
      </p:sp>
      <p:sp>
        <p:nvSpPr>
          <p:cNvPr id="10" name="Text 7"/>
          <p:cNvSpPr/>
          <p:nvPr/>
        </p:nvSpPr>
        <p:spPr>
          <a:xfrm>
            <a:off x="685800" y="3081528"/>
            <a:ext cx="10881360" cy="822960"/>
          </a:xfrm>
          <a:prstGeom prst="rect">
            <a:avLst/>
          </a:prstGeom>
          <a:noFill/>
          <a:ln/>
        </p:spPr>
        <p:txBody>
          <a:bodyPr wrap="square" lIns="0" tIns="0" rIns="0" bIns="0" rtlCol="0" anchor="t"/>
          <a:lstStyle/>
          <a:p>
            <a:pPr indent="0" marL="0">
              <a:buNone/>
            </a:pPr>
            <a:r>
              <a:rPr lang="en-US" sz="1500" dirty="0">
                <a:solidFill>
                  <a:srgbClr val="1F2A33"/>
                </a:solidFill>
                <a:latin typeface="Courier New" pitchFamily="34" charset="0"/>
                <a:ea typeface="Courier New" pitchFamily="34" charset="-122"/>
                <a:cs typeface="Courier New" pitchFamily="34" charset="-120"/>
              </a:rPr>
              <a:t>Twin B: … Bob hands the brass key to Dana. Dana hands the brass key to Frank. Later, Carl asks Dana about the brass key. Bob waves to Carl. The brass key is now held by</a:t>
            </a:r>
            <a:endParaRPr lang="en-US" sz="1500" dirty="0"/>
          </a:p>
        </p:txBody>
      </p:sp>
      <p:sp>
        <p:nvSpPr>
          <p:cNvPr id="11" name="Text 8"/>
          <p:cNvSpPr/>
          <p:nvPr/>
        </p:nvSpPr>
        <p:spPr>
          <a:xfrm>
            <a:off x="640080" y="4251960"/>
            <a:ext cx="10881360" cy="182880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F2A33"/>
                </a:solidFill>
                <a:latin typeface="Calibri" pitchFamily="34" charset="0"/>
                <a:ea typeface="Calibri" pitchFamily="34" charset="-122"/>
                <a:cs typeface="Calibri" pitchFamily="34" charset="-120"/>
              </a:rPr>
              <a:t>Swap twin B's activation into twin A at the read token (“ by”), block by block; R = how far Qwen's answer moves</a:t>
            </a:r>
            <a:endParaRPr lang="en-US" sz="1700" dirty="0"/>
          </a:p>
          <a:p>
            <a:pPr marL="203200" indent="-203200">
              <a:buSzPct val="100000"/>
              <a:buChar char="•"/>
            </a:pPr>
            <a:r>
              <a:rPr lang="en-US" sz="1700" dirty="0">
                <a:solidFill>
                  <a:srgbClr val="1F2A33"/>
                </a:solidFill>
                <a:latin typeface="Calibri" pitchFamily="34" charset="0"/>
                <a:ea typeface="Calibri" pitchFamily="34" charset="-122"/>
                <a:cs typeface="Calibri" pitchFamily="34" charset="-120"/>
              </a:rPr>
              <a:t>Anti-recency: names after the last hand-over, so the most recent name is never the holder</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The final token matters mostly at block 60, and the previous holder is rarely named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E137 (R-NL2 NOT MET), E133 · guivff/activation-readers @ c60fa970</a:t>
            </a:r>
            <a:endParaRPr lang="en-US" sz="1000" dirty="0"/>
          </a:p>
        </p:txBody>
      </p:sp>
      <p:graphicFrame>
        <p:nvGraphicFramePr>
          <p:cNvPr id="7" name="Chart 0" descr=""/>
          <p:cNvGraphicFramePr/>
          <p:nvPr/>
        </p:nvGraphicFramePr>
        <p:xfrm>
          <a:off x="457200" y="13716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680960" y="1463040"/>
            <a:ext cx="4050792" cy="4754880"/>
          </a:xfrm>
          <a:prstGeom prst="rect">
            <a:avLst/>
          </a:prstGeom>
          <a:solidFill>
            <a:srgbClr val="E8E6E1"/>
          </a:solidFill>
          <a:ln w="9525">
            <a:solidFill>
              <a:srgbClr val="E8E6E1"/>
            </a:solidFill>
            <a:prstDash val="solid"/>
          </a:ln>
        </p:spPr>
      </p:sp>
      <p:sp>
        <p:nvSpPr>
          <p:cNvPr id="9" name="Text 5"/>
          <p:cNvSpPr/>
          <p:nvPr/>
        </p:nvSpPr>
        <p:spPr>
          <a:xfrm>
            <a:off x="7955280" y="1737360"/>
            <a:ext cx="3566160" cy="429768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R 0.27 at 52, 0.75 at 60; the registered rule (R ≥ 0.50 at 52 or 56) was NOT MET</a:t>
            </a:r>
            <a:endParaRPr lang="en-US" sz="1600" dirty="0"/>
          </a:p>
          <a:p>
            <a:pPr marL="203200" indent="-203200">
              <a:spcAft>
                <a:spcPts val="800"/>
              </a:spcAft>
              <a:buSzPct val="100000"/>
              <a:buChar char="•"/>
            </a:pPr>
            <a:r>
              <a:rPr lang="en-US" sz="1600" dirty="0">
                <a:solidFill>
                  <a:srgbClr val="1F2A33"/>
                </a:solidFill>
                <a:latin typeface="Calibri" pitchFamily="34" charset="0"/>
                <a:ea typeface="Calibri" pitchFamily="34" charset="-122"/>
                <a:cs typeface="Calibri" pitchFamily="34" charset="-120"/>
              </a:rPr>
              <a:t>Previous holder named in ≤ 4% of readouts</a:t>
            </a:r>
            <a:endParaRPr lang="en-US" sz="1600" dirty="0"/>
          </a:p>
          <a:p>
            <a:pPr marL="203200" indent="-203200">
              <a:buSzPct val="100000"/>
              <a:buChar char="•"/>
            </a:pPr>
            <a:r>
              <a:rPr lang="en-US" sz="1600" b="1" dirty="0">
                <a:solidFill>
                  <a:srgbClr val="B03060"/>
                </a:solidFill>
                <a:latin typeface="Calibri" pitchFamily="34" charset="0"/>
                <a:ea typeface="Calibri" pitchFamily="34" charset="-122"/>
                <a:cs typeface="Calibri" pitchFamily="34" charset="-120"/>
              </a:rPr>
              <a:t>Open: </a:t>
            </a:r>
            <a:pPr indent="0" marL="0">
              <a:buNone/>
            </a:pPr>
            <a:r>
              <a:rPr lang="en-US" sz="1600" dirty="0">
                <a:solidFill>
                  <a:srgbClr val="1F2A33"/>
                </a:solidFill>
                <a:latin typeface="Calibri" pitchFamily="34" charset="0"/>
                <a:ea typeface="Calibri" pitchFamily="34" charset="-122"/>
                <a:cs typeface="Calibri" pitchFamily="34" charset="-120"/>
              </a:rPr>
              <a:t>holder state vs reading off the last hand-over are not yet separated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How we kept LLM-driven research honest, and where it slipped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D49, D51 · Guiv: E138R, E71, E27 · reviewers R-2…R-5, R-Q are agent sessions, not human replications</a:t>
            </a:r>
            <a:endParaRPr lang="en-US" sz="1000" dirty="0"/>
          </a:p>
        </p:txBody>
      </p:sp>
      <p:sp>
        <p:nvSpPr>
          <p:cNvPr id="7" name="Shape 4"/>
          <p:cNvSpPr/>
          <p:nvPr/>
        </p:nvSpPr>
        <p:spPr>
          <a:xfrm>
            <a:off x="457200" y="1463040"/>
            <a:ext cx="5500116" cy="4754880"/>
          </a:xfrm>
          <a:prstGeom prst="rect">
            <a:avLst/>
          </a:prstGeom>
          <a:solidFill>
            <a:srgbClr val="E8E6E1"/>
          </a:solidFill>
          <a:ln w="9525">
            <a:solidFill>
              <a:srgbClr val="E8E6E1"/>
            </a:solidFill>
            <a:prstDash val="solid"/>
          </a:ln>
        </p:spPr>
      </p:sp>
      <p:sp>
        <p:nvSpPr>
          <p:cNvPr id="8" name="Text 5"/>
          <p:cNvSpPr/>
          <p:nvPr/>
        </p:nvSpPr>
        <p:spPr>
          <a:xfrm>
            <a:off x="731520" y="1691640"/>
            <a:ext cx="4951476"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Guardrails</a:t>
            </a:r>
            <a:endParaRPr lang="en-US" sz="2000" dirty="0"/>
          </a:p>
        </p:txBody>
      </p:sp>
      <p:sp>
        <p:nvSpPr>
          <p:cNvPr id="9" name="Text 6"/>
          <p:cNvSpPr/>
          <p:nvPr/>
        </p:nvSpPr>
        <p:spPr>
          <a:xfrm>
            <a:off x="731520" y="2331720"/>
            <a:ext cx="4951476"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Banks, instruments and predictions hashed before any reader ran</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Separate agent sessions re-ran analyses on sealed outputs</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Falsifiers that fired: exp 18 missed its bar; the 0.30 rule withdrawn</a:t>
            </a:r>
            <a:endParaRPr lang="en-US" sz="1800" dirty="0"/>
          </a:p>
        </p:txBody>
      </p:sp>
      <p:sp>
        <p:nvSpPr>
          <p:cNvPr id="10" name="Shape 7"/>
          <p:cNvSpPr/>
          <p:nvPr/>
        </p:nvSpPr>
        <p:spPr>
          <a:xfrm>
            <a:off x="6231636" y="1463040"/>
            <a:ext cx="5500116" cy="4754880"/>
          </a:xfrm>
          <a:prstGeom prst="rect">
            <a:avLst/>
          </a:prstGeom>
          <a:solidFill>
            <a:srgbClr val="E8E6E1"/>
          </a:solidFill>
          <a:ln w="9525">
            <a:solidFill>
              <a:srgbClr val="E8E6E1"/>
            </a:solidFill>
            <a:prstDash val="solid"/>
          </a:ln>
        </p:spPr>
      </p:sp>
      <p:sp>
        <p:nvSpPr>
          <p:cNvPr id="11" name="Text 8"/>
          <p:cNvSpPr/>
          <p:nvPr/>
        </p:nvSpPr>
        <p:spPr>
          <a:xfrm>
            <a:off x="6505956" y="1691640"/>
            <a:ext cx="4951476" cy="548640"/>
          </a:xfrm>
          <a:prstGeom prst="rect">
            <a:avLst/>
          </a:prstGeom>
          <a:noFill/>
          <a:ln/>
        </p:spPr>
        <p:txBody>
          <a:bodyPr wrap="square" lIns="0" tIns="0" rIns="0" bIns="0" rtlCol="0" anchor="t"/>
          <a:lstStyle/>
          <a:p>
            <a:pPr indent="0" marL="0">
              <a:buNone/>
            </a:pPr>
            <a:r>
              <a:rPr lang="en-US" sz="2000" b="1" dirty="0">
                <a:solidFill>
                  <a:srgbClr val="B03060"/>
                </a:solidFill>
                <a:latin typeface="Calibri" pitchFamily="34" charset="0"/>
                <a:ea typeface="Calibri" pitchFamily="34" charset="-122"/>
                <a:cs typeface="Calibri" pitchFamily="34" charset="-120"/>
              </a:rPr>
              <a:t>Where it slipped</a:t>
            </a:r>
            <a:endParaRPr lang="en-US" sz="2000" dirty="0"/>
          </a:p>
        </p:txBody>
      </p:sp>
      <p:sp>
        <p:nvSpPr>
          <p:cNvPr id="12" name="Text 9"/>
          <p:cNvSpPr/>
          <p:nvPr/>
        </p:nvSpPr>
        <p:spPr>
          <a:xfrm>
            <a:off x="6505956" y="2331720"/>
            <a:ext cx="4951476"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Raw recompute (30 Oct): 49 written numbers disagreed with raw files; two changed a conclusion</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A swap control was invalid by construction; an agent reviewer found it (E138 → E138R)</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Judge vs one human coder: κ 0.68, under our 0.70 bar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Every headline number has a baseline beside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06, 15, 19, 20, 22 · Guiv E126, E137 · Jarus77/mats-nla-workspace @ 4d43ecb2 · guivff/activation-readers @ c60fa970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566160"/>
                <a:gridCol w="3291840"/>
                <a:gridCol w="4416552"/>
              </a:tblGrid>
              <a:tr h="566928">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Baseline</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Rules out</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Result</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Prompt-only text model</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Re-solving the prompt</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0.89 vs readouts 0.60 / 0.56</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Always predict 'low'</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Scorecard padding</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Ties or beats the rules on primary cells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Shuffled 32-token bag</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State is just vocabulary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Structure falls to 0.44–0.50</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20 random directions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Push size alone</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Statement direction moves the model z +0.7</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Earlier token, random direction</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Any patch restores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R ≤ 0.11 at every block (E126)</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Control chains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Any swap moves the answer</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R ≤ 0.031 at every block (E137)</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Ways this could be boring</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20, 26, 29 · exp 31 (text-bag measure; critic not re-run): Jarus77/mats-nla-workspace @ 10d495f1 · Guiv E56, E71, E137 · guivff/activation-readers @ c60fa970</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023360"/>
                <a:gridCol w="1371600"/>
                <a:gridCol w="5879592"/>
              </a:tblGrid>
              <a:tr h="566928">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Boring explanation</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Status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What we have</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Readouts just copy the last 32 tokens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2E7F7A"/>
                          </a:solidFill>
                          <a:latin typeface="Calibri" pitchFamily="34" charset="0"/>
                          <a:ea typeface="Calibri" pitchFamily="34" charset="-122"/>
                          <a:cs typeface="Calibri" pitchFamily="34" charset="-120"/>
                        </a:rPr>
                        <a:t>Mostly no</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Exp 31: readers reuse window words at 3–6× chance, but deleting them leaves NLA carrying unchanged and costs Oracle Lens 0.01–0.08</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The judge is wrong</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κ 0.68 vs one human; Suraj's judge has no human labels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One model, one NLA run</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B03060"/>
                          </a:solidFill>
                          <a:latin typeface="Calibri" pitchFamily="34" charset="0"/>
                          <a:ea typeface="Calibri" pitchFamily="34" charset="-122"/>
                          <a:cs typeface="Calibri" pitchFamily="34" charset="-120"/>
                        </a:rPr>
                        <a:t>Open</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Every claim is Qwen3.6-27B only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The fact row is one fact</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B03060"/>
                          </a:solidFill>
                          <a:latin typeface="Calibri" pitchFamily="34" charset="0"/>
                          <a:ea typeface="Calibri" pitchFamily="34" charset="-122"/>
                          <a:cs typeface="Calibri" pitchFamily="34" charset="-120"/>
                        </a:rPr>
                        <a:t>True</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France vs Peru in 84 contexts</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The chain effect is recency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Names after the hand-over ruled out; last hand-over not</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66928">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The warm-start story is a replay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b="1" dirty="0">
                          <a:solidFill>
                            <a:srgbClr val="1F2A33"/>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indent="0" marL="0">
                        <a:buNone/>
                      </a:pPr>
                      <a:r>
                        <a:rPr lang="en-US" sz="1600" dirty="0">
                          <a:solidFill>
                            <a:srgbClr val="1F2A33"/>
                          </a:solidFill>
                          <a:latin typeface="Calibri" pitchFamily="34" charset="0"/>
                          <a:ea typeface="Calibri" pitchFamily="34" charset="-122"/>
                          <a:cs typeface="Calibri" pitchFamily="34" charset="-120"/>
                        </a:rPr>
                        <a:t>Flat over 800 steps; no counterfactual run</a:t>
                      </a:r>
                      <a:endParaRPr lang="en-US" sz="16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Where the claims stand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Registration statuses: results/g_agreement/writeup.md · guivff/activation-readers @ c60fa970</a:t>
            </a:r>
            <a:endParaRPr lang="en-US" sz="1000" dirty="0"/>
          </a:p>
        </p:txBody>
      </p:sp>
      <p:sp>
        <p:nvSpPr>
          <p:cNvPr id="7" name="Shape 4"/>
          <p:cNvSpPr/>
          <p:nvPr/>
        </p:nvSpPr>
        <p:spPr>
          <a:xfrm>
            <a:off x="457200" y="1463040"/>
            <a:ext cx="3575304" cy="4754880"/>
          </a:xfrm>
          <a:prstGeom prst="rect">
            <a:avLst/>
          </a:prstGeom>
          <a:solidFill>
            <a:srgbClr val="DCEBE8"/>
          </a:solidFill>
          <a:ln w="9525">
            <a:solidFill>
              <a:srgbClr val="DCEBE8"/>
            </a:solidFill>
            <a:prstDash val="solid"/>
          </a:ln>
        </p:spPr>
      </p:sp>
      <p:sp>
        <p:nvSpPr>
          <p:cNvPr id="8" name="Text 5"/>
          <p:cNvSpPr/>
          <p:nvPr/>
        </p:nvSpPr>
        <p:spPr>
          <a:xfrm>
            <a:off x="731520" y="1691640"/>
            <a:ext cx="3026664" cy="548640"/>
          </a:xfrm>
          <a:prstGeom prst="rect">
            <a:avLst/>
          </a:prstGeom>
          <a:noFill/>
          <a:ln/>
        </p:spPr>
        <p:txBody>
          <a:bodyPr wrap="square" lIns="0" tIns="0" rIns="0" bIns="0" rtlCol="0" anchor="t"/>
          <a:lstStyle/>
          <a:p>
            <a:pPr indent="0" marL="0">
              <a:buNone/>
            </a:pPr>
            <a:r>
              <a:rPr lang="en-US" sz="2000" b="1" dirty="0">
                <a:solidFill>
                  <a:srgbClr val="2E7F7A"/>
                </a:solidFill>
                <a:latin typeface="Calibri" pitchFamily="34" charset="0"/>
                <a:ea typeface="Calibri" pitchFamily="34" charset="-122"/>
                <a:cs typeface="Calibri" pitchFamily="34" charset="-120"/>
              </a:rPr>
              <a:t>Registered, and met</a:t>
            </a:r>
            <a:endParaRPr lang="en-US" sz="2000" dirty="0"/>
          </a:p>
        </p:txBody>
      </p:sp>
      <p:sp>
        <p:nvSpPr>
          <p:cNvPr id="9" name="Text 6"/>
          <p:cNvSpPr/>
          <p:nvPr/>
        </p:nvSpPr>
        <p:spPr>
          <a:xfrm>
            <a:off x="731520"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Swapped-in activation followed for content (E100, 5 of 5 rows)</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Restoration works late, not at 44 (E126)</a:t>
            </a:r>
            <a:endParaRPr lang="en-US" sz="1500" dirty="0"/>
          </a:p>
          <a:p>
            <a:pPr marL="203200" indent="-203200">
              <a:buSzPct val="100000"/>
              <a:buChar char="•"/>
            </a:pPr>
            <a:r>
              <a:rPr lang="en-US" sz="1500" dirty="0">
                <a:solidFill>
                  <a:srgbClr val="1F2A33"/>
                </a:solidFill>
                <a:latin typeface="Calibri" pitchFamily="34" charset="0"/>
                <a:ea typeface="Calibri" pitchFamily="34" charset="-122"/>
                <a:cs typeface="Calibri" pitchFamily="34" charset="-120"/>
              </a:rPr>
              <a:t>Paraphrase pairs: one answer for both (E140, 12 pairs)</a:t>
            </a:r>
            <a:endParaRPr lang="en-US" sz="1500" dirty="0"/>
          </a:p>
        </p:txBody>
      </p:sp>
      <p:sp>
        <p:nvSpPr>
          <p:cNvPr id="10" name="Shape 7"/>
          <p:cNvSpPr/>
          <p:nvPr/>
        </p:nvSpPr>
        <p:spPr>
          <a:xfrm>
            <a:off x="4306824" y="1463040"/>
            <a:ext cx="3575304" cy="4754880"/>
          </a:xfrm>
          <a:prstGeom prst="rect">
            <a:avLst/>
          </a:prstGeom>
          <a:solidFill>
            <a:srgbClr val="E8E6E1"/>
          </a:solidFill>
          <a:ln w="9525">
            <a:solidFill>
              <a:srgbClr val="E8E6E1"/>
            </a:solidFill>
            <a:prstDash val="solid"/>
          </a:ln>
        </p:spPr>
      </p:sp>
      <p:sp>
        <p:nvSpPr>
          <p:cNvPr id="11" name="Text 8"/>
          <p:cNvSpPr/>
          <p:nvPr/>
        </p:nvSpPr>
        <p:spPr>
          <a:xfrm>
            <a:off x="4581144" y="1691640"/>
            <a:ext cx="3026664"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Consistent, read afterwards</a:t>
            </a:r>
            <a:endParaRPr lang="en-US" sz="2000" dirty="0"/>
          </a:p>
        </p:txBody>
      </p:sp>
      <p:sp>
        <p:nvSpPr>
          <p:cNvPr id="12" name="Text 9"/>
          <p:cNvSpPr/>
          <p:nvPr/>
        </p:nvSpPr>
        <p:spPr>
          <a:xfrm>
            <a:off x="4581144"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Text-only parity on the benchmark (exp 06)</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Claim A: carried, rarely stated (exps 22–25)</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Unsteered chains causal late (E137)</a:t>
            </a:r>
            <a:endParaRPr lang="en-US" sz="1500" dirty="0"/>
          </a:p>
          <a:p>
            <a:pPr marL="203200" indent="-203200">
              <a:buSzPct val="100000"/>
              <a:buChar char="•"/>
            </a:pPr>
            <a:r>
              <a:rPr lang="en-US" sz="1500" dirty="0">
                <a:solidFill>
                  <a:srgbClr val="1F2A33"/>
                </a:solidFill>
                <a:latin typeface="Calibri" pitchFamily="34" charset="0"/>
                <a:ea typeface="Calibri" pitchFamily="34" charset="-122"/>
                <a:cs typeface="Calibri" pitchFamily="34" charset="-120"/>
              </a:rPr>
              <a:t>Claim B: naming flat over RL (exp 29)</a:t>
            </a:r>
            <a:endParaRPr lang="en-US" sz="1500" dirty="0"/>
          </a:p>
        </p:txBody>
      </p:sp>
      <p:sp>
        <p:nvSpPr>
          <p:cNvPr id="13" name="Shape 10"/>
          <p:cNvSpPr/>
          <p:nvPr/>
        </p:nvSpPr>
        <p:spPr>
          <a:xfrm>
            <a:off x="8156448" y="1463040"/>
            <a:ext cx="3575304" cy="4754880"/>
          </a:xfrm>
          <a:prstGeom prst="rect">
            <a:avLst/>
          </a:prstGeom>
          <a:solidFill>
            <a:srgbClr val="F3DCE4"/>
          </a:solidFill>
          <a:ln w="9525">
            <a:solidFill>
              <a:srgbClr val="F3DCE4"/>
            </a:solidFill>
            <a:prstDash val="solid"/>
          </a:ln>
        </p:spPr>
      </p:sp>
      <p:sp>
        <p:nvSpPr>
          <p:cNvPr id="14" name="Text 11"/>
          <p:cNvSpPr/>
          <p:nvPr/>
        </p:nvSpPr>
        <p:spPr>
          <a:xfrm>
            <a:off x="8430768" y="1691640"/>
            <a:ext cx="3026664" cy="548640"/>
          </a:xfrm>
          <a:prstGeom prst="rect">
            <a:avLst/>
          </a:prstGeom>
          <a:noFill/>
          <a:ln/>
        </p:spPr>
        <p:txBody>
          <a:bodyPr wrap="square" lIns="0" tIns="0" rIns="0" bIns="0" rtlCol="0" anchor="t"/>
          <a:lstStyle/>
          <a:p>
            <a:pPr indent="0" marL="0">
              <a:buNone/>
            </a:pPr>
            <a:r>
              <a:rPr lang="en-US" sz="2000" b="1" dirty="0">
                <a:solidFill>
                  <a:srgbClr val="B03060"/>
                </a:solidFill>
                <a:latin typeface="Calibri" pitchFamily="34" charset="0"/>
                <a:ea typeface="Calibri" pitchFamily="34" charset="-122"/>
                <a:cs typeface="Calibri" pitchFamily="34" charset="-120"/>
              </a:rPr>
              <a:t>Open: would change our minds</a:t>
            </a:r>
            <a:endParaRPr lang="en-US" sz="2000" dirty="0"/>
          </a:p>
        </p:txBody>
      </p:sp>
      <p:sp>
        <p:nvSpPr>
          <p:cNvPr id="15" name="Text 12"/>
          <p:cNvSpPr/>
          <p:nvPr/>
        </p:nvSpPr>
        <p:spPr>
          <a:xfrm>
            <a:off x="8430768" y="2331720"/>
            <a:ext cx="3026664" cy="37033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A reader that tracks verified private state and beats a text-only baseline</a:t>
            </a:r>
            <a:endParaRPr lang="en-US" sz="1500" dirty="0"/>
          </a:p>
          <a:p>
            <a:pPr marL="203200" indent="-203200">
              <a:spcAft>
                <a:spcPts val="800"/>
              </a:spcAft>
              <a:buSzPct val="100000"/>
              <a:buChar char="•"/>
            </a:pPr>
            <a:r>
              <a:rPr lang="en-US" sz="1500" dirty="0">
                <a:solidFill>
                  <a:srgbClr val="1F2A33"/>
                </a:solidFill>
                <a:latin typeface="Calibri" pitchFamily="34" charset="0"/>
                <a:ea typeface="Calibri" pitchFamily="34" charset="-122"/>
                <a:cs typeface="Calibri" pitchFamily="34" charset="-120"/>
              </a:rPr>
              <a:t>Restoration R ≥ 0.5 at block 44 on a fresh unsteered bank</a:t>
            </a:r>
            <a:endParaRPr lang="en-US" sz="1500" dirty="0"/>
          </a:p>
          <a:p>
            <a:pPr marL="203200" indent="-203200">
              <a:buSzPct val="100000"/>
              <a:buChar char="•"/>
            </a:pPr>
            <a:r>
              <a:rPr lang="en-US" sz="1500" dirty="0">
                <a:solidFill>
                  <a:srgbClr val="1F2A33"/>
                </a:solidFill>
                <a:latin typeface="Calibri" pitchFamily="34" charset="0"/>
                <a:ea typeface="Calibri" pitchFamily="34" charset="-122"/>
                <a:cs typeface="Calibri" pitchFamily="34" charset="-120"/>
              </a:rPr>
              <a:t>A statement-aware critic that makes the NLA name structure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In hindsight, what we would do from day one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D51, exp 18 · Guiv: E138R, E56 bank</a:t>
            </a:r>
            <a:endParaRPr lang="en-US" sz="1000" dirty="0"/>
          </a:p>
        </p:txBody>
      </p:sp>
      <p:sp>
        <p:nvSpPr>
          <p:cNvPr id="7" name="Shape 4"/>
          <p:cNvSpPr/>
          <p:nvPr/>
        </p:nvSpPr>
        <p:spPr>
          <a:xfrm>
            <a:off x="457200" y="1463040"/>
            <a:ext cx="3630168" cy="2240280"/>
          </a:xfrm>
          <a:prstGeom prst="rect">
            <a:avLst/>
          </a:prstGeom>
          <a:solidFill>
            <a:srgbClr val="E8E6E1"/>
          </a:solidFill>
          <a:ln w="9525">
            <a:solidFill>
              <a:srgbClr val="E8E6E1"/>
            </a:solidFill>
            <a:prstDash val="solid"/>
          </a:ln>
        </p:spPr>
      </p:sp>
      <p:sp>
        <p:nvSpPr>
          <p:cNvPr id="8" name="Shape 5"/>
          <p:cNvSpPr/>
          <p:nvPr/>
        </p:nvSpPr>
        <p:spPr>
          <a:xfrm>
            <a:off x="685800" y="1691640"/>
            <a:ext cx="457200" cy="457200"/>
          </a:xfrm>
          <a:prstGeom prst="ellipse">
            <a:avLst/>
          </a:prstGeom>
          <a:solidFill>
            <a:srgbClr val="1F2A33"/>
          </a:solidFill>
          <a:ln w="12700">
            <a:solidFill>
              <a:srgbClr val="1F2A33"/>
            </a:solidFill>
            <a:prstDash val="solid"/>
          </a:ln>
        </p:spPr>
      </p:sp>
      <p:sp>
        <p:nvSpPr>
          <p:cNvPr id="9" name="Text 6"/>
          <p:cNvSpPr/>
          <p:nvPr/>
        </p:nvSpPr>
        <p:spPr>
          <a:xfrm>
            <a:off x="68580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280160" y="169164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Pre-register the baseline</a:t>
            </a:r>
            <a:endParaRPr lang="en-US" sz="1700" dirty="0"/>
          </a:p>
        </p:txBody>
      </p:sp>
      <p:sp>
        <p:nvSpPr>
          <p:cNvPr id="11" name="Text 8"/>
          <p:cNvSpPr/>
          <p:nvPr/>
        </p:nvSpPr>
        <p:spPr>
          <a:xfrm>
            <a:off x="685800" y="251460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Always-low would have flagged the scorecards on 27 Oct.</a:t>
            </a:r>
            <a:endParaRPr lang="en-US" sz="1500" dirty="0"/>
          </a:p>
        </p:txBody>
      </p:sp>
      <p:sp>
        <p:nvSpPr>
          <p:cNvPr id="12" name="Shape 9"/>
          <p:cNvSpPr/>
          <p:nvPr/>
        </p:nvSpPr>
        <p:spPr>
          <a:xfrm>
            <a:off x="4279392" y="1463040"/>
            <a:ext cx="3630168" cy="2240280"/>
          </a:xfrm>
          <a:prstGeom prst="rect">
            <a:avLst/>
          </a:prstGeom>
          <a:solidFill>
            <a:srgbClr val="E8E6E1"/>
          </a:solidFill>
          <a:ln w="9525">
            <a:solidFill>
              <a:srgbClr val="E8E6E1"/>
            </a:solidFill>
            <a:prstDash val="solid"/>
          </a:ln>
        </p:spPr>
      </p:sp>
      <p:sp>
        <p:nvSpPr>
          <p:cNvPr id="13" name="Shape 10"/>
          <p:cNvSpPr/>
          <p:nvPr/>
        </p:nvSpPr>
        <p:spPr>
          <a:xfrm>
            <a:off x="4507992" y="1691640"/>
            <a:ext cx="457200" cy="457200"/>
          </a:xfrm>
          <a:prstGeom prst="ellipse">
            <a:avLst/>
          </a:prstGeom>
          <a:solidFill>
            <a:srgbClr val="1F2A33"/>
          </a:solidFill>
          <a:ln w="12700">
            <a:solidFill>
              <a:srgbClr val="1F2A33"/>
            </a:solidFill>
            <a:prstDash val="solid"/>
          </a:ln>
        </p:spPr>
      </p:sp>
      <p:sp>
        <p:nvSpPr>
          <p:cNvPr id="14" name="Text 11"/>
          <p:cNvSpPr/>
          <p:nvPr/>
        </p:nvSpPr>
        <p:spPr>
          <a:xfrm>
            <a:off x="4507992"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5102352" y="169164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Audit against raw files weekly</a:t>
            </a:r>
            <a:endParaRPr lang="en-US" sz="1700" dirty="0"/>
          </a:p>
        </p:txBody>
      </p:sp>
      <p:sp>
        <p:nvSpPr>
          <p:cNvPr id="16" name="Text 13"/>
          <p:cNvSpPr/>
          <p:nvPr/>
        </p:nvSpPr>
        <p:spPr>
          <a:xfrm>
            <a:off x="4507992" y="251460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The 30 Oct recompute found 49 mismatches.</a:t>
            </a:r>
            <a:endParaRPr lang="en-US" sz="1500" dirty="0"/>
          </a:p>
        </p:txBody>
      </p:sp>
      <p:sp>
        <p:nvSpPr>
          <p:cNvPr id="17" name="Shape 14"/>
          <p:cNvSpPr/>
          <p:nvPr/>
        </p:nvSpPr>
        <p:spPr>
          <a:xfrm>
            <a:off x="8101584" y="1463040"/>
            <a:ext cx="3630168" cy="2240280"/>
          </a:xfrm>
          <a:prstGeom prst="rect">
            <a:avLst/>
          </a:prstGeom>
          <a:solidFill>
            <a:srgbClr val="E8E6E1"/>
          </a:solidFill>
          <a:ln w="9525">
            <a:solidFill>
              <a:srgbClr val="E8E6E1"/>
            </a:solidFill>
            <a:prstDash val="solid"/>
          </a:ln>
        </p:spPr>
      </p:sp>
      <p:sp>
        <p:nvSpPr>
          <p:cNvPr id="18" name="Shape 15"/>
          <p:cNvSpPr/>
          <p:nvPr/>
        </p:nvSpPr>
        <p:spPr>
          <a:xfrm>
            <a:off x="8330184" y="1691640"/>
            <a:ext cx="457200" cy="457200"/>
          </a:xfrm>
          <a:prstGeom prst="ellipse">
            <a:avLst/>
          </a:prstGeom>
          <a:solidFill>
            <a:srgbClr val="1F2A33"/>
          </a:solidFill>
          <a:ln w="12700">
            <a:solidFill>
              <a:srgbClr val="1F2A33"/>
            </a:solidFill>
            <a:prstDash val="solid"/>
          </a:ln>
        </p:spPr>
      </p:sp>
      <p:sp>
        <p:nvSpPr>
          <p:cNvPr id="19" name="Text 16"/>
          <p:cNvSpPr/>
          <p:nvPr/>
        </p:nvSpPr>
        <p:spPr>
          <a:xfrm>
            <a:off x="8330184"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0" name="Text 17"/>
          <p:cNvSpPr/>
          <p:nvPr/>
        </p:nvSpPr>
        <p:spPr>
          <a:xfrm>
            <a:off x="8924544" y="169164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Read the judge's actual inputs</a:t>
            </a:r>
            <a:endParaRPr lang="en-US" sz="1700" dirty="0"/>
          </a:p>
        </p:txBody>
      </p:sp>
      <p:sp>
        <p:nvSpPr>
          <p:cNvPr id="21" name="Text 18"/>
          <p:cNvSpPr/>
          <p:nvPr/>
        </p:nvSpPr>
        <p:spPr>
          <a:xfrm>
            <a:off x="8330184" y="251460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The E138 artefact sat in plain sight.</a:t>
            </a:r>
            <a:endParaRPr lang="en-US" sz="1500" dirty="0"/>
          </a:p>
        </p:txBody>
      </p:sp>
      <p:sp>
        <p:nvSpPr>
          <p:cNvPr id="22" name="Shape 19"/>
          <p:cNvSpPr/>
          <p:nvPr/>
        </p:nvSpPr>
        <p:spPr>
          <a:xfrm>
            <a:off x="457200" y="3886200"/>
            <a:ext cx="3630168" cy="2240280"/>
          </a:xfrm>
          <a:prstGeom prst="rect">
            <a:avLst/>
          </a:prstGeom>
          <a:solidFill>
            <a:srgbClr val="E8E6E1"/>
          </a:solidFill>
          <a:ln w="9525">
            <a:solidFill>
              <a:srgbClr val="E8E6E1"/>
            </a:solidFill>
            <a:prstDash val="solid"/>
          </a:ln>
        </p:spPr>
      </p:sp>
      <p:sp>
        <p:nvSpPr>
          <p:cNvPr id="23" name="Shape 20"/>
          <p:cNvSpPr/>
          <p:nvPr/>
        </p:nvSpPr>
        <p:spPr>
          <a:xfrm>
            <a:off x="685800" y="4114800"/>
            <a:ext cx="457200" cy="457200"/>
          </a:xfrm>
          <a:prstGeom prst="ellipse">
            <a:avLst/>
          </a:prstGeom>
          <a:solidFill>
            <a:srgbClr val="1F2A33"/>
          </a:solidFill>
          <a:ln w="12700">
            <a:solidFill>
              <a:srgbClr val="1F2A33"/>
            </a:solidFill>
            <a:prstDash val="solid"/>
          </a:ln>
        </p:spPr>
      </p:sp>
      <p:sp>
        <p:nvSpPr>
          <p:cNvPr id="24" name="Text 21"/>
          <p:cNvSpPr/>
          <p:nvPr/>
        </p:nvSpPr>
        <p:spPr>
          <a:xfrm>
            <a:off x="685800"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2"/>
          <p:cNvSpPr/>
          <p:nvPr/>
        </p:nvSpPr>
        <p:spPr>
          <a:xfrm>
            <a:off x="1280160" y="411480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Count distinct items, not prompts</a:t>
            </a:r>
            <a:endParaRPr lang="en-US" sz="1700" dirty="0"/>
          </a:p>
        </p:txBody>
      </p:sp>
      <p:sp>
        <p:nvSpPr>
          <p:cNvPr id="26" name="Text 23"/>
          <p:cNvSpPr/>
          <p:nvPr/>
        </p:nvSpPr>
        <p:spPr>
          <a:xfrm>
            <a:off x="685800" y="493776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84 fact prompts were one fact pair.</a:t>
            </a:r>
            <a:endParaRPr lang="en-US" sz="1500" dirty="0"/>
          </a:p>
        </p:txBody>
      </p:sp>
      <p:sp>
        <p:nvSpPr>
          <p:cNvPr id="27" name="Shape 24"/>
          <p:cNvSpPr/>
          <p:nvPr/>
        </p:nvSpPr>
        <p:spPr>
          <a:xfrm>
            <a:off x="4279392" y="3886200"/>
            <a:ext cx="3630168" cy="2240280"/>
          </a:xfrm>
          <a:prstGeom prst="rect">
            <a:avLst/>
          </a:prstGeom>
          <a:solidFill>
            <a:srgbClr val="E8E6E1"/>
          </a:solidFill>
          <a:ln w="9525">
            <a:solidFill>
              <a:srgbClr val="E8E6E1"/>
            </a:solidFill>
            <a:prstDash val="solid"/>
          </a:ln>
        </p:spPr>
      </p:sp>
      <p:sp>
        <p:nvSpPr>
          <p:cNvPr id="28" name="Shape 25"/>
          <p:cNvSpPr/>
          <p:nvPr/>
        </p:nvSpPr>
        <p:spPr>
          <a:xfrm>
            <a:off x="4507992" y="4114800"/>
            <a:ext cx="457200" cy="457200"/>
          </a:xfrm>
          <a:prstGeom prst="ellipse">
            <a:avLst/>
          </a:prstGeom>
          <a:solidFill>
            <a:srgbClr val="1F2A33"/>
          </a:solidFill>
          <a:ln w="12700">
            <a:solidFill>
              <a:srgbClr val="1F2A33"/>
            </a:solidFill>
            <a:prstDash val="solid"/>
          </a:ln>
        </p:spPr>
      </p:sp>
      <p:sp>
        <p:nvSpPr>
          <p:cNvPr id="29" name="Text 26"/>
          <p:cNvSpPr/>
          <p:nvPr/>
        </p:nvSpPr>
        <p:spPr>
          <a:xfrm>
            <a:off x="4507992"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0" name="Text 27"/>
          <p:cNvSpPr/>
          <p:nvPr/>
        </p:nvSpPr>
        <p:spPr>
          <a:xfrm>
            <a:off x="5102352" y="411480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Build the decisive test early</a:t>
            </a:r>
            <a:endParaRPr lang="en-US" sz="1700" dirty="0"/>
          </a:p>
        </p:txBody>
      </p:sp>
      <p:sp>
        <p:nvSpPr>
          <p:cNvPr id="31" name="Text 28"/>
          <p:cNvSpPr/>
          <p:nvPr/>
        </p:nvSpPr>
        <p:spPr>
          <a:xfrm>
            <a:off x="4507992" y="493776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A statement-paying critic; holder vs last hand-over.</a:t>
            </a:r>
            <a:endParaRPr lang="en-US" sz="1500" dirty="0"/>
          </a:p>
        </p:txBody>
      </p:sp>
      <p:sp>
        <p:nvSpPr>
          <p:cNvPr id="32" name="Shape 29"/>
          <p:cNvSpPr/>
          <p:nvPr/>
        </p:nvSpPr>
        <p:spPr>
          <a:xfrm>
            <a:off x="8101584" y="3886200"/>
            <a:ext cx="3630168" cy="2240280"/>
          </a:xfrm>
          <a:prstGeom prst="rect">
            <a:avLst/>
          </a:prstGeom>
          <a:solidFill>
            <a:srgbClr val="E8E6E1"/>
          </a:solidFill>
          <a:ln w="9525">
            <a:solidFill>
              <a:srgbClr val="E8E6E1"/>
            </a:solidFill>
            <a:prstDash val="solid"/>
          </a:ln>
        </p:spPr>
      </p:sp>
      <p:sp>
        <p:nvSpPr>
          <p:cNvPr id="33" name="Shape 30"/>
          <p:cNvSpPr/>
          <p:nvPr/>
        </p:nvSpPr>
        <p:spPr>
          <a:xfrm>
            <a:off x="8330184" y="4114800"/>
            <a:ext cx="457200" cy="457200"/>
          </a:xfrm>
          <a:prstGeom prst="ellipse">
            <a:avLst/>
          </a:prstGeom>
          <a:solidFill>
            <a:srgbClr val="1F2A33"/>
          </a:solidFill>
          <a:ln w="12700">
            <a:solidFill>
              <a:srgbClr val="1F2A33"/>
            </a:solidFill>
            <a:prstDash val="solid"/>
          </a:ln>
        </p:spPr>
      </p:sp>
      <p:sp>
        <p:nvSpPr>
          <p:cNvPr id="34" name="Text 31"/>
          <p:cNvSpPr/>
          <p:nvPr/>
        </p:nvSpPr>
        <p:spPr>
          <a:xfrm>
            <a:off x="8330184"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5" name="Text 32"/>
          <p:cNvSpPr/>
          <p:nvPr/>
        </p:nvSpPr>
        <p:spPr>
          <a:xfrm>
            <a:off x="8924544" y="4114800"/>
            <a:ext cx="2651760" cy="685800"/>
          </a:xfrm>
          <a:prstGeom prst="rect">
            <a:avLst/>
          </a:prstGeom>
          <a:noFill/>
          <a:ln/>
        </p:spPr>
        <p:txBody>
          <a:bodyPr wrap="square" lIns="0" tIns="0" rIns="0" bIns="0" rtlCol="0" anchor="ctr"/>
          <a:lstStyle/>
          <a:p>
            <a:pPr indent="0" marL="0">
              <a:buNone/>
            </a:pPr>
            <a:r>
              <a:rPr lang="en-US" sz="1700" b="1" dirty="0">
                <a:solidFill>
                  <a:srgbClr val="1F2A33"/>
                </a:solidFill>
                <a:latin typeface="Calibri" pitchFamily="34" charset="0"/>
                <a:ea typeface="Calibri" pitchFamily="34" charset="-122"/>
                <a:cs typeface="Calibri" pitchFamily="34" charset="-120"/>
              </a:rPr>
              <a:t>A second model early</a:t>
            </a:r>
            <a:endParaRPr lang="en-US" sz="1700" dirty="0"/>
          </a:p>
        </p:txBody>
      </p:sp>
      <p:sp>
        <p:nvSpPr>
          <p:cNvPr id="36" name="Text 33"/>
          <p:cNvSpPr/>
          <p:nvPr/>
        </p:nvSpPr>
        <p:spPr>
          <a:xfrm>
            <a:off x="8330184" y="4937760"/>
            <a:ext cx="3200400" cy="1051560"/>
          </a:xfrm>
          <a:prstGeom prst="rect">
            <a:avLst/>
          </a:prstGeom>
          <a:noFill/>
          <a:ln/>
        </p:spPr>
        <p:txBody>
          <a:bodyPr wrap="square" lIns="0" tIns="0" rIns="0" bIns="0" rtlCol="0" anchor="t"/>
          <a:lstStyle/>
          <a:p>
            <a:pPr indent="0" marL="0">
              <a:buNone/>
            </a:pPr>
            <a:r>
              <a:rPr lang="en-US" sz="1500" dirty="0">
                <a:solidFill>
                  <a:srgbClr val="1F2A33"/>
                </a:solidFill>
                <a:latin typeface="Calibri" pitchFamily="34" charset="0"/>
                <a:ea typeface="Calibri" pitchFamily="34" charset="-122"/>
                <a:cs typeface="Calibri" pitchFamily="34" charset="-120"/>
              </a:rPr>
              <a:t>Every claim is still one model.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What we learned</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6" name="Shape 3"/>
          <p:cNvSpPr/>
          <p:nvPr/>
        </p:nvSpPr>
        <p:spPr>
          <a:xfrm>
            <a:off x="457200" y="1463040"/>
            <a:ext cx="5500116" cy="4754880"/>
          </a:xfrm>
          <a:prstGeom prst="rect">
            <a:avLst/>
          </a:prstGeom>
          <a:solidFill>
            <a:srgbClr val="E8E6E1"/>
          </a:solidFill>
          <a:ln w="9525">
            <a:solidFill>
              <a:srgbClr val="E8E6E1"/>
            </a:solidFill>
            <a:prstDash val="solid"/>
          </a:ln>
        </p:spPr>
      </p:sp>
      <p:sp>
        <p:nvSpPr>
          <p:cNvPr id="7" name="Text 4"/>
          <p:cNvSpPr/>
          <p:nvPr/>
        </p:nvSpPr>
        <p:spPr>
          <a:xfrm>
            <a:off x="731520" y="1691640"/>
            <a:ext cx="4951476"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About the readers</a:t>
            </a:r>
            <a:endParaRPr lang="en-US" sz="2000" dirty="0"/>
          </a:p>
        </p:txBody>
      </p:sp>
      <p:sp>
        <p:nvSpPr>
          <p:cNvPr id="8" name="Text 5"/>
          <p:cNvSpPr/>
          <p:nvPr/>
        </p:nvSpPr>
        <p:spPr>
          <a:xfrm>
            <a:off x="731520" y="2331720"/>
            <a:ext cx="4951476"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Decodable, causal here and stated come apart; check each separately</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A readout is mostly a rebuilt prompt; text-only baselines are hard to beat</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A reconstruction reward does not pay for naming; whether a reader names a state looks like training habit more than capacity</a:t>
            </a:r>
            <a:endParaRPr lang="en-US" sz="1800" dirty="0"/>
          </a:p>
        </p:txBody>
      </p:sp>
      <p:sp>
        <p:nvSpPr>
          <p:cNvPr id="9" name="Shape 6"/>
          <p:cNvSpPr/>
          <p:nvPr/>
        </p:nvSpPr>
        <p:spPr>
          <a:xfrm>
            <a:off x="6231636" y="1463040"/>
            <a:ext cx="5500116" cy="4754880"/>
          </a:xfrm>
          <a:prstGeom prst="rect">
            <a:avLst/>
          </a:prstGeom>
          <a:solidFill>
            <a:srgbClr val="E8E6E1"/>
          </a:solidFill>
          <a:ln w="9525">
            <a:solidFill>
              <a:srgbClr val="E8E6E1"/>
            </a:solidFill>
            <a:prstDash val="solid"/>
          </a:ln>
        </p:spPr>
      </p:sp>
      <p:sp>
        <p:nvSpPr>
          <p:cNvPr id="10" name="Text 7"/>
          <p:cNvSpPr/>
          <p:nvPr/>
        </p:nvSpPr>
        <p:spPr>
          <a:xfrm>
            <a:off x="6505956" y="1691640"/>
            <a:ext cx="4951476" cy="548640"/>
          </a:xfrm>
          <a:prstGeom prst="rect">
            <a:avLst/>
          </a:prstGeom>
          <a:noFill/>
          <a:ln/>
        </p:spPr>
        <p:txBody>
          <a:bodyPr wrap="square" lIns="0" tIns="0" rIns="0" bIns="0" rtlCol="0" anchor="t"/>
          <a:lstStyle/>
          <a:p>
            <a:pPr indent="0" marL="0">
              <a:buNone/>
            </a:pPr>
            <a:r>
              <a:rPr lang="en-US" sz="2000" b="1" dirty="0">
                <a:solidFill>
                  <a:srgbClr val="1F2A33"/>
                </a:solidFill>
                <a:latin typeface="Calibri" pitchFamily="34" charset="0"/>
                <a:ea typeface="Calibri" pitchFamily="34" charset="-122"/>
                <a:cs typeface="Calibri" pitchFamily="34" charset="-120"/>
              </a:rPr>
              <a:t>About doing research</a:t>
            </a:r>
            <a:endParaRPr lang="en-US" sz="2000" dirty="0"/>
          </a:p>
        </p:txBody>
      </p:sp>
      <p:sp>
        <p:nvSpPr>
          <p:cNvPr id="11" name="Text 8"/>
          <p:cNvSpPr/>
          <p:nvPr/>
        </p:nvSpPr>
        <p:spPr>
          <a:xfrm>
            <a:off x="6505956" y="2331720"/>
            <a:ext cx="4951476" cy="37033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Know what a benchmark holds fixed before trusting its score</a:t>
            </a:r>
            <a:endParaRPr lang="en-US" sz="1800" dirty="0"/>
          </a:p>
          <a:p>
            <a:pPr marL="203200" indent="-203200">
              <a:spcAft>
                <a:spcPts val="800"/>
              </a:spcAft>
              <a:buSzPct val="100000"/>
              <a:buChar char="•"/>
            </a:pPr>
            <a:r>
              <a:rPr lang="en-US" sz="1800" dirty="0">
                <a:solidFill>
                  <a:srgbClr val="1F2A33"/>
                </a:solidFill>
                <a:latin typeface="Calibri" pitchFamily="34" charset="0"/>
                <a:ea typeface="Calibri" pitchFamily="34" charset="-122"/>
                <a:cs typeface="Calibri" pitchFamily="34" charset="-120"/>
              </a:rPr>
              <a:t>Pre-register the baseline along with the prediction</a:t>
            </a:r>
            <a:endParaRPr lang="en-US" sz="1800" dirty="0"/>
          </a:p>
          <a:p>
            <a:pPr marL="203200" indent="-203200">
              <a:buSzPct val="100000"/>
              <a:buChar char="•"/>
            </a:pPr>
            <a:r>
              <a:rPr lang="en-US" sz="1800" dirty="0">
                <a:solidFill>
                  <a:srgbClr val="1F2A33"/>
                </a:solidFill>
                <a:latin typeface="Calibri" pitchFamily="34" charset="0"/>
                <a:ea typeface="Calibri" pitchFamily="34" charset="-122"/>
                <a:cs typeface="Calibri" pitchFamily="34" charset="-120"/>
              </a:rPr>
              <a:t>Agent-written research drifts from its data; audit against raw files, read the inputs, count items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Next, in order of cost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GUIV + 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Costs: Suraj's estimates for his rows; ours not yet costed · Jarus77/mats-nla-workspace @ 4d43ecb2</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480560"/>
                <a:gridCol w="4206240"/>
                <a:gridCol w="2587752"/>
              </a:tblGrid>
              <a:tr h="548640">
                <a:tc>
                  <a:txBody>
                    <a:bodyPr/>
                    <a:lstStyle/>
                    <a:p>
                      <a:pPr algn="l" indent="0" marL="0">
                        <a:buNone/>
                      </a:pPr>
                      <a:r>
                        <a:rPr lang="en-US" sz="1500" b="1" dirty="0">
                          <a:solidFill>
                            <a:srgbClr val="1F2A33"/>
                          </a:solidFill>
                          <a:latin typeface="Calibri" pitchFamily="34" charset="0"/>
                          <a:ea typeface="Calibri" pitchFamily="34" charset="-122"/>
                          <a:cs typeface="Calibri" pitchFamily="34" charset="-120"/>
                        </a:rPr>
                        <a:t>Experiment</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algn="l" indent="0" marL="0">
                        <a:buNone/>
                      </a:pPr>
                      <a:r>
                        <a:rPr lang="en-US" sz="1500" b="1" dirty="0">
                          <a:solidFill>
                            <a:srgbClr val="1F2A33"/>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c>
                  <a:txBody>
                    <a:bodyPr/>
                    <a:lstStyle/>
                    <a:p>
                      <a:pPr algn="r" indent="0" marL="0">
                        <a:buNone/>
                      </a:pPr>
                      <a:r>
                        <a:rPr lang="en-US" sz="1500" b="1" dirty="0">
                          <a:solidFill>
                            <a:srgbClr val="1F2A33"/>
                          </a:solidFill>
                          <a:latin typeface="Calibri" pitchFamily="34" charset="0"/>
                          <a:ea typeface="Calibri" pitchFamily="34" charset="-122"/>
                          <a:cs typeface="Calibri" pitchFamily="34" charset="-120"/>
                        </a:rPr>
                        <a:t>Cost</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E8E6E1"/>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Judge vs human labels, 600 readouts</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Are naming rates real?</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1F2A33"/>
                          </a:solidFill>
                          <a:latin typeface="Calibri" pitchFamily="34" charset="0"/>
                          <a:ea typeface="Calibri" pitchFamily="34" charset="-122"/>
                          <a:cs typeface="Calibri" pitchFamily="34" charset="-120"/>
                        </a:rPr>
                        <a:t>No GPU, ~10 rater-h</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Chains where the last hand-over is undone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Holder state or last hand-over?</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B03060"/>
                          </a:solidFill>
                          <a:latin typeface="Calibri" pitchFamily="34" charset="0"/>
                          <a:ea typeface="Calibri" pitchFamily="34" charset="-122"/>
                          <a:cs typeface="Calibri" pitchFamily="34" charset="-120"/>
                        </a:rPr>
                        <a:t>[estimate]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Fact row on many fact pairs</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Does late restoration generalise?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B03060"/>
                          </a:solidFill>
                          <a:latin typeface="Calibri" pitchFamily="34" charset="0"/>
                          <a:ea typeface="Calibri" pitchFamily="34" charset="-122"/>
                          <a:cs typeface="Calibri" pitchFamily="34" charset="-120"/>
                        </a:rPr>
                        <a:t>[estimate]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Second model: Llama-3.3-70B NLA</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One run, one model</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1F2A33"/>
                          </a:solidFill>
                          <a:latin typeface="Calibri" pitchFamily="34" charset="0"/>
                          <a:ea typeface="Calibri" pitchFamily="34" charset="-122"/>
                          <a:cs typeface="Calibri" pitchFamily="34" charset="-120"/>
                        </a:rPr>
                        <a:t>~$30–60, 1–2 days</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Benchmark of verified model-private state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Does any reader beat text-only?</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B03060"/>
                          </a:solidFill>
                          <a:latin typeface="Calibri" pitchFamily="34" charset="0"/>
                          <a:ea typeface="Calibri" pitchFamily="34" charset="-122"/>
                          <a:cs typeface="Calibri" pitchFamily="34" charset="-120"/>
                        </a:rPr>
                        <a:t>[estimate]</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r h="548640">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Statement-aware critic, then RL</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l" indent="0" marL="0">
                        <a:buNone/>
                      </a:pPr>
                      <a:r>
                        <a:rPr lang="en-US" sz="1500" dirty="0">
                          <a:solidFill>
                            <a:srgbClr val="1F2A33"/>
                          </a:solidFill>
                          <a:latin typeface="Calibri" pitchFamily="34" charset="0"/>
                          <a:ea typeface="Calibri" pitchFamily="34" charset="-122"/>
                          <a:cs typeface="Calibri" pitchFamily="34" charset="-120"/>
                        </a:rPr>
                        <a:t>Claim B directly</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c>
                  <a:txBody>
                    <a:bodyPr/>
                    <a:lstStyle/>
                    <a:p>
                      <a:pPr algn="r" indent="0" marL="0">
                        <a:buNone/>
                      </a:pPr>
                      <a:r>
                        <a:rPr lang="en-US" sz="1500" dirty="0">
                          <a:solidFill>
                            <a:srgbClr val="1F2A33"/>
                          </a:solidFill>
                          <a:latin typeface="Calibri" pitchFamily="34" charset="0"/>
                          <a:ea typeface="Calibri" pitchFamily="34" charset="-122"/>
                          <a:cs typeface="Calibri" pitchFamily="34" charset="-120"/>
                        </a:rPr>
                        <a:t>~$500–800, 3–5 days</a:t>
                      </a:r>
                      <a:endParaRPr lang="en-US" sz="1500" dirty="0">
                        <a:latin typeface="Calibri" charset="0"/>
                        <a:ea typeface="Calibri" charset="0"/>
                        <a:cs typeface="Calibri" charset="0"/>
                      </a:endParaRPr>
                    </a:p>
                  </a:txBody>
                  <a:tcPr marL="73152" marR="73152" marT="73152" marB="73152" anchor="ctr">
                    <a:lnL w="9525" cap="flat" cmpd="sng" algn="ctr">
                      <a:solidFill>
                        <a:srgbClr val="9A948A"/>
                      </a:solidFill>
                      <a:prstDash val="solid"/>
                      <a:round/>
                      <a:headEnd type="none" w="med" len="med"/>
                      <a:tailEnd type="none" w="med" len="med"/>
                    </a:lnL>
                    <a:lnR w="9525" cap="flat" cmpd="sng" algn="ctr">
                      <a:solidFill>
                        <a:srgbClr val="9A948A"/>
                      </a:solidFill>
                      <a:prstDash val="solid"/>
                      <a:round/>
                      <a:headEnd type="none" w="med" len="med"/>
                      <a:tailEnd type="none" w="med" len="med"/>
                    </a:lnR>
                    <a:lnT w="9525" cap="flat" cmpd="sng" algn="ctr">
                      <a:solidFill>
                        <a:srgbClr val="9A948A"/>
                      </a:solidFill>
                      <a:prstDash val="solid"/>
                      <a:round/>
                      <a:headEnd type="none" w="med" len="med"/>
                      <a:tailEnd type="none" w="med" len="med"/>
                    </a:lnT>
                    <a:lnB w="9525" cap="flat" cmpd="sng" algn="ctr">
                      <a:solidFill>
                        <a:srgbClr val="9A948A"/>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F2A33"/>
        </a:solidFill>
      </p:bgPr>
    </p:bg>
    <p:spTree>
      <p:nvGrpSpPr>
        <p:cNvPr id="1" name=""/>
        <p:cNvGrpSpPr/>
        <p:nvPr/>
      </p:nvGrpSpPr>
      <p:grpSpPr>
        <a:xfrm>
          <a:off x="0" y="0"/>
          <a:ext cx="0" cy="0"/>
          <a:chOff x="0" y="0"/>
          <a:chExt cx="0" cy="0"/>
        </a:xfrm>
      </p:grpSpPr>
      <p:sp>
        <p:nvSpPr>
          <p:cNvPr id="2" name="Text 0"/>
          <p:cNvSpPr/>
          <p:nvPr/>
        </p:nvSpPr>
        <p:spPr>
          <a:xfrm>
            <a:off x="731520" y="640080"/>
            <a:ext cx="10058400" cy="274320"/>
          </a:xfrm>
          <a:prstGeom prst="rect">
            <a:avLst/>
          </a:prstGeom>
          <a:noFill/>
          <a:ln/>
        </p:spPr>
        <p:txBody>
          <a:bodyPr wrap="square" lIns="0" tIns="0" rIns="0" bIns="0" rtlCol="0" anchor="t"/>
          <a:lstStyle/>
          <a:p>
            <a:pPr indent="0" marL="0">
              <a:buNone/>
            </a:pPr>
            <a:r>
              <a:rPr lang="en-US" sz="1200" b="1" spc="150" kern="0" dirty="0">
                <a:solidFill>
                  <a:srgbClr val="B9B3A7"/>
                </a:solidFill>
                <a:latin typeface="Calibri" pitchFamily="34" charset="0"/>
                <a:ea typeface="Calibri" pitchFamily="34" charset="-122"/>
                <a:cs typeface="Calibri" pitchFamily="34" charset="-120"/>
              </a:rPr>
              <a:t>CLOSING</a:t>
            </a:r>
            <a:endParaRPr lang="en-US" sz="1200" dirty="0"/>
          </a:p>
        </p:txBody>
      </p:sp>
      <p:sp>
        <p:nvSpPr>
          <p:cNvPr id="3" name="Text 1"/>
          <p:cNvSpPr/>
          <p:nvPr/>
        </p:nvSpPr>
        <p:spPr>
          <a:xfrm>
            <a:off x="731520" y="1280160"/>
            <a:ext cx="10515600" cy="1828800"/>
          </a:xfrm>
          <a:prstGeom prst="rect">
            <a:avLst/>
          </a:prstGeom>
          <a:noFill/>
          <a:ln/>
        </p:spPr>
        <p:txBody>
          <a:bodyPr wrap="square" lIns="0" tIns="0" rIns="0" bIns="0" rtlCol="0" anchor="t"/>
          <a:lstStyle/>
          <a:p>
            <a:pPr indent="0" marL="0">
              <a:buNone/>
            </a:pPr>
            <a:r>
              <a:rPr lang="en-US" sz="3800" dirty="0">
                <a:solidFill>
                  <a:srgbClr val="F7F5EF"/>
                </a:solidFill>
                <a:latin typeface="Cambria" pitchFamily="34" charset="0"/>
                <a:ea typeface="Cambria" pitchFamily="34" charset="-122"/>
                <a:cs typeface="Cambria" pitchFamily="34" charset="-120"/>
              </a:rPr>
              <a:t>Decodable, causal here, and stated are different.</a:t>
            </a:r>
            <a:endParaRPr lang="en-US" sz="3800" dirty="0"/>
          </a:p>
        </p:txBody>
      </p:sp>
      <p:sp>
        <p:nvSpPr>
          <p:cNvPr id="4" name="Text 2"/>
          <p:cNvSpPr/>
          <p:nvPr/>
        </p:nvSpPr>
        <p:spPr>
          <a:xfrm>
            <a:off x="731520" y="3383280"/>
            <a:ext cx="10241280" cy="29260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A reader faithful to the text is not yet faithful to the model.</a:t>
            </a:r>
            <a:endParaRPr lang="en-US" sz="1900" dirty="0"/>
          </a:p>
          <a:p>
            <a:pPr indent="0" marL="0">
              <a:buNone/>
            </a:pPr>
            <a:r>
              <a:rPr lang="en-US" sz="1000" dirty="0">
                <a:solidFill>
                  <a:srgbClr val="D9D4CA"/>
                </a:solidFill>
                <a:latin typeface="Calibri" pitchFamily="34" charset="0"/>
                <a:ea typeface="Calibri" pitchFamily="34" charset="-122"/>
                <a:cs typeface="Calibri" pitchFamily="34" charset="-120"/>
              </a:rPr>
              <a:t> </a:t>
            </a:r>
            <a:endParaRPr lang="en-US" sz="1900" dirty="0"/>
          </a:p>
          <a:p>
            <a:pPr indent="0" marL="0">
              <a:buNone/>
            </a:pPr>
            <a:r>
              <a:rPr lang="en-US" sz="1900" dirty="0">
                <a:solidFill>
                  <a:srgbClr val="D9D4CA"/>
                </a:solidFill>
                <a:latin typeface="Calibri" pitchFamily="34" charset="0"/>
                <a:ea typeface="Calibri" pitchFamily="34" charset="-122"/>
                <a:cs typeface="Calibri" pitchFamily="34" charset="-120"/>
              </a:rPr>
              <a:t>Both readers carry structural state and almost never say it; they report Qwen's own state mainly where it is large at the read token, and late.</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F2A33"/>
        </a:solidFill>
      </p:bgPr>
    </p:bg>
    <p:spTree>
      <p:nvGrpSpPr>
        <p:cNvPr id="1" name=""/>
        <p:cNvGrpSpPr/>
        <p:nvPr/>
      </p:nvGrpSpPr>
      <p:grpSpPr>
        <a:xfrm>
          <a:off x="0" y="0"/>
          <a:ext cx="0" cy="0"/>
          <a:chOff x="0" y="0"/>
          <a:chExt cx="0" cy="0"/>
        </a:xfrm>
      </p:grpSpPr>
      <p:sp>
        <p:nvSpPr>
          <p:cNvPr id="2" name="Text 0"/>
          <p:cNvSpPr/>
          <p:nvPr/>
        </p:nvSpPr>
        <p:spPr>
          <a:xfrm>
            <a:off x="731520" y="640080"/>
            <a:ext cx="10058400" cy="274320"/>
          </a:xfrm>
          <a:prstGeom prst="rect">
            <a:avLst/>
          </a:prstGeom>
          <a:noFill/>
          <a:ln/>
        </p:spPr>
        <p:txBody>
          <a:bodyPr wrap="square" lIns="0" tIns="0" rIns="0" bIns="0" rtlCol="0" anchor="t"/>
          <a:lstStyle/>
          <a:p>
            <a:pPr indent="0" marL="0">
              <a:buNone/>
            </a:pPr>
            <a:r>
              <a:rPr lang="en-US" sz="1200" b="1" spc="150" kern="0" dirty="0">
                <a:solidFill>
                  <a:srgbClr val="B9B3A7"/>
                </a:solidFill>
                <a:latin typeface="Calibri" pitchFamily="34" charset="0"/>
                <a:ea typeface="Calibri" pitchFamily="34" charset="-122"/>
                <a:cs typeface="Calibri" pitchFamily="34" charset="-120"/>
              </a:rPr>
              <a:t>APPENDIX</a:t>
            </a:r>
            <a:endParaRPr lang="en-US" sz="1200" dirty="0"/>
          </a:p>
        </p:txBody>
      </p:sp>
      <p:sp>
        <p:nvSpPr>
          <p:cNvPr id="3" name="Text 1"/>
          <p:cNvSpPr/>
          <p:nvPr/>
        </p:nvSpPr>
        <p:spPr>
          <a:xfrm>
            <a:off x="731520" y="1280160"/>
            <a:ext cx="10515600" cy="1828800"/>
          </a:xfrm>
          <a:prstGeom prst="rect">
            <a:avLst/>
          </a:prstGeom>
          <a:noFill/>
          <a:ln/>
        </p:spPr>
        <p:txBody>
          <a:bodyPr wrap="square" lIns="0" tIns="0" rIns="0" bIns="0" rtlCol="0" anchor="t"/>
          <a:lstStyle/>
          <a:p>
            <a:pPr indent="0" marL="0">
              <a:buNone/>
            </a:pPr>
            <a:r>
              <a:rPr lang="en-US" sz="3800" dirty="0">
                <a:solidFill>
                  <a:srgbClr val="F7F5EF"/>
                </a:solidFill>
                <a:latin typeface="Cambria" pitchFamily="34" charset="0"/>
                <a:ea typeface="Cambria" pitchFamily="34" charset="-122"/>
                <a:cs typeface="Cambria" pitchFamily="34" charset="-120"/>
              </a:rPr>
              <a:t>Backup figures</a:t>
            </a:r>
            <a:endParaRPr lang="en-US" sz="3800" dirty="0"/>
          </a:p>
        </p:txBody>
      </p:sp>
      <p:sp>
        <p:nvSpPr>
          <p:cNvPr id="4" name="Text 2"/>
          <p:cNvSpPr/>
          <p:nvPr/>
        </p:nvSpPr>
        <p:spPr>
          <a:xfrm>
            <a:off x="731520" y="3383280"/>
            <a:ext cx="10241280" cy="2926080"/>
          </a:xfrm>
          <a:prstGeom prst="rect">
            <a:avLst/>
          </a:prstGeom>
          <a:noFill/>
          <a:ln/>
        </p:spPr>
        <p:txBody>
          <a:bodyPr wrap="square" lIns="0" tIns="0" rIns="0" bIns="0" rtlCol="0" anchor="t"/>
          <a:lstStyle/>
          <a:p>
            <a:pPr indent="0" marL="0">
              <a:buNone/>
            </a:pPr>
            <a:r>
              <a:rPr lang="en-US" sz="1900" dirty="0">
                <a:solidFill>
                  <a:srgbClr val="D9D4CA"/>
                </a:solidFill>
                <a:latin typeface="Calibri" pitchFamily="34" charset="0"/>
                <a:ea typeface="Calibri" pitchFamily="34" charset="-122"/>
                <a:cs typeface="Calibri" pitchFamily="34" charset="-120"/>
              </a:rPr>
              <a:t>Suraj's per-experiment figures; the detailed 39-slide deck has every Guiv experiment with full captions.</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Each concept is measured on the activation alone, with lines fixed before any reader ran</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08–11 · Jarus77/mats-nla-workspace @ 4d43ecb2</a:t>
            </a:r>
            <a:endParaRPr lang="en-US" sz="1000" dirty="0"/>
          </a:p>
        </p:txBody>
      </p:sp>
      <p:pic>
        <p:nvPicPr>
          <p:cNvPr id="7" name="Image 0" descr="/tmp/claude-0/-home-claude/34b6ba06-a811-5fbc-ba65-146b4f52e6b8/scratchpad/comb/img/s08.png">    </p:cNvPr>
          <p:cNvPicPr>
            <a:picLocks noChangeAspect="1"/>
          </p:cNvPicPr>
          <p:nvPr/>
        </p:nvPicPr>
        <p:blipFill>
          <a:blip r:embed="rId1"/>
          <a:stretch>
            <a:fillRect/>
          </a:stretch>
        </p:blipFill>
        <p:spPr>
          <a:xfrm>
            <a:off x="792032" y="1417320"/>
            <a:ext cx="10604888" cy="48463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The language control: the NLA states it, Oracle Lens writes in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02, 12, 18 · Jarus77/mats-nla-workspace @ 4d43ecb2</a:t>
            </a:r>
            <a:endParaRPr lang="en-US" sz="1000" dirty="0"/>
          </a:p>
        </p:txBody>
      </p:sp>
      <p:pic>
        <p:nvPicPr>
          <p:cNvPr id="7" name="Image 0" descr="/tmp/claude-0/-home-claude/34b6ba06-a811-5fbc-ba65-146b4f52e6b8/scratchpad/comb/img/s09.png">    </p:cNvPr>
          <p:cNvPicPr>
            <a:picLocks noChangeAspect="1"/>
          </p:cNvPicPr>
          <p:nvPr/>
        </p:nvPicPr>
        <p:blipFill>
          <a:blip r:embed="rId1"/>
          <a:stretch>
            <a:fillRect/>
          </a:stretch>
        </p:blipFill>
        <p:spPr>
          <a:xfrm>
            <a:off x="837309" y="1417320"/>
            <a:ext cx="10514334" cy="4846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Asked, the NLA detects the position rows; unprompted, Oracle Lens states none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12, 13 · Jarus77/mats-nla-workspace @ 4d43ecb2</a:t>
            </a:r>
            <a:endParaRPr lang="en-US" sz="1000" dirty="0"/>
          </a:p>
        </p:txBody>
      </p:sp>
      <p:pic>
        <p:nvPicPr>
          <p:cNvPr id="7" name="Image 0" descr="/tmp/claude-0/-home-claude/34b6ba06-a811-5fbc-ba65-146b4f52e6b8/scratchpad/comb/img/s10.png">    </p:cNvPr>
          <p:cNvPicPr>
            <a:picLocks noChangeAspect="1"/>
          </p:cNvPicPr>
          <p:nvPr/>
        </p:nvPicPr>
        <p:blipFill>
          <a:blip r:embed="rId1"/>
          <a:stretch>
            <a:fillRect/>
          </a:stretch>
        </p:blipFill>
        <p:spPr>
          <a:xfrm>
            <a:off x="956937" y="1417320"/>
            <a:ext cx="10275078" cy="484632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With six columns, the NLA separates first from late, never picks 4 to 6</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17 · Jarus77/mats-nla-workspace @ 4d43ecb2</a:t>
            </a:r>
            <a:endParaRPr lang="en-US" sz="1000" dirty="0"/>
          </a:p>
        </p:txBody>
      </p:sp>
      <p:pic>
        <p:nvPicPr>
          <p:cNvPr id="7" name="Image 0" descr="/tmp/claude-0/-home-claude/34b6ba06-a811-5fbc-ba65-146b4f52e6b8/scratchpad/comb/img/s11.png">    </p:cNvPr>
          <p:cNvPicPr>
            <a:picLocks noChangeAspect="1"/>
          </p:cNvPicPr>
          <p:nvPr/>
        </p:nvPicPr>
        <p:blipFill>
          <a:blip r:embed="rId1"/>
          <a:stretch>
            <a:fillRect/>
          </a:stretch>
        </p:blipFill>
        <p:spPr>
          <a:xfrm>
            <a:off x="679366" y="1417320"/>
            <a:ext cx="10830219" cy="48463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Reconstructors rebuild position from real text, not from a sentence that states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15 · Jarus77/mats-nla-workspace @ 4d43ecb2</a:t>
            </a:r>
            <a:endParaRPr lang="en-US" sz="1000" dirty="0"/>
          </a:p>
        </p:txBody>
      </p:sp>
      <p:pic>
        <p:nvPicPr>
          <p:cNvPr id="7" name="Image 0" descr="/tmp/claude-0/-home-claude/34b6ba06-a811-5fbc-ba65-146b4f52e6b8/scratchpad/comb/img/s12.png">    </p:cNvPr>
          <p:cNvPicPr>
            <a:picLocks noChangeAspect="1"/>
          </p:cNvPicPr>
          <p:nvPr/>
        </p:nvPicPr>
        <p:blipFill>
          <a:blip r:embed="rId1"/>
          <a:stretch>
            <a:fillRect/>
          </a:stretch>
        </p:blipFill>
        <p:spPr>
          <a:xfrm>
            <a:off x="596329" y="1417320"/>
            <a:ext cx="10996294" cy="484632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A direction built from a statement moves both readers but not the model</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15, 17 · Jarus77/mats-nla-workspace @ 4d43ecb2</a:t>
            </a:r>
            <a:endParaRPr lang="en-US" sz="1000" dirty="0"/>
          </a:p>
        </p:txBody>
      </p:sp>
      <p:pic>
        <p:nvPicPr>
          <p:cNvPr id="7" name="Image 0" descr="/tmp/claude-0/-home-claude/34b6ba06-a811-5fbc-ba65-146b4f52e6b8/scratchpad/comb/img/s13.png">    </p:cNvPr>
          <p:cNvPicPr>
            <a:picLocks noChangeAspect="1"/>
          </p:cNvPicPr>
          <p:nvPr/>
        </p:nvPicPr>
        <p:blipFill>
          <a:blip r:embed="rId1"/>
          <a:stretch>
            <a:fillRect/>
          </a:stretch>
        </p:blipFill>
        <p:spPr>
          <a:xfrm>
            <a:off x="920778" y="1417320"/>
            <a:ext cx="10347397" cy="48463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Negative result: exp 18 missed its bar; the NLA does not state what the model uses</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18 · Jarus77/mats-nla-workspace @ 4d43ecb2</a:t>
            </a:r>
            <a:endParaRPr lang="en-US" sz="1000" dirty="0"/>
          </a:p>
        </p:txBody>
      </p:sp>
      <p:pic>
        <p:nvPicPr>
          <p:cNvPr id="7" name="Image 0" descr="/tmp/claude-0/-home-claude/34b6ba06-a811-5fbc-ba65-146b4f52e6b8/scratchpad/comb/img/s15.png">    </p:cNvPr>
          <p:cNvPicPr>
            <a:picLocks noChangeAspect="1"/>
          </p:cNvPicPr>
          <p:nvPr/>
        </p:nvPicPr>
        <p:blipFill>
          <a:blip r:embed="rId1"/>
          <a:stretch>
            <a:fillRect/>
          </a:stretch>
        </p:blipFill>
        <p:spPr>
          <a:xfrm>
            <a:off x="982164" y="1417320"/>
            <a:ext cx="10224624" cy="48463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Withdrawn: the statement shift separates language from structure, not rows within structure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28 · Jarus77/mats-nla-workspace @ 4d43ecb2</a:t>
            </a:r>
            <a:endParaRPr lang="en-US" sz="1000" dirty="0"/>
          </a:p>
        </p:txBody>
      </p:sp>
      <p:pic>
        <p:nvPicPr>
          <p:cNvPr id="7" name="Image 0" descr="/tmp/claude-0/-home-claude/34b6ba06-a811-5fbc-ba65-146b4f52e6b8/scratchpad/comb/img/s17.png">    </p:cNvPr>
          <p:cNvPicPr>
            <a:picLocks noChangeAspect="1"/>
          </p:cNvPicPr>
          <p:nvPr/>
        </p:nvPicPr>
        <p:blipFill>
          <a:blip r:embed="rId1"/>
          <a:stretch>
            <a:fillRect/>
          </a:stretch>
        </p:blipFill>
        <p:spPr>
          <a:xfrm>
            <a:off x="849294" y="1417320"/>
            <a:ext cx="10490363" cy="484632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The state is in the model's window and in both readers' words; shuffling removes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20 · Jarus77/mats-nla-workspace @ 4d43ecb2</a:t>
            </a:r>
            <a:endParaRPr lang="en-US" sz="1000" dirty="0"/>
          </a:p>
        </p:txBody>
      </p:sp>
      <p:pic>
        <p:nvPicPr>
          <p:cNvPr id="7" name="Image 0" descr="/tmp/claude-0/-home-claude/34b6ba06-a811-5fbc-ba65-146b4f52e6b8/scratchpad/comb/img/s18.png">    </p:cNvPr>
          <p:cNvPicPr>
            <a:picLocks noChangeAspect="1"/>
          </p:cNvPicPr>
          <p:nvPr/>
        </p:nvPicPr>
        <p:blipFill>
          <a:blip r:embed="rId1"/>
          <a:stretch>
            <a:fillRect/>
          </a:stretch>
        </p:blipFill>
        <p:spPr>
          <a:xfrm>
            <a:off x="769825" y="1417320"/>
            <a:ext cx="10649301" cy="48463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At random read points Oracle Lens never states 'inside a string', yet its words carry it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23, 27 · Jarus77/mats-nla-workspace @ 4d43ecb2</a:t>
            </a:r>
            <a:endParaRPr lang="en-US" sz="1000" dirty="0"/>
          </a:p>
        </p:txBody>
      </p:sp>
      <p:pic>
        <p:nvPicPr>
          <p:cNvPr id="7" name="Image 0" descr="/tmp/claude-0/-home-claude/34b6ba06-a811-5fbc-ba65-146b4f52e6b8/scratchpad/comb/img/s19.png">    </p:cNvPr>
          <p:cNvPicPr>
            <a:picLocks noChangeAspect="1"/>
          </p:cNvPicPr>
          <p:nvPr/>
        </p:nvPicPr>
        <p:blipFill>
          <a:blip r:embed="rId1"/>
          <a:stretch>
            <a:fillRect/>
          </a:stretch>
        </p:blipFill>
        <p:spPr>
          <a:xfrm>
            <a:off x="850408" y="1417320"/>
            <a:ext cx="10488136" cy="484632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Two checks agree: Oracle Lens's words carry the state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exps 24, 25 · Jarus77/mats-nla-workspace @ 4d43ecb2</a:t>
            </a:r>
            <a:endParaRPr lang="en-US" sz="1000" dirty="0"/>
          </a:p>
        </p:txBody>
      </p:sp>
      <p:pic>
        <p:nvPicPr>
          <p:cNvPr id="7" name="Image 0" descr="/tmp/claude-0/-home-claude/34b6ba06-a811-5fbc-ba65-146b4f52e6b8/scratchpad/comb/img/s20.png">    </p:cNvPr>
          <p:cNvPicPr>
            <a:picLocks noChangeAspect="1"/>
          </p:cNvPicPr>
          <p:nvPr/>
        </p:nvPicPr>
        <p:blipFill>
          <a:blip r:embed="rId1"/>
          <a:stretch>
            <a:fillRect/>
          </a:stretch>
        </p:blipFill>
        <p:spPr>
          <a:xfrm>
            <a:off x="769825" y="1417320"/>
            <a:ext cx="10649301" cy="48463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Oracle Lens carries the state and never names it, at every layer from 20 to 60</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26 · Jarus77/mats-nla-workspace @ 4d43ecb2</a:t>
            </a:r>
            <a:endParaRPr lang="en-US" sz="1000" dirty="0"/>
          </a:p>
        </p:txBody>
      </p:sp>
      <p:pic>
        <p:nvPicPr>
          <p:cNvPr id="7" name="Image 0" descr="/tmp/claude-0/-home-claude/34b6ba06-a811-5fbc-ba65-146b4f52e6b8/scratchpad/comb/img/s21.png">    </p:cNvPr>
          <p:cNvPicPr>
            <a:picLocks noChangeAspect="1"/>
          </p:cNvPicPr>
          <p:nvPr/>
        </p:nvPicPr>
        <p:blipFill>
          <a:blip r:embed="rId1"/>
          <a:stretch>
            <a:fillRect/>
          </a:stretch>
        </p:blipFill>
        <p:spPr>
          <a:xfrm>
            <a:off x="820036" y="1417320"/>
            <a:ext cx="10548880" cy="484632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Along RL, reconstruction and code-language naming rise; structural naming stays flat</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29 · Jarus77/mats-nla-workspace @ 4d43ecb2</a:t>
            </a:r>
            <a:endParaRPr lang="en-US" sz="1000" dirty="0"/>
          </a:p>
        </p:txBody>
      </p:sp>
      <p:pic>
        <p:nvPicPr>
          <p:cNvPr id="7" name="Image 0" descr="/tmp/claude-0/-home-claude/34b6ba06-a811-5fbc-ba65-146b4f52e6b8/scratchpad/comb/img/s22.png">    </p:cNvPr>
          <p:cNvPicPr>
            <a:picLocks noChangeAspect="1"/>
          </p:cNvPicPr>
          <p:nvPr/>
        </p:nvPicPr>
        <p:blipFill>
          <a:blip r:embed="rId1"/>
          <a:stretch>
            <a:fillRect/>
          </a:stretch>
        </p:blipFill>
        <p:spPr>
          <a:xfrm>
            <a:off x="694206" y="1417320"/>
            <a:ext cx="10800540" cy="484632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Naming costs the reward nothing and is right where readable, but does not generalise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exp 30 · Jarus77/mats-nla-workspace @ 4d43ecb2</a:t>
            </a:r>
            <a:endParaRPr lang="en-US" sz="1000" dirty="0"/>
          </a:p>
        </p:txBody>
      </p:sp>
      <p:pic>
        <p:nvPicPr>
          <p:cNvPr id="7" name="Image 0" descr="/tmp/claude-0/-home-claude/34b6ba06-a811-5fbc-ba65-146b4f52e6b8/scratchpad/comb/img/s23.png">    </p:cNvPr>
          <p:cNvPicPr>
            <a:picLocks noChangeAspect="1"/>
          </p:cNvPicPr>
          <p:nvPr/>
        </p:nvPicPr>
        <p:blipFill>
          <a:blip r:embed="rId1"/>
          <a:stretch>
            <a:fillRect/>
          </a:stretch>
        </p:blipFill>
        <p:spPr>
          <a:xfrm>
            <a:off x="948759" y="1417320"/>
            <a:ext cx="10291435" cy="484632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457200" y="320040"/>
            <a:ext cx="11274552" cy="868680"/>
          </a:xfrm>
          <a:prstGeom prst="rect">
            <a:avLst/>
          </a:prstGeom>
          <a:solidFill>
            <a:srgbClr val="F7F5EF"/>
          </a:solidFill>
          <a:ln w="9525">
            <a:solidFill>
              <a:srgbClr val="1F2A33"/>
            </a:solidFill>
            <a:prstDash val="solid"/>
          </a:ln>
        </p:spPr>
      </p:sp>
      <p:sp>
        <p:nvSpPr>
          <p:cNvPr id="3" name="Text 1"/>
          <p:cNvSpPr/>
          <p:nvPr/>
        </p:nvSpPr>
        <p:spPr>
          <a:xfrm>
            <a:off x="658368" y="320040"/>
            <a:ext cx="10881360" cy="868680"/>
          </a:xfrm>
          <a:prstGeom prst="rect">
            <a:avLst/>
          </a:prstGeom>
          <a:noFill/>
          <a:ln/>
        </p:spPr>
        <p:txBody>
          <a:bodyPr wrap="square" lIns="0" tIns="0" rIns="0" bIns="0" rtlCol="0" anchor="ctr"/>
          <a:lstStyle/>
          <a:p>
            <a:pPr indent="0" marL="0">
              <a:buNone/>
            </a:pPr>
            <a:r>
              <a:rPr lang="en-US" sz="2500" b="1" dirty="0">
                <a:solidFill>
                  <a:srgbClr val="1F2A33"/>
                </a:solidFill>
                <a:latin typeface="Calibri" pitchFamily="34" charset="0"/>
                <a:ea typeface="Calibri" pitchFamily="34" charset="-122"/>
                <a:cs typeface="Calibri" pitchFamily="34" charset="-120"/>
              </a:rPr>
              <a:t>We dropped six ideas during the sprint, each on a logged date</a:t>
            </a:r>
            <a:endParaRPr lang="en-US" sz="2500" dirty="0"/>
          </a:p>
        </p:txBody>
      </p:sp>
      <p:sp>
        <p:nvSpPr>
          <p:cNvPr id="4" name="Text 2"/>
          <p:cNvSpPr/>
          <p:nvPr/>
        </p:nvSpPr>
        <p:spPr>
          <a:xfrm>
            <a:off x="9875520" y="54864"/>
            <a:ext cx="1856232" cy="237744"/>
          </a:xfrm>
          <a:prstGeom prst="rect">
            <a:avLst/>
          </a:prstGeom>
          <a:noFill/>
          <a:ln/>
        </p:spPr>
        <p:txBody>
          <a:bodyPr wrap="square" lIns="0" tIns="0" rIns="0" bIns="0" rtlCol="0" anchor="t"/>
          <a:lstStyle/>
          <a:p>
            <a:pPr algn="r" indent="0" marL="0">
              <a:buNone/>
            </a:pPr>
            <a:r>
              <a:rPr lang="en-US" sz="1100" dirty="0">
                <a:solidFill>
                  <a:srgbClr val="56606B"/>
                </a:solidFill>
                <a:latin typeface="Calibri" pitchFamily="34" charset="0"/>
                <a:ea typeface="Calibri" pitchFamily="34" charset="-122"/>
                <a:cs typeface="Calibri" pitchFamily="34" charset="-120"/>
              </a:rPr>
              <a:t>SURAJ</a:t>
            </a:r>
            <a:endParaRPr lang="en-US" sz="1100" dirty="0"/>
          </a:p>
        </p:txBody>
      </p:sp>
      <p:sp>
        <p:nvSpPr>
          <p:cNvPr id="5" name="Text 3"/>
          <p:cNvSpPr/>
          <p:nvPr/>
        </p:nvSpPr>
        <p:spPr>
          <a:xfrm>
            <a:off x="457200" y="6419088"/>
            <a:ext cx="11247120" cy="274320"/>
          </a:xfrm>
          <a:prstGeom prst="rect">
            <a:avLst/>
          </a:prstGeom>
          <a:noFill/>
          <a:ln/>
        </p:spPr>
        <p:txBody>
          <a:bodyPr wrap="square" lIns="0" tIns="0" rIns="0" bIns="0" rtlCol="0" anchor="t"/>
          <a:lstStyle/>
          <a:p>
            <a:pPr indent="0" marL="0">
              <a:buNone/>
            </a:pPr>
            <a:r>
              <a:rPr lang="en-US" sz="1000" dirty="0">
                <a:solidFill>
                  <a:srgbClr val="56606B"/>
                </a:solidFill>
                <a:latin typeface="Calibri" pitchFamily="34" charset="0"/>
                <a:ea typeface="Calibri" pitchFamily="34" charset="-122"/>
                <a:cs typeface="Calibri" pitchFamily="34" charset="-120"/>
              </a:rPr>
              <a:t>Suraj notes/decisions.md · Jarus77/mats-nla-workspace @ 4d43ecb2</a:t>
            </a:r>
            <a:endParaRPr lang="en-US" sz="1000" dirty="0"/>
          </a:p>
        </p:txBody>
      </p:sp>
      <p:pic>
        <p:nvPicPr>
          <p:cNvPr id="7" name="Image 0" descr="/tmp/claude-0/-home-claude/34b6ba06-a811-5fbc-ba65-146b4f52e6b8/scratchpad/comb/img/s29.png">    </p:cNvPr>
          <p:cNvPicPr>
            <a:picLocks noChangeAspect="1"/>
          </p:cNvPicPr>
          <p:nvPr/>
        </p:nvPicPr>
        <p:blipFill>
          <a:blip r:embed="rId1"/>
          <a:stretch>
            <a:fillRect/>
          </a:stretch>
        </p:blipFill>
        <p:spPr>
          <a:xfrm>
            <a:off x="792032" y="1417320"/>
            <a:ext cx="10604888" cy="4846320"/>
          </a:xfrm>
          <a:prstGeom prst="rect">
            <a:avLst/>
          </a:prstGeom>
        </p:spPr>
      </p:pic>
    </p:spTree>
  </p:cSld>
  <p:clrMapOvr>
    <a:masterClrMapping/>
  </p:clrMapOvr>
</p:sld>
</file>

<file path=ppt/theme/theme1.xml><?xml version="1.0" encoding="utf-8"?>
<a:theme xmlns:a="http://schemas.openxmlformats.org/drawingml/2006/main" name="Readers-Editorial">
  <a:themeElements>
    <a:clrScheme name="Readers-Editorial">
      <a:dk1>
        <a:srgbClr val="1F2A33"/>
      </a:dk1>
      <a:lt1>
        <a:srgbClr val="F7F5EF"/>
      </a:lt1>
      <a:dk2>
        <a:srgbClr val="56606B"/>
      </a:dk2>
      <a:lt2>
        <a:srgbClr val="ECE7DC"/>
      </a:lt2>
      <a:accent1>
        <a:srgbClr val="6A4C9C"/>
      </a:accent1>
      <a:accent2>
        <a:srgbClr val="C8622B"/>
      </a:accent2>
      <a:accent3>
        <a:srgbClr val="B03060"/>
      </a:accent3>
      <a:accent4>
        <a:srgbClr val="9A948A"/>
      </a:accent4>
      <a:accent5>
        <a:srgbClr val="2E7F7A"/>
      </a:accent5>
      <a:accent6>
        <a:srgbClr val="E2DDD3"/>
      </a:accent6>
      <a:hlink>
        <a:srgbClr val="6A4C9C"/>
      </a:hlink>
      <a:folHlink>
        <a:srgbClr val="56606B"/>
      </a:folHlink>
    </a:clrScheme>
    <a:fontScheme name="Readers-Editori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do meta-models reveal more than the prompt?</dc:title>
  <dc:subject>PptxGenJS Presentation</dc:subject>
  <dc:creator>Guiv Farmanfarmaian and Suraj Prasad</dc:creator>
  <cp:lastModifiedBy>Guiv Farmanfarmaian and Suraj Prasad</cp:lastModifiedBy>
  <cp:revision>1</cp:revision>
  <dcterms:created xsi:type="dcterms:W3CDTF">2026-10-30T18:23:09Z</dcterms:created>
  <dcterms:modified xsi:type="dcterms:W3CDTF">2026-10-30T18:23:09Z</dcterms:modified>
</cp:coreProperties>
</file>