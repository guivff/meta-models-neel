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12192000"/>
  <p:notesSz cx="6858000" cy="12192000"/>
  <p:embeddedFontLst>
    <p:embeddedFont>
      <p:font typeface="Source Sans 3"/>
      <p:regular r:id="rId64"/>
      <p:bold r:id="rId65"/>
      <p:italic r:id="rId66"/>
      <p:boldItalic r:id="rId67"/>
    </p:embeddedFont>
    <p:embeddedFont>
      <p:font typeface="Lora"/>
      <p:regular r:id="rId68"/>
      <p:bold r:id="rId69"/>
      <p:italic r:id="rId70"/>
      <p:boldItalic r:id="rId71"/>
    </p:embeddedFont>
    <p:embeddedFont>
      <p:font typeface="Roboto Mono"/>
      <p:regular r:id="rId72"/>
      <p:bold r:id="rId73"/>
      <p:italic r:id="rId74"/>
      <p:boldItalic r:id="rId75"/>
    </p:embeddedFont>
    <p:embeddedFont>
      <p:font typeface="Cambria Math"/>
      <p:regular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B5109F-639B-4A67-95FE-57FE99D5622F}">
  <a:tblStyle styleId="{82B5109F-639B-4A67-95FE-57FE99D5622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A4568F9-5AD6-445C-B7C7-6825933DB07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ono-bold.fntdata"/><Relationship Id="rId72" Type="http://schemas.openxmlformats.org/officeDocument/2006/relationships/font" Target="fonts/RobotoMono-regular.fntdata"/><Relationship Id="rId31" Type="http://schemas.openxmlformats.org/officeDocument/2006/relationships/slide" Target="slides/slide26.xml"/><Relationship Id="rId75" Type="http://schemas.openxmlformats.org/officeDocument/2006/relationships/font" Target="fonts/RobotoMono-boldItalic.fntdata"/><Relationship Id="rId30" Type="http://schemas.openxmlformats.org/officeDocument/2006/relationships/slide" Target="slides/slide25.xml"/><Relationship Id="rId74" Type="http://schemas.openxmlformats.org/officeDocument/2006/relationships/font" Target="fonts/RobotoMono-italic.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CambriaMath-regular.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ora-boldItalic.fntdata"/><Relationship Id="rId70" Type="http://schemas.openxmlformats.org/officeDocument/2006/relationships/font" Target="fonts/Lora-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SourceSans3-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SourceSans3-italic.fntdata"/><Relationship Id="rId21" Type="http://schemas.openxmlformats.org/officeDocument/2006/relationships/slide" Target="slides/slide16.xml"/><Relationship Id="rId65" Type="http://schemas.openxmlformats.org/officeDocument/2006/relationships/font" Target="fonts/SourceSans3-bold.fntdata"/><Relationship Id="rId24" Type="http://schemas.openxmlformats.org/officeDocument/2006/relationships/slide" Target="slides/slide19.xml"/><Relationship Id="rId68" Type="http://schemas.openxmlformats.org/officeDocument/2006/relationships/font" Target="fonts/Lora-regular.fntdata"/><Relationship Id="rId23" Type="http://schemas.openxmlformats.org/officeDocument/2006/relationships/slide" Target="slides/slide18.xml"/><Relationship Id="rId67" Type="http://schemas.openxmlformats.org/officeDocument/2006/relationships/font" Target="fonts/SourceSans3-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ora-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h5625c889e510313e_9_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h5625c889e510313e_9_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23" name="Google Shape;23;h5625c889e510313e_9_2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h5625c889e510313e_9_3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0" name="Google Shape;40;h5625c889e510313e_9_34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5625c889e510313e_19_247: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74" name="Google Shape;74;h5625c889e510313e_19_24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5625c889e510313e_9_3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h5625c889e510313e_9_3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89" name="Google Shape;89;h5625c889e510313e_9_3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5625c889e510313e_9_5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h5625c889e510313e_9_5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51" name="Google Shape;151;h5625c889e510313e_9_5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5625c889e510313e_9_5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h5625c889e510313e_9_5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94" name="Google Shape;194;h5625c889e510313e_9_5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h5625c889e510313e_19_1951: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h5625c889e510313e_19_195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Before trusting any reader result we checked the tools. First, does the NLA work as published? Its critic rebuilds the layer-42 activation from the NLA's explanation with reconstruction 0.761, against 0.766 on the model card; the warm start before RL gets 0.46 and a text model writing from the source text 0.28. Second, Oracle Lens's published lead on WorkspaceBench: it counts an item as passed if any of 11 layers passes. At the matched layer 42 the NLA passes 187 of 400 and Oracle Lens 159; Oracle Lens's best single layer reaches 201 and any-of-11 258. Part of that bonus is just eleven samples. So both readers work, and the published ranking reflects layer selection.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h5625c889e510313e_9_6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h5625c889e510313e_9_6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275" name="Google Shape;275;h5625c889e510313e_9_6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5625c889e510313e_9_6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h5625c889e510313e_9_6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306" name="Google Shape;306;h5625c889e510313e_9_6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h5625c889e510313e_9_7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h5625c889e510313e_9_7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342" name="Google Shape;342;h5625c889e510313e_9_7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5625c889e510313e_9_7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h5625c889e510313e_9_7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379" name="Google Shape;379;h5625c889e510313e_9_7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h5625c889e510313e_19_2265: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h5625c889e510313e_19_226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Our first result was about the benchmark the readers were built against. One judge answers WorkspaceBench from different inputs. The prompt alone gets 0.89. The NLA's readout alone gets 0.60 and Oracle Lens's 0.56. Prompt plus readout gets 0.88, so the readout adds nothing the prompt lacks. None of the NLA's 187 passes is out of reach of prompt-only text: each one is matched by at least one of eight prompt-only texts. And with the prompt at 0.89, only about 11 percent of items are left where reading could show at all. The card shows why: on this typo item the NLA gets 'aleatoric', and so does the same model reading only the prompt. So to ask what a reader captures, we held the text fixed and moved only the activation.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5625c889e510313e_19_39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h5625c889e510313e_19_39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5625c889e510313e_9_8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h5625c889e510313e_9_8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93" name="Google Shape;493;h5625c889e510313e_9_8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5625c889e510313e_19_2105: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h5625c889e510313e_19_210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Mechanism, part one. Oracle Lens's own reconstructor rebuilds the activation from text. Given the true last 32 tokens, a probe on the rebuild separates table column at 1.00 and parenthesis at 0.93. Given a one-line statement of the property, like 'column one' against 'column five', the rebuild moves 0.03 of the class gap for table column and 0.10 for parenthesis. Even '- French language' moves it only 0.10, while a bullet written in French moves it 1.39. Through the NLA's critic the statements give 0.07 and minus 0.05, and 0.72 for language. So a reconstructor sees position in real text and nearly ignores a sentence that states it, which means a reconstruction reward has little reason to pay for statements. These are aggregates without intervals.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5625c889e510313e_19_2186: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h5625c889e510313e_19_218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Part two, and the part I think matters most for monitoring. We push the activation along a direction and measure the shift, as a z against 20 random directions of the same size. Along the class-mean direction for table column, the model's own newline odds move at z plus 7.1. Along the direction rebuilt from a statement, 'the current cell is in the first column', the model barely moves, plus 0.7, yet Oracle Lens follows it at plus 12.3 and the J-lens at plus 10.1. For parenthesis the statement direction moves the model the wrong way, minus 3.6. If you use a reader as a monitor, this is the caveat: a reader can follow a direction the model ignores, and a silent reader is not evidence that the model lacks the state.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5625c889e510313e_19_138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h5625c889e510313e_19_138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Now H2: why does the NLA state structure less than it could? Exp 29 scores ten points along its own training history on the public bank. The text-only warm start, the base model given the text, states structure most. The activation warm start drops that, and 800 RL steps leave it flat, between 0 and 0.29 per row with no trend. Over the same steps, reconstruction on Python strings rises from 0.18 to 0.59 FVE, and stating the code language, the control, from 0.55 to 0.76. The card shows one item: the text-only register writes 'error message text'; after RL the NLA describes the continuation. On all in-string readouts that's 142 against 59 of 160: less often, not rarely. One final critic scores all checkpoints.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5625c889e510313e_19_1446: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h5625c889e510313e_19_144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If the reward neither pays nor charges for statements, teaching the NLA to name should cost nothing. Exp 30 trains a 400-step supervised adapter to append one true statement. Reconstruction is unchanged: 0.507 against 0.512 for the control. On held-out files of rows the probe reads, the statement is right 0.79 to 1.00 of the time when it's made; on Markdown rows, which the probe barely reads, it's near chance. It doesn't generalise: on JavaScript strings it names half the time, on LaTeX math almost never. One thing to flag: the base NLA's zero is a substring test for the trained sentence. On the card's item the base NLA already says 'inside a quoted error string' in its own words. Three of five predictions failed, all on generalisation.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655" name="Google Shape;65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h5625c889e510313e_9_13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h5625c889e510313e_9_13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772" name="Google Shape;772;h5625c889e510313e_9_13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h5625c889e510313e_9_9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5" name="Google Shape;795;h5625c889e510313e_9_9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19 · 29:20–30:50 · Guiv · 90 seconds]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E133 and E137 remove artificial steering entirely. Build matched raw transfer chains with different final holders and compare answer-pair logits. Swap exactly one final raw token decoded as ' by' between natural twins at each selected layer. Unlike E126 this is a donor twin swap, not clean restoration. E137 inserts later unrelated names, so the last-mentioned-name shortcut fails; the last successful handover remains a plausible shortcut. The metric is normalized toward the twin answer; report its distinct normalization, not the E126 R definition. Note paired items 42 in E137, with sampling/missingness separately for readouts.</a:t>
            </a:r>
            <a:endParaRPr/>
          </a:p>
        </p:txBody>
      </p:sp>
      <p:sp>
        <p:nvSpPr>
          <p:cNvPr id="796" name="Google Shape;796;h5625c889e510313e_9_9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h5625c889e510313e_9_13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h5625c889e510313e_9_13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843" name="Google Shape;843;h5625c889e510313e_9_13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h5625c889e510313e_9_13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863" name="Google Shape;863;h5625c889e510313e_9_138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h5625c889e510313e_9_14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907" name="Google Shape;907;h5625c889e510313e_9_143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h5625c889e510313e_9_14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924" name="Google Shape;924;h5625c889e510313e_9_145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h5625c889e510313e_9_14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4" name="Google Shape;954;h5625c889e510313e_9_14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26 · 40:55–42:40 · Guiv · 105 seconds]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First research-phase priority: a powered benchmark of model-private states, not merely answer-discordant paraphrases. Mine reproducible cases where the subject has a state differing from a matched text-only predictor, and check it via actual generated behavior plus preregistered local causal patches. Cross question identity same/different with subject answer state same/different. Score explicit correct reporting at matched coverage, count missing as failures, quantify false statement costs, and use human-validated labels. The primary effect of interest is at least a 15-point advantage over best text-only baseline with enough power for meaningful confidence intervals.</a:t>
            </a:r>
            <a:endParaRPr/>
          </a:p>
        </p:txBody>
      </p:sp>
      <p:sp>
        <p:nvSpPr>
          <p:cNvPr id="955" name="Google Shape;955;h5625c889e510313e_9_14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h5625c889e510313e_9_15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1" name="Google Shape;981;h5625c889e510313e_9_15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27 · 42:40–44:10 · Suraj · 90 seconds]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Only after determining what private information is accessible should we optimize the reader. First evaluate the exact NLA training reward on matched true, false, neutral and exhibiting statements: E139 used only a proxy. Then train from one warm start in reconstruction-only versus a matched verified statement-reward arm with at least three seeds each. Keep model interface, data, compute, and evaluation constant. Report correct assertions, false assertions, per-item and held-out property rates, and FVE together. A naming increase without truthful generalization would not be success. This cleanly separates a reward mechanism from format-prior and supervision explanations.</a:t>
            </a:r>
            <a:endParaRPr/>
          </a:p>
        </p:txBody>
      </p:sp>
      <p:sp>
        <p:nvSpPr>
          <p:cNvPr id="982" name="Google Shape;982;h5625c889e510313e_9_15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h5625c889e510313e_9_15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8" name="Google Shape;1008;h5625c889e510313e_9_15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28 · 44:10–45:00 · Joint · 50 seconds]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Our takeaway: what is linearly decodable, what is locally causal at a sampled token and what is explicitly stated by a reader are different quantities. We found structured omissions, strong depth-dependent read-token interventions, limited evidence for natural answer tracking, and possible counterexamples requiring matched baselines. The complete mechanism remains unresolved. We propose one falsifiable benchmark for genuinely model-private information, then a matched training intervention if that information is present. Invite Neel to challenge the benchmark design and the most informative next experiment.</a:t>
            </a:r>
            <a:endParaRPr/>
          </a:p>
        </p:txBody>
      </p:sp>
      <p:sp>
        <p:nvSpPr>
          <p:cNvPr id="1009" name="Google Shape;1009;h5625c889e510313e_9_15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h5625c889e510313e_9_15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3" name="Google Shape;1023;h5625c889e510313e_9_15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 Use as the jump table. Frozen commits: Guiv c60fa9703f6dadc8150e11b0c2d5bbe899db02bc (r/blindspot), Suraj 4d43ecb2ef8f2cfab9d8ef673a1c7f56380460fd. An earlier pin 7867049ff was an ancestor; the 8 commits since add E95 certification and reviewer logs, no result used in this deck changed. REGISTRATION.json labels the programme 'EXPLORATORY; every result reported'; later sections register explicit pass/fail rules, which is what MET / NOT MET refer to.</a:t>
            </a:r>
            <a:endParaRPr/>
          </a:p>
        </p:txBody>
      </p:sp>
      <p:sp>
        <p:nvSpPr>
          <p:cNvPr id="1024" name="Google Shape;1024;h5625c889e510313e_9_15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h5625c889e510313e_19_1804: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h5625c889e510313e_19_180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Two hypotheses. H1, which I hold at about 85 percent: both readers carry position-in-text state, like being inside a string or which table column, in what they write, and mostly don't say it. Oracle Lens never states it. The NLA does state it in a minority of readouts, about one in four on the public bank, often loosely, for example 'a new row is starting' rather than 'first column'. H2, about 55 percent: the NLA's low rate is a habit from its warm start; the reconstruction reward neither pays for statements nor removes them. H2 rests on replaying one training run, so it is close to a coin flip. Every result slide ends with the sub-claim it bears on, and slide 20 scores them.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5625c889e510313e_19_188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h5625c889e510313e_19_188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Every number uses this setup. Each reader gets only the layer-42 activation at the read token, never the text. The NLA has it added at a marker inside its own prompt and writes an explanation; its critic rebuilds the vector from those words. Oracle Lens has it written into one slot character's embedding and writes bullets that read like continuations. The J-lens lists the top tokens of the activation's J-space projection. Below is one real item from the public bank, inside a Python error string. The NLA describes a truncated error message; Oracle Lens writes the message's continuation; the J-lens lists loosely related tokens. I picked this item by a declared rule, and it is atypical in one way: the NLA usually does use a word like 'string'.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h5625c889e510313e_19_204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h5625c889e510313e_19_20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Four measures, kept apart on purpose. Readable: can a linear probe on the activation tell the two values apart, with folds grouped by source file, line 0.80. Carries: does the reader's own text bring the state back. We feed the readout to the NLA's critic, rebuild the activation and score it with a probe trained on true activations, and we check with a plain word-count classifier that has no critic. States: does a blind judge, reading only the readout, say the text names the value. 'Names' is a strict regex. Used: does pushing the activation along the state's direction move the model's next token, as a z against 20 random directions of the same size. What is new relative to the two reader papers: they score what a reader says; we ask what its words carry without saying it, and whether the model uses it.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h5625c889e510313e_1_17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h5625c889e510313e_1_17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h5625c889e510313e_19_454: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h5625c889e510313e_19_45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h5625c889e510313e_19_70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h5625c889e510313e_19_70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h5625c889e510313e_19_805: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h5625c889e510313e_19_80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h5625c889e510313e_19_888: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h5625c889e510313e_19_88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After exp 18 we revised the NLA rules in writing and ran two prospective banks on real text, exp 19 and exp 22 on public files, which shares 229 of 1,461 source clusters with exp 19, so it only partly replicates it. Against the declared bar both looked close, but we had not pre-registered a baseline. Always predicting 'low' gets 33 of 38 on exp 19's primary cells against our 31, and ties at 30 on exp 22. Most cells are near-automatic. The revised NLA rules beat it, 14 against 11 and 12 against 9 of 16, and that margin comes from one rule, the NLA naming the complement value. We found this on 30 October recomputing every figure from raw files, after we had already quoted the scorecards as passing. The lesson I take: declare the baseline with the prediction.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h5625c889e510313e_19_98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h5625c889e510313e_19_98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Neel suggested asking whether the readers lose the state or just don't say it. Exp 25 tests that on exp 22's public bank, which shares 229 of 1,461 source clusters with exp 19's. We feed each reader's free readout to the NLA's critic, rebuild the activation, and score the rebuild with a probe trained on true activations. Oracle Lens's words carry string, math and JSON-depth state at 0.84 to 0.97; the NLA's at 0.97 to 1.00. The same window tokens shuffled fall to about chance on the string and math rows. The card is a typical Oracle Lens readout: it never says 'string', it just writes text shaped like the inside of an error message. Two caveats: the critic is the NLA's own, so the NLA's numbers are in distribution, and call argument is not carried by Oracle Lens, 0.51.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h5625c889e510313e_19_1092: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h5625c889e510313e_19_109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Banks are built around the state, so we also read at random points in random public documents, with nothing prompted. By the judge, Oracle Lens says 'inside a string' on 0 of 598 in-string readouts. The NLA does on 22 percent, against 2 percent outside strings, but most of that is JSON; on code points it is 35 of 102. Yet a plain word-count classifier on the readout text recovers in-string at 0.81 from the NLA and 0.72 from Oracle Lens, against 0.86 from the activation itself. A flaw to flag: the word 'string' is not evidence of stating. The NLA uses string or quote words on 114 of 160 in-string readouts and 82 of 160 outside ones, in 'docstring' or 'f-string'. That's why we rely on the judge, which has no human labels yet.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h5625c889e510313e_19_118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h5625c889e510313e_19_118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boring explanation for carrying is copying: the readers echo the last 32 tokens, and the state rides along. Exp 31, run on 30 October, tests that on the stored readouts. Both readers do reuse window words above chance, Oracle Lens about twice as much as the NLA, but three-word copies are almost absent. Then we delete every token that appears in the item's window, balanced across the two classes, and re-run the word-count classifier. The NLA doesn't move: 0.92 stays 0.92. Oracle Lens drops 0.01 to 0.07, most on LaTeX math, 0.77 to 0.70. And the readouts beat the window's own words on the string and math rows. So copying doesn't explain carrying. What this does not test is the critic measure, which needs a GPU.</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h5625c889e510313e_19_129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h5625c889e510313e_19_129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Three checks that the picture is not an artefact of one decoder, one bank or one layer. Left: exp 24 feeds the readouts to Oracle Lens's own reconstructor, which never saw either reader's output. Oracle Lens's readouts carry the state at 0.73 to 0.80 on five of six rows, call argument 0.61. The NLA's explanations sit at chance there and separate only with a refit probe, so the NLA half rests more on its own critic. Middle: Guiv's independent bank gave the NLA only 0.56 on table column; with our phrasings on his items it's 0.85, so the gap was phrasing. Right: Oracle Lens at all twelve read layers: the probe is near 1.00, the readout carries 0.81 to 0.92 by median, and names it in at most 2 percent.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h5625c889e510313e_19_1628: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h5625c889e510313e_19_162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Six ways the result could be boring. One: carrying is just copying the window. As of 30 October this is tested: exp 31 deleted every copied word and carrying barely moved, so it is ruled out for the word-level evidence, though we haven't recomputed the critic scores. Two: the judge can't see structure. Partly tested: it sees language and code language, but we've never validated it against humans. Three: one run, one layer, one model. Open. Four: the warm-start story is a replay without a counterfactual. Partly. Five: position features are trivially everywhere. Tested: shuffling removes them, and some rows are unreadable. Six: the rules are no better than always-low. Tested, and true.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h5625c889e510313e_19_1678: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h5625c889e510313e_19_167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LLM agents did most of the execution, so this is a fair question. Three things helped. We hashed pre-registrations for exps 18, 19 and 22 before any reader ran, so those predictions couldn't drift. Falsifiers fired: exp 18 failed, and the 0.30 rule and the window account were withdrawn, all dated in the decision log. A five-reviewer adversarial panel on 28 October found the confound between reward and warm start, and exps 28 to 30 came from it. It also slipped. The raw recompute on 30 October found 49 places where a written number disagreed with the raw files, about 23 distinct corrections. Two changed a conclusion: the always-low baseline and exp 19's exhibits cell. Agent summaries of agent work drifted, and only recomputing from raw caught it.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h5625c889e510313e_19_174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h5625c889e510313e_19_17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Five things I take away, as a student. First, I came in trusting the benchmark; the first week taught me that a score means something only once you know what it holds constant. Second, pre-registration alone wasn't enough: we hashed predictions and still missed that always predicting low matched our rules, so the baseline has to be declared with the prediction. Third, LLM agents did most of the execution, and the record drifted from the data in 49 places. Only recomputing from raw files caught it; I would now do it weekly. Fourth, the most useful day was the day exp 18 failed, because the repair became the organising idea. Fifth, reconstructors are nearly blind to descriptions, so whether a reader names a state seems to depend on its training register more than on what it can access.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6" name="Google Shape;158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A2. The failed rules we lean on in the talk. MET results used in the talk: E100 R-PC (5/5), E113 R-IN1, E126 R-MED1, E109 R-AR1, E140's same-answer reading. Exp 30 P1 is partly met (first clause only). E95 was not evaluable because its decision rule was never registered — our own gap.</a:t>
            </a:r>
            <a:endParaRPr/>
          </a:p>
        </p:txBody>
      </p:sp>
      <p:sp>
        <p:nvSpPr>
          <p:cNvPr id="1587" name="Google Shape;158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1" name="Google Shape;160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A3. If asked 'which token exactly': chat banks read the last token of the rendered prompt, which is the assistant onset after an empty think block (pre_answer in core/model.py). The fact bank reads the final 'is'. The chains read ' by' (token 539) with no chat template. Nothing here reads the first generated token of Qwen; E113's 'first generated token' is the reader's.</a:t>
            </a:r>
            <a:endParaRPr/>
          </a:p>
        </p:txBody>
      </p:sp>
      <p:sp>
        <p:nvSpPr>
          <p:cNvPr id="1602" name="Google Shape;1602;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6" name="Google Shape;16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A4. Related exploratory result (§248A, R-2): on 199 questions Qwen gets wrong, the Oracle states Qwen's wrong answer 0.32 vs an outside model's 0.24, and the truth 0.17 vs 0.61 — what shared weights answering the same question would give; its missingness envelope includes no difference. When Neel asks 'so does the reader follow the activation or not?': it follows large changes (a whole swapped vector, a 2.2× push read at 52+), and does not follow the small natural change in E140. E140 by block: 44 is 1/5, 52 is 1/12, 60 is 1/12; counting multi-value readouts as non-tracking, 1/24 at 60. Paraphrases also move text-only models, so E140 cannot say the task is text-proof.</a:t>
            </a:r>
            <a:endParaRPr/>
          </a:p>
        </p:txBody>
      </p:sp>
      <p:sp>
        <p:nvSpPr>
          <p:cNvPr id="1617" name="Google Shape;161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1" name="Google Shape;163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A5. The S formula: (donor-only − recipient-only) / kept. NLA S values are exploratory. Language continuation (S 0.61, 77 kept) has no category census. If asked whether the first-token probe could read the injected vector through attention trivially: yes, that is exactly what it shows — the state reaches generation positions — which is decodability, not use.</a:t>
            </a:r>
            <a:endParaRPr/>
          </a:p>
        </p:txBody>
      </p:sp>
      <p:sp>
        <p:nvSpPr>
          <p:cNvPr id="1632" name="Google Shape;1632;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7" name="Google Shape;1647;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A6. The word-level AUROCs for E136 are computed with the cue's own tokens removed, but 'confidently' and 'cheating' alone separate the arms, so 'carried in the words' may be the reader echoing the prompt's gist. E130's attempt to transfer a span classifier was uninformative (its positive control failed).</a:t>
            </a:r>
            <a:endParaRPr/>
          </a:p>
        </p:txBody>
      </p:sp>
      <p:sp>
        <p:nvSpPr>
          <p:cNvPr id="1648" name="Google Shape;1648;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4" name="Google Shape;1664;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A7. Use if Neel asks how strong the text-only baseline is, or what the 0.96 means. The matched comparison is one sample each; the union is coverage. The 0.57 resolve number is an instruction effect: given only the NLA's readout, a text model asked to name the entity recovers more than the NLA itself said. Precision: 0.62 of the NLA's checkable claims are supported by the prompt vs 0.92 for text-only (unsupported claims are excluded from this ratio). The NLA's gap is mostly contradicted claims (36%), mainly misquotations of the prompt, not unverifiable model-private content (6% unsupported).</a:t>
            </a:r>
            <a:endParaRPr/>
          </a:p>
        </p:txBody>
      </p:sp>
      <p:sp>
        <p:nvSpPr>
          <p:cNvPr id="1665" name="Google Shape;1665;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9" name="Google Shape;167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80" name="Google Shape;1680;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5" name="Google Shape;1695;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A9. The full table behind slide 13. Note json_depth: stated 0.11 at the warm start and ~0.2 through RL, but its FVE stays near zero even after RL — reconstruction is not uniformly good. Code language is the one property whose statements rise with RL (0.55 → 0.77 by step 100). The text-only column has no activation input; its FVE is the critic rebuilding from a text-only readout.</a:t>
            </a:r>
            <a:endParaRPr/>
          </a:p>
        </p:txBody>
      </p:sp>
      <p:sp>
        <p:nvSpPr>
          <p:cNvPr id="1696" name="Google Shape;1696;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0" name="Google Shape;171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A10. The honest scoring of exp 30. Only P1's first clause holds. The absolute reference 0.761 is from a different experiment with different items and a different baseline; Suraj has been asked to reconcile it and until then we say 'unreconciled'. At 500 random read positions the statement model says something about strings 28% of the time, correct 92, wrong 47, nothing 361 (accuracy over all points 0.184).</a:t>
            </a:r>
            <a:endParaRPr/>
          </a:p>
        </p:txBody>
      </p:sp>
      <p:sp>
        <p:nvSpPr>
          <p:cNvPr id="1711" name="Google Shape;1711;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6" name="Google Shape;172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A11. This is why experiment 2 starts with a step 0 under the exact reward. Intervals including zero mean the true-vs-false difference is unresolved, not that it is zero; we do not claim the training reward is indifferent to truth.</a:t>
            </a:r>
            <a:endParaRPr/>
          </a:p>
        </p:txBody>
      </p:sp>
      <p:sp>
        <p:nvSpPr>
          <p:cNvPr id="1727" name="Google Shape;1727;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2" name="Google Shape;1792;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A12. The block-52 random-direction reader result: because a random push flips the pair preference on half the items by chance, the reader reports the 'new' fact on 31/83 under random at 52 — the steered 84/84 is the contrast. Language-plan restoration is positive at all blocks (0.29–0.75) but descriptive only.</a:t>
            </a:r>
            <a:endParaRPr/>
          </a:p>
        </p:txBody>
      </p:sp>
      <p:sp>
        <p:nvSpPr>
          <p:cNvPr id="1793" name="Google Shape;1793;p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8" name="Google Shape;1808;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A13. Earlier-token and random controls in both chain experiments stay ≤ 0.03. E133 had a recency confound fixed in E137. R-Q's reading of E133: the failure 'is not universal absence nor state formed/readable by 44'.</a:t>
            </a:r>
            <a:endParaRPr/>
          </a:p>
        </p:txBody>
      </p:sp>
      <p:sp>
        <p:nvSpPr>
          <p:cNvPr id="1809" name="Google Shape;1809;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4" name="Google Shape;1824;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A14. E71's main error type is a false YES: the judge credits doing or naming as stating (adjective, rhyme, line-wrap, language rows). False NOs concentrate on the reasoning-bridge row. 63 = 100 − 36 without a judge reference − 1 unparseable. The E138 bug did not change the donor count (63/84 before and after); it invalidated the recipient control.</a:t>
            </a:r>
            <a:endParaRPr/>
          </a:p>
        </p:txBody>
      </p:sp>
      <p:sp>
        <p:nvSpPr>
          <p:cNvPr id="1825" name="Google Shape;1825;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2" name="Google Shape;1842;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[Appendix A15 · backup, not in the 45-minute run]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Could a cheap check catch a stale early readout? First the natural case: on 4,313 items where both readers answered (E94), reporting only when the Oracle and the NLA agree raises precision to 0.94 (943/1001) from 0.83 (Oracle alone), but covers only 23% of items instead of 40%. Then five tries on the steered fact bank.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 readers agree (E121): when the Oracle at 44 and NLA at 42 state the same value (35 of 84 items), all 35 are the old, wrong value. Agreement endorses the shared reconstruction.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Judge fit (E118): a context-consistency judge says 'consistent' for 37/84 steered block-44 readouts (the random-push arm: 34/84, so it barely separates them) and 0/84 of the correct block-52 readouts — it rewards plausibility, not truth.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Two-layer disagreement (E123): on the fact row catches all 47 stale items, but false-alarms on 19/84 unsteered items (23%, limit 15%): NOT MET. On the language row it is not usable (AUROC 0.56).</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Read all layers (E134 §248B, a different bank of 100 prompts): converts 13 abstentions into 6 correct and 7 false claims.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Read a later block (E123 note 1, post hoc): on the fact row block 52 states the new value on 84/84 steered items and the old value on 84/84 unsteered items; on the language row only 17/40 steered.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Reading: every cheap check looks at the same reconstruction; moving the read site past where the change becomes large helped on the fact row only, post hoc.</a:t>
            </a:r>
            <a:endParaRPr/>
          </a:p>
        </p:txBody>
      </p:sp>
      <p:sp>
        <p:nvSpPr>
          <p:cNvPr id="1843" name="Google Shape;1843;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F2A33"/>
        </a:solidFill>
      </p:bgPr>
    </p:bg>
    <p:spTree>
      <p:nvGrpSpPr>
        <p:cNvPr id="7" name="Shape 7"/>
        <p:cNvGrpSpPr/>
        <p:nvPr/>
      </p:nvGrpSpPr>
      <p:grpSpPr>
        <a:xfrm>
          <a:off x="0" y="0"/>
          <a:ext cx="0" cy="0"/>
          <a:chOff x="0" y="0"/>
          <a:chExt cx="0" cy="0"/>
        </a:xfrm>
      </p:grpSpPr>
      <p:sp>
        <p:nvSpPr>
          <p:cNvPr id="8" name="Google Shape;8;p2"/>
          <p:cNvSpPr txBox="1"/>
          <p:nvPr>
            <p:ph idx="1" type="body"/>
          </p:nvPr>
        </p:nvSpPr>
        <p:spPr>
          <a:xfrm>
            <a:off x="731520" y="640080"/>
            <a:ext cx="100584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40"/>
              </a:spcBef>
              <a:spcAft>
                <a:spcPts val="0"/>
              </a:spcAft>
              <a:buClr>
                <a:srgbClr val="B9B3A7"/>
              </a:buClr>
              <a:buSzPts val="1200"/>
              <a:buFont typeface="Arial"/>
              <a:buNone/>
              <a:defRPr b="1" i="0" spc="150" sz="1200" u="none" cap="none" strike="noStrike">
                <a:solidFill>
                  <a:srgbClr val="B9B3A7"/>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 name="Google Shape;9;p2"/>
          <p:cNvSpPr txBox="1"/>
          <p:nvPr>
            <p:ph type="title"/>
          </p:nvPr>
        </p:nvSpPr>
        <p:spPr>
          <a:xfrm>
            <a:off x="731520" y="1325880"/>
            <a:ext cx="7680960" cy="23774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7F5EF"/>
              </a:buClr>
              <a:buSzPts val="3800"/>
              <a:buFont typeface="Cambria"/>
              <a:buNone/>
              <a:defRPr b="0" i="0" sz="3800" u="none" cap="none" strike="noStrike">
                <a:solidFill>
                  <a:srgbClr val="F7F5EF"/>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
          <p:cNvSpPr txBox="1"/>
          <p:nvPr>
            <p:ph idx="2" type="body"/>
          </p:nvPr>
        </p:nvSpPr>
        <p:spPr>
          <a:xfrm>
            <a:off x="731520" y="3931920"/>
            <a:ext cx="7315200" cy="23774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40"/>
              </a:spcBef>
              <a:spcAft>
                <a:spcPts val="0"/>
              </a:spcAft>
              <a:buClr>
                <a:srgbClr val="D9D4CA"/>
              </a:buClr>
              <a:buSzPts val="1700"/>
              <a:buFont typeface="Arial"/>
              <a:buNone/>
              <a:defRPr b="0" i="0" sz="1700" u="none" cap="none" strike="noStrike">
                <a:solidFill>
                  <a:srgbClr val="D9D4CA"/>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7F5EF"/>
        </a:solidFill>
      </p:bgPr>
    </p:bg>
    <p:spTree>
      <p:nvGrpSpPr>
        <p:cNvPr id="11" name="Shape 11"/>
        <p:cNvGrpSpPr/>
        <p:nvPr/>
      </p:nvGrpSpPr>
      <p:grpSpPr>
        <a:xfrm>
          <a:off x="0" y="0"/>
          <a:ext cx="0" cy="0"/>
          <a:chOff x="0" y="0"/>
          <a:chExt cx="0" cy="0"/>
        </a:xfrm>
      </p:grpSpPr>
      <p:sp>
        <p:nvSpPr>
          <p:cNvPr id="12" name="Google Shape;12;p3"/>
          <p:cNvSpPr txBox="1"/>
          <p:nvPr>
            <p:ph idx="1" type="body"/>
          </p:nvPr>
        </p:nvSpPr>
        <p:spPr>
          <a:xfrm>
            <a:off x="548640" y="292608"/>
            <a:ext cx="877824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20"/>
              </a:spcBef>
              <a:spcAft>
                <a:spcPts val="0"/>
              </a:spcAft>
              <a:buClr>
                <a:schemeClr val="dk2"/>
              </a:buClr>
              <a:buSzPts val="1100"/>
              <a:buFont typeface="Arial"/>
              <a:buNone/>
              <a:defRPr b="1" i="0" spc="150" sz="1100" u="none" cap="none" strike="noStrike">
                <a:solidFill>
                  <a:schemeClr val="dk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3"/>
          <p:cNvSpPr txBox="1"/>
          <p:nvPr>
            <p:ph type="title"/>
          </p:nvPr>
        </p:nvSpPr>
        <p:spPr>
          <a:xfrm>
            <a:off x="548640" y="566928"/>
            <a:ext cx="88696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700"/>
              <a:buFont typeface="Cambria"/>
              <a:buNone/>
              <a:defRPr b="0" i="0" sz="27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
          <p:cNvSpPr txBox="1"/>
          <p:nvPr>
            <p:ph idx="2" type="body"/>
          </p:nvPr>
        </p:nvSpPr>
        <p:spPr>
          <a:xfrm>
            <a:off x="548640" y="5943600"/>
            <a:ext cx="11064240" cy="457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 name="Google Shape;15;p3"/>
          <p:cNvSpPr txBox="1"/>
          <p:nvPr>
            <p:ph idx="3" type="body"/>
          </p:nvPr>
        </p:nvSpPr>
        <p:spPr>
          <a:xfrm>
            <a:off x="548640" y="6437376"/>
            <a:ext cx="1024128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20"/>
              </a:spcBef>
              <a:spcAft>
                <a:spcPts val="0"/>
              </a:spcAft>
              <a:buClr>
                <a:schemeClr val="dk2"/>
              </a:buClr>
              <a:buSzPts val="1100"/>
              <a:buFont typeface="Arial"/>
              <a:buNone/>
              <a:defRPr b="0" i="0" sz="1100" u="none" cap="none" strike="noStrike">
                <a:solidFill>
                  <a:schemeClr val="dk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3"/>
          <p:cNvSpPr txBox="1"/>
          <p:nvPr>
            <p:ph idx="12"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sz="1100">
                <a:solidFill>
                  <a:srgbClr val="56606B"/>
                </a:solidFill>
                <a:latin typeface="Calibri"/>
                <a:ea typeface="Calibri"/>
                <a:cs typeface="Calibri"/>
                <a:sym typeface="Calibri"/>
              </a:defRPr>
            </a:lvl1pPr>
            <a:lvl2pPr indent="0" lvl="1" marL="0" marR="0" algn="r">
              <a:spcBef>
                <a:spcPts val="0"/>
              </a:spcBef>
              <a:buNone/>
              <a:defRPr b="0" sz="1100">
                <a:solidFill>
                  <a:srgbClr val="56606B"/>
                </a:solidFill>
                <a:latin typeface="Calibri"/>
                <a:ea typeface="Calibri"/>
                <a:cs typeface="Calibri"/>
                <a:sym typeface="Calibri"/>
              </a:defRPr>
            </a:lvl2pPr>
            <a:lvl3pPr indent="0" lvl="2" marL="0" marR="0" algn="r">
              <a:spcBef>
                <a:spcPts val="0"/>
              </a:spcBef>
              <a:buNone/>
              <a:defRPr b="0" sz="1100">
                <a:solidFill>
                  <a:srgbClr val="56606B"/>
                </a:solidFill>
                <a:latin typeface="Calibri"/>
                <a:ea typeface="Calibri"/>
                <a:cs typeface="Calibri"/>
                <a:sym typeface="Calibri"/>
              </a:defRPr>
            </a:lvl3pPr>
            <a:lvl4pPr indent="0" lvl="3" marL="0" marR="0" algn="r">
              <a:spcBef>
                <a:spcPts val="0"/>
              </a:spcBef>
              <a:buNone/>
              <a:defRPr b="0" sz="1100">
                <a:solidFill>
                  <a:srgbClr val="56606B"/>
                </a:solidFill>
                <a:latin typeface="Calibri"/>
                <a:ea typeface="Calibri"/>
                <a:cs typeface="Calibri"/>
                <a:sym typeface="Calibri"/>
              </a:defRPr>
            </a:lvl4pPr>
            <a:lvl5pPr indent="0" lvl="4" marL="0" marR="0" algn="r">
              <a:spcBef>
                <a:spcPts val="0"/>
              </a:spcBef>
              <a:buNone/>
              <a:defRPr b="0" sz="1100">
                <a:solidFill>
                  <a:srgbClr val="56606B"/>
                </a:solidFill>
                <a:latin typeface="Calibri"/>
                <a:ea typeface="Calibri"/>
                <a:cs typeface="Calibri"/>
                <a:sym typeface="Calibri"/>
              </a:defRPr>
            </a:lvl5pPr>
            <a:lvl6pPr indent="0" lvl="5" marL="0" marR="0" algn="r">
              <a:spcBef>
                <a:spcPts val="0"/>
              </a:spcBef>
              <a:buNone/>
              <a:defRPr b="0" sz="1100">
                <a:solidFill>
                  <a:srgbClr val="56606B"/>
                </a:solidFill>
                <a:latin typeface="Calibri"/>
                <a:ea typeface="Calibri"/>
                <a:cs typeface="Calibri"/>
                <a:sym typeface="Calibri"/>
              </a:defRPr>
            </a:lvl6pPr>
            <a:lvl7pPr indent="0" lvl="6" marL="0" marR="0" algn="r">
              <a:spcBef>
                <a:spcPts val="0"/>
              </a:spcBef>
              <a:buNone/>
              <a:defRPr b="0" sz="1100">
                <a:solidFill>
                  <a:srgbClr val="56606B"/>
                </a:solidFill>
                <a:latin typeface="Calibri"/>
                <a:ea typeface="Calibri"/>
                <a:cs typeface="Calibri"/>
                <a:sym typeface="Calibri"/>
              </a:defRPr>
            </a:lvl7pPr>
            <a:lvl8pPr indent="0" lvl="7" marL="0" marR="0" algn="r">
              <a:spcBef>
                <a:spcPts val="0"/>
              </a:spcBef>
              <a:buNone/>
              <a:defRPr b="0" sz="1100">
                <a:solidFill>
                  <a:srgbClr val="56606B"/>
                </a:solidFill>
                <a:latin typeface="Calibri"/>
                <a:ea typeface="Calibri"/>
                <a:cs typeface="Calibri"/>
                <a:sym typeface="Calibri"/>
              </a:defRPr>
            </a:lvl8pPr>
            <a:lvl9pPr indent="0" lvl="8" marL="0" marR="0" algn="r">
              <a:spcBef>
                <a:spcPts val="0"/>
              </a:spcBef>
              <a:buNone/>
              <a:defRPr b="0" sz="1100">
                <a:solidFill>
                  <a:srgbClr val="56606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5"/>
          <p:cNvSpPr txBox="1"/>
          <p:nvPr>
            <p:ph idx="12" type="sldNum"/>
          </p:nvPr>
        </p:nvSpPr>
        <p:spPr>
          <a:xfrm>
            <a:off x="11296610" y="6217622"/>
            <a:ext cx="731700" cy="524700"/>
          </a:xfrm>
          <a:prstGeom prst="rect">
            <a:avLst/>
          </a:prstGeom>
        </p:spPr>
        <p:txBody>
          <a:bodyPr anchorCtr="0" anchor="t"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100" u="none" cap="none" strike="noStrike">
                <a:solidFill>
                  <a:srgbClr val="56606B"/>
                </a:solidFill>
                <a:latin typeface="Calibri"/>
                <a:ea typeface="Calibri"/>
                <a:cs typeface="Calibri"/>
                <a:sym typeface="Calibri"/>
              </a:defRPr>
            </a:lvl1pPr>
            <a:lvl2pPr indent="0" lvl="1" marL="0" marR="0" rtl="0" algn="r">
              <a:spcBef>
                <a:spcPts val="0"/>
              </a:spcBef>
              <a:buNone/>
              <a:defRPr b="0" i="0" sz="1100" u="none" cap="none" strike="noStrike">
                <a:solidFill>
                  <a:srgbClr val="56606B"/>
                </a:solidFill>
                <a:latin typeface="Calibri"/>
                <a:ea typeface="Calibri"/>
                <a:cs typeface="Calibri"/>
                <a:sym typeface="Calibri"/>
              </a:defRPr>
            </a:lvl2pPr>
            <a:lvl3pPr indent="0" lvl="2" marL="0" marR="0" rtl="0" algn="r">
              <a:spcBef>
                <a:spcPts val="0"/>
              </a:spcBef>
              <a:buNone/>
              <a:defRPr b="0" i="0" sz="1100" u="none" cap="none" strike="noStrike">
                <a:solidFill>
                  <a:srgbClr val="56606B"/>
                </a:solidFill>
                <a:latin typeface="Calibri"/>
                <a:ea typeface="Calibri"/>
                <a:cs typeface="Calibri"/>
                <a:sym typeface="Calibri"/>
              </a:defRPr>
            </a:lvl3pPr>
            <a:lvl4pPr indent="0" lvl="3" marL="0" marR="0" rtl="0" algn="r">
              <a:spcBef>
                <a:spcPts val="0"/>
              </a:spcBef>
              <a:buNone/>
              <a:defRPr b="0" i="0" sz="1100" u="none" cap="none" strike="noStrike">
                <a:solidFill>
                  <a:srgbClr val="56606B"/>
                </a:solidFill>
                <a:latin typeface="Calibri"/>
                <a:ea typeface="Calibri"/>
                <a:cs typeface="Calibri"/>
                <a:sym typeface="Calibri"/>
              </a:defRPr>
            </a:lvl4pPr>
            <a:lvl5pPr indent="0" lvl="4" marL="0" marR="0" rtl="0" algn="r">
              <a:spcBef>
                <a:spcPts val="0"/>
              </a:spcBef>
              <a:buNone/>
              <a:defRPr b="0" i="0" sz="1100" u="none" cap="none" strike="noStrike">
                <a:solidFill>
                  <a:srgbClr val="56606B"/>
                </a:solidFill>
                <a:latin typeface="Calibri"/>
                <a:ea typeface="Calibri"/>
                <a:cs typeface="Calibri"/>
                <a:sym typeface="Calibri"/>
              </a:defRPr>
            </a:lvl5pPr>
            <a:lvl6pPr indent="0" lvl="5" marL="0" marR="0" rtl="0" algn="r">
              <a:spcBef>
                <a:spcPts val="0"/>
              </a:spcBef>
              <a:buNone/>
              <a:defRPr b="0" i="0" sz="1100" u="none" cap="none" strike="noStrike">
                <a:solidFill>
                  <a:srgbClr val="56606B"/>
                </a:solidFill>
                <a:latin typeface="Calibri"/>
                <a:ea typeface="Calibri"/>
                <a:cs typeface="Calibri"/>
                <a:sym typeface="Calibri"/>
              </a:defRPr>
            </a:lvl6pPr>
            <a:lvl7pPr indent="0" lvl="6" marL="0" marR="0" rtl="0" algn="r">
              <a:spcBef>
                <a:spcPts val="0"/>
              </a:spcBef>
              <a:buNone/>
              <a:defRPr b="0" i="0" sz="1100" u="none" cap="none" strike="noStrike">
                <a:solidFill>
                  <a:srgbClr val="56606B"/>
                </a:solidFill>
                <a:latin typeface="Calibri"/>
                <a:ea typeface="Calibri"/>
                <a:cs typeface="Calibri"/>
                <a:sym typeface="Calibri"/>
              </a:defRPr>
            </a:lvl7pPr>
            <a:lvl8pPr indent="0" lvl="7" marL="0" marR="0" rtl="0" algn="r">
              <a:spcBef>
                <a:spcPts val="0"/>
              </a:spcBef>
              <a:buNone/>
              <a:defRPr b="0" i="0" sz="1100" u="none" cap="none" strike="noStrike">
                <a:solidFill>
                  <a:srgbClr val="56606B"/>
                </a:solidFill>
                <a:latin typeface="Calibri"/>
                <a:ea typeface="Calibri"/>
                <a:cs typeface="Calibri"/>
                <a:sym typeface="Calibri"/>
              </a:defRPr>
            </a:lvl8pPr>
            <a:lvl9pPr indent="0" lvl="8" marL="0" marR="0" rtl="0" algn="r">
              <a:spcBef>
                <a:spcPts val="0"/>
              </a:spcBef>
              <a:buNone/>
              <a:defRPr b="0" i="0" sz="1100" u="none" cap="none" strike="noStrike">
                <a:solidFill>
                  <a:srgbClr val="56606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6"/>
          <p:cNvSpPr txBox="1"/>
          <p:nvPr>
            <p:ph idx="1" type="body"/>
          </p:nvPr>
        </p:nvSpPr>
        <p:spPr>
          <a:xfrm>
            <a:off x="731520" y="640080"/>
            <a:ext cx="100584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9B3A7"/>
              </a:buClr>
              <a:buSzPts val="1200"/>
              <a:buNone/>
            </a:pPr>
            <a:r>
              <a:rPr b="1" lang="en-US" spc="150" sz="1200">
                <a:solidFill>
                  <a:srgbClr val="B9B3A7"/>
                </a:solidFill>
              </a:rPr>
              <a:t>MATS 12 · NEEL NANDA STREAM · EXPLORATION PHASE · 30 OCTOBER 2026</a:t>
            </a:r>
            <a:endParaRPr sz="1200"/>
          </a:p>
        </p:txBody>
      </p:sp>
      <p:sp>
        <p:nvSpPr>
          <p:cNvPr id="26" name="Google Shape;26;p6"/>
          <p:cNvSpPr txBox="1"/>
          <p:nvPr>
            <p:ph type="title"/>
          </p:nvPr>
        </p:nvSpPr>
        <p:spPr>
          <a:xfrm>
            <a:off x="731520" y="1325880"/>
            <a:ext cx="7680900" cy="237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7F5EF"/>
              </a:buClr>
              <a:buSzPts val="3800"/>
              <a:buFont typeface="Cambria"/>
              <a:buNone/>
            </a:pPr>
            <a:r>
              <a:rPr lang="en-US" sz="3800">
                <a:solidFill>
                  <a:srgbClr val="F7F5EF"/>
                </a:solidFill>
                <a:latin typeface="Cambria"/>
                <a:ea typeface="Cambria"/>
                <a:cs typeface="Cambria"/>
                <a:sym typeface="Cambria"/>
              </a:rPr>
              <a:t>When do activation readers reveal more than the prompt?</a:t>
            </a:r>
            <a:endParaRPr sz="3800"/>
          </a:p>
        </p:txBody>
      </p:sp>
      <p:sp>
        <p:nvSpPr>
          <p:cNvPr id="27" name="Google Shape;27;p6"/>
          <p:cNvSpPr txBox="1"/>
          <p:nvPr>
            <p:ph idx="2" type="body"/>
          </p:nvPr>
        </p:nvSpPr>
        <p:spPr>
          <a:xfrm>
            <a:off x="731520" y="3286041"/>
            <a:ext cx="7315200" cy="295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D9D4CA"/>
              </a:buClr>
              <a:buSzPts val="2000"/>
              <a:buNone/>
            </a:pPr>
            <a:r>
              <a:rPr lang="en-US" sz="2000"/>
              <a:t>Reporting gaps, causal read-site effects, and the limits of natural answer tracking.</a:t>
            </a:r>
            <a:br>
              <a:rPr lang="en-US" sz="2000"/>
            </a:br>
            <a:br>
              <a:rPr lang="en-US" sz="2000"/>
            </a:br>
            <a:r>
              <a:rPr lang="en-US" sz="2000"/>
              <a:t>Working hypothesis—not an established mechanism: a readout can be text-explainable and activation-sensitive without faithfully stating the subject's own changing state.</a:t>
            </a:r>
            <a:br>
              <a:rPr lang="en-US" sz="2000"/>
            </a:br>
            <a:br>
              <a:rPr lang="en-US" sz="2000"/>
            </a:br>
            <a:r>
              <a:rPr lang="en-US" sz="2000"/>
              <a:t>Guiv Farmanfarmaian · Suraj Prasad</a:t>
            </a:r>
            <a:endParaRPr i="1" sz="1900">
              <a:solidFill>
                <a:srgbClr val="FFFFFF"/>
              </a:solidFill>
            </a:endParaRPr>
          </a:p>
          <a:p>
            <a:pPr indent="0" lvl="0" marL="0" rtl="0" algn="l">
              <a:spcBef>
                <a:spcPts val="380"/>
              </a:spcBef>
              <a:spcAft>
                <a:spcPts val="0"/>
              </a:spcAft>
              <a:buClr>
                <a:srgbClr val="D9D4CA"/>
              </a:buClr>
              <a:buSzPts val="1900"/>
              <a:buNone/>
            </a:pPr>
            <a:r>
              <a:t/>
            </a:r>
            <a:endParaRPr i="1" sz="1900">
              <a:solidFill>
                <a:srgbClr val="FFFFFF"/>
              </a:solidFill>
            </a:endParaRPr>
          </a:p>
          <a:p>
            <a:pPr indent="0" lvl="0" marL="0" rtl="0" algn="l">
              <a:spcBef>
                <a:spcPts val="340"/>
              </a:spcBef>
              <a:spcAft>
                <a:spcPts val="0"/>
              </a:spcAft>
              <a:buClr>
                <a:srgbClr val="FFFFFF"/>
              </a:buClr>
              <a:buSzPts val="1700"/>
              <a:buNone/>
            </a:pPr>
            <a:r>
              <a:t/>
            </a:r>
            <a:endParaRPr sz="1700"/>
          </a:p>
          <a:p>
            <a:pPr indent="0" lvl="0" marL="0" rtl="0" algn="l">
              <a:spcBef>
                <a:spcPts val="340"/>
              </a:spcBef>
              <a:spcAft>
                <a:spcPts val="0"/>
              </a:spcAft>
              <a:buClr>
                <a:srgbClr val="D9D4CA"/>
              </a:buClr>
              <a:buSzPts val="1700"/>
              <a:buNone/>
            </a:pPr>
            <a:r>
              <a:t/>
            </a:r>
            <a:endParaRPr sz="1700"/>
          </a:p>
          <a:p>
            <a:pPr indent="0" lvl="0" marL="0" rtl="0" algn="l">
              <a:spcBef>
                <a:spcPts val="340"/>
              </a:spcBef>
              <a:spcAft>
                <a:spcPts val="0"/>
              </a:spcAft>
              <a:buClr>
                <a:srgbClr val="D9D4CA"/>
              </a:buClr>
              <a:buSzPts val="1700"/>
              <a:buNone/>
            </a:pPr>
            <a:r>
              <a:t/>
            </a:r>
            <a:endParaRPr sz="1700"/>
          </a:p>
          <a:p>
            <a:pPr indent="0" lvl="0" marL="0" rtl="0" algn="l">
              <a:spcBef>
                <a:spcPts val="340"/>
              </a:spcBef>
              <a:spcAft>
                <a:spcPts val="0"/>
              </a:spcAft>
              <a:buClr>
                <a:srgbClr val="D9D4CA"/>
              </a:buClr>
              <a:buSzPts val="1700"/>
              <a:buNone/>
            </a:pPr>
            <a:r>
              <a:t/>
            </a:r>
            <a:endParaRPr sz="1700"/>
          </a:p>
          <a:p>
            <a:pPr indent="0" lvl="0" marL="0" rtl="0" algn="l">
              <a:spcBef>
                <a:spcPts val="340"/>
              </a:spcBef>
              <a:spcAft>
                <a:spcPts val="0"/>
              </a:spcAft>
              <a:buClr>
                <a:srgbClr val="FFFFFF"/>
              </a:buClr>
              <a:buSzPts val="1700"/>
              <a:buNone/>
            </a:pPr>
            <a:r>
              <a:t/>
            </a:r>
            <a:endParaRPr sz="1700"/>
          </a:p>
        </p:txBody>
      </p:sp>
      <p:sp>
        <p:nvSpPr>
          <p:cNvPr id="28" name="Google Shape;28;p6"/>
          <p:cNvSpPr/>
          <p:nvPr/>
        </p:nvSpPr>
        <p:spPr>
          <a:xfrm>
            <a:off x="8869680" y="1554480"/>
            <a:ext cx="567000" cy="567000"/>
          </a:xfrm>
          <a:prstGeom prst="ellipse">
            <a:avLst/>
          </a:prstGeom>
          <a:solidFill>
            <a:srgbClr val="6A4C9C"/>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6"/>
          <p:cNvSpPr txBox="1"/>
          <p:nvPr/>
        </p:nvSpPr>
        <p:spPr>
          <a:xfrm>
            <a:off x="9646920" y="1517904"/>
            <a:ext cx="22860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decodable</a:t>
            </a:r>
            <a:endParaRPr sz="2000">
              <a:solidFill>
                <a:schemeClr val="dk1"/>
              </a:solidFill>
              <a:latin typeface="Calibri"/>
              <a:ea typeface="Calibri"/>
              <a:cs typeface="Calibri"/>
              <a:sym typeface="Calibri"/>
            </a:endParaRPr>
          </a:p>
        </p:txBody>
      </p:sp>
      <p:sp>
        <p:nvSpPr>
          <p:cNvPr id="30" name="Google Shape;30;p6"/>
          <p:cNvSpPr txBox="1"/>
          <p:nvPr/>
        </p:nvSpPr>
        <p:spPr>
          <a:xfrm>
            <a:off x="9646920" y="1883664"/>
            <a:ext cx="2194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B3A7"/>
              </a:buClr>
              <a:buSzPts val="1300"/>
              <a:buFont typeface="Calibri"/>
              <a:buNone/>
            </a:pPr>
            <a:r>
              <a:rPr lang="en-US" sz="1300">
                <a:solidFill>
                  <a:srgbClr val="B9B3A7"/>
                </a:solidFill>
                <a:latin typeface="Calibri"/>
                <a:ea typeface="Calibri"/>
                <a:cs typeface="Calibri"/>
                <a:sym typeface="Calibri"/>
              </a:rPr>
              <a:t>a linear probe can read it</a:t>
            </a:r>
            <a:endParaRPr sz="1300">
              <a:solidFill>
                <a:schemeClr val="dk1"/>
              </a:solidFill>
              <a:latin typeface="Calibri"/>
              <a:ea typeface="Calibri"/>
              <a:cs typeface="Calibri"/>
              <a:sym typeface="Calibri"/>
            </a:endParaRPr>
          </a:p>
        </p:txBody>
      </p:sp>
      <p:sp>
        <p:nvSpPr>
          <p:cNvPr id="31" name="Google Shape;31;p6"/>
          <p:cNvSpPr/>
          <p:nvPr/>
        </p:nvSpPr>
        <p:spPr>
          <a:xfrm>
            <a:off x="8869680" y="2788920"/>
            <a:ext cx="567000" cy="567000"/>
          </a:xfrm>
          <a:prstGeom prst="ellipse">
            <a:avLst/>
          </a:prstGeom>
          <a:solidFill>
            <a:srgbClr val="C8622B"/>
          </a:solidFill>
          <a:ln cap="flat" cmpd="sng" w="12700">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6"/>
          <p:cNvSpPr txBox="1"/>
          <p:nvPr/>
        </p:nvSpPr>
        <p:spPr>
          <a:xfrm>
            <a:off x="9646920" y="2752344"/>
            <a:ext cx="22860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causal here</a:t>
            </a:r>
            <a:endParaRPr sz="2000">
              <a:solidFill>
                <a:schemeClr val="dk1"/>
              </a:solidFill>
              <a:latin typeface="Calibri"/>
              <a:ea typeface="Calibri"/>
              <a:cs typeface="Calibri"/>
              <a:sym typeface="Calibri"/>
            </a:endParaRPr>
          </a:p>
        </p:txBody>
      </p:sp>
      <p:sp>
        <p:nvSpPr>
          <p:cNvPr id="33" name="Google Shape;33;p6"/>
          <p:cNvSpPr txBox="1"/>
          <p:nvPr/>
        </p:nvSpPr>
        <p:spPr>
          <a:xfrm>
            <a:off x="9646920" y="3118104"/>
            <a:ext cx="2194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B3A7"/>
              </a:buClr>
              <a:buSzPts val="1300"/>
              <a:buFont typeface="Calibri"/>
              <a:buNone/>
            </a:pPr>
            <a:r>
              <a:rPr lang="en-US" sz="1300">
                <a:solidFill>
                  <a:srgbClr val="B9B3A7"/>
                </a:solidFill>
                <a:latin typeface="Calibri"/>
                <a:ea typeface="Calibri"/>
                <a:cs typeface="Calibri"/>
                <a:sym typeface="Calibri"/>
              </a:rPr>
              <a:t>the answer depends on it at this token and layer</a:t>
            </a:r>
            <a:endParaRPr sz="1300">
              <a:solidFill>
                <a:schemeClr val="dk1"/>
              </a:solidFill>
              <a:latin typeface="Calibri"/>
              <a:ea typeface="Calibri"/>
              <a:cs typeface="Calibri"/>
              <a:sym typeface="Calibri"/>
            </a:endParaRPr>
          </a:p>
        </p:txBody>
      </p:sp>
      <p:sp>
        <p:nvSpPr>
          <p:cNvPr id="34" name="Google Shape;34;p6"/>
          <p:cNvSpPr/>
          <p:nvPr/>
        </p:nvSpPr>
        <p:spPr>
          <a:xfrm>
            <a:off x="8869680" y="4023360"/>
            <a:ext cx="567000" cy="567000"/>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6"/>
          <p:cNvSpPr txBox="1"/>
          <p:nvPr/>
        </p:nvSpPr>
        <p:spPr>
          <a:xfrm>
            <a:off x="9646920" y="3986784"/>
            <a:ext cx="22860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stated</a:t>
            </a:r>
            <a:endParaRPr sz="2000">
              <a:solidFill>
                <a:schemeClr val="dk1"/>
              </a:solidFill>
              <a:latin typeface="Calibri"/>
              <a:ea typeface="Calibri"/>
              <a:cs typeface="Calibri"/>
              <a:sym typeface="Calibri"/>
            </a:endParaRPr>
          </a:p>
        </p:txBody>
      </p:sp>
      <p:sp>
        <p:nvSpPr>
          <p:cNvPr id="36" name="Google Shape;36;p6"/>
          <p:cNvSpPr txBox="1"/>
          <p:nvPr/>
        </p:nvSpPr>
        <p:spPr>
          <a:xfrm>
            <a:off x="9646920" y="4352544"/>
            <a:ext cx="2194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B3A7"/>
              </a:buClr>
              <a:buSzPts val="1300"/>
              <a:buFont typeface="Calibri"/>
              <a:buNone/>
            </a:pPr>
            <a:r>
              <a:rPr lang="en-US" sz="1300">
                <a:solidFill>
                  <a:srgbClr val="B9B3A7"/>
                </a:solidFill>
                <a:latin typeface="Calibri"/>
                <a:ea typeface="Calibri"/>
                <a:cs typeface="Calibri"/>
                <a:sym typeface="Calibri"/>
              </a:rPr>
              <a:t>the reader's text says it</a:t>
            </a:r>
            <a:endParaRPr sz="1300">
              <a:solidFill>
                <a:schemeClr val="dk1"/>
              </a:solidFill>
              <a:latin typeface="Calibri"/>
              <a:ea typeface="Calibri"/>
              <a:cs typeface="Calibri"/>
              <a:sym typeface="Calibri"/>
            </a:endParaRPr>
          </a:p>
        </p:txBody>
      </p:sp>
      <p:sp>
        <p:nvSpPr>
          <p:cNvPr id="37" name="Google Shape;37;p6"/>
          <p:cNvSpPr txBox="1"/>
          <p:nvPr/>
        </p:nvSpPr>
        <p:spPr>
          <a:xfrm>
            <a:off x="8869680" y="5257800"/>
            <a:ext cx="30174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B3A7"/>
              </a:buClr>
              <a:buSzPts val="1300"/>
              <a:buFont typeface="Calibri"/>
              <a:buNone/>
            </a:pPr>
            <a:r>
              <a:rPr i="1" lang="en-US" sz="1300">
                <a:solidFill>
                  <a:srgbClr val="B9B3A7"/>
                </a:solidFill>
                <a:latin typeface="Calibri"/>
                <a:ea typeface="Calibri"/>
                <a:cs typeface="Calibri"/>
                <a:sym typeface="Calibri"/>
              </a:rPr>
              <a:t>Our 3 main measurements</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2"/>
        </a:solidFill>
      </p:bgPr>
    </p:bg>
    <p:spTree>
      <p:nvGrpSpPr>
        <p:cNvPr id="41" name="Shape 41"/>
        <p:cNvGrpSpPr/>
        <p:nvPr/>
      </p:nvGrpSpPr>
      <p:grpSpPr>
        <a:xfrm>
          <a:off x="0" y="0"/>
          <a:ext cx="0" cy="0"/>
          <a:chOff x="0" y="0"/>
          <a:chExt cx="0" cy="0"/>
        </a:xfrm>
      </p:grpSpPr>
      <p:sp>
        <p:nvSpPr>
          <p:cNvPr id="42" name="Google Shape;42;p7"/>
          <p:cNvSpPr txBox="1"/>
          <p:nvPr/>
        </p:nvSpPr>
        <p:spPr>
          <a:xfrm>
            <a:off x="594360" y="265176"/>
            <a:ext cx="9966900" cy="246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5585C"/>
                </a:solidFill>
                <a:latin typeface="Calibri"/>
                <a:ea typeface="Calibri"/>
                <a:cs typeface="Calibri"/>
                <a:sym typeface="Calibri"/>
              </a:rPr>
              <a:t>OUR CLAIMS &amp; CREDENCES</a:t>
            </a:r>
            <a:endParaRPr b="1" sz="1900"/>
          </a:p>
        </p:txBody>
      </p:sp>
      <p:sp>
        <p:nvSpPr>
          <p:cNvPr id="43" name="Google Shape;43;p7"/>
          <p:cNvSpPr txBox="1"/>
          <p:nvPr/>
        </p:nvSpPr>
        <p:spPr>
          <a:xfrm>
            <a:off x="594360" y="594360"/>
            <a:ext cx="11064300" cy="431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800">
                <a:solidFill>
                  <a:srgbClr val="232528"/>
                </a:solidFill>
              </a:rPr>
              <a:t>What we believe, and what could change our minds</a:t>
            </a:r>
            <a:endParaRPr b="1"/>
          </a:p>
        </p:txBody>
      </p:sp>
      <p:sp>
        <p:nvSpPr>
          <p:cNvPr id="44" name="Google Shape;44;p7"/>
          <p:cNvSpPr txBox="1"/>
          <p:nvPr/>
        </p:nvSpPr>
        <p:spPr>
          <a:xfrm>
            <a:off x="612648" y="1261872"/>
            <a:ext cx="109272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500">
                <a:solidFill>
                  <a:srgbClr val="55585C"/>
                </a:solidFill>
                <a:latin typeface="Calibri"/>
                <a:ea typeface="Calibri"/>
                <a:cs typeface="Calibri"/>
                <a:sym typeface="Calibri"/>
              </a:rPr>
              <a:t>Two observations are substantially firmer than our proposed explanations.</a:t>
            </a:r>
            <a:endParaRPr/>
          </a:p>
        </p:txBody>
      </p:sp>
      <p:sp>
        <p:nvSpPr>
          <p:cNvPr id="45" name="Google Shape;45;p7"/>
          <p:cNvSpPr/>
          <p:nvPr/>
        </p:nvSpPr>
        <p:spPr>
          <a:xfrm>
            <a:off x="621792" y="1810512"/>
            <a:ext cx="10954500" cy="855000"/>
          </a:xfrm>
          <a:prstGeom prst="roundRect">
            <a:avLst>
              <a:gd fmla="val 16667" name="adj"/>
            </a:avLst>
          </a:prstGeom>
          <a:solidFill>
            <a:srgbClr val="FFFFFF"/>
          </a:solidFill>
          <a:ln cap="flat" cmpd="sng" w="9525">
            <a:solidFill>
              <a:srgbClr val="E2E0D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7"/>
          <p:cNvSpPr/>
          <p:nvPr/>
        </p:nvSpPr>
        <p:spPr>
          <a:xfrm>
            <a:off x="621792" y="1810512"/>
            <a:ext cx="65700" cy="855000"/>
          </a:xfrm>
          <a:prstGeom prst="rect">
            <a:avLst/>
          </a:prstGeom>
          <a:solidFill>
            <a:srgbClr val="6D51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7"/>
          <p:cNvSpPr txBox="1"/>
          <p:nvPr/>
        </p:nvSpPr>
        <p:spPr>
          <a:xfrm>
            <a:off x="795528" y="1874519"/>
            <a:ext cx="969300" cy="46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3000">
                <a:solidFill>
                  <a:srgbClr val="6D5196"/>
                </a:solidFill>
                <a:latin typeface="Cambria"/>
                <a:ea typeface="Cambria"/>
                <a:cs typeface="Cambria"/>
                <a:sym typeface="Cambria"/>
              </a:rPr>
              <a:t>95%</a:t>
            </a:r>
            <a:endParaRPr/>
          </a:p>
        </p:txBody>
      </p:sp>
      <p:sp>
        <p:nvSpPr>
          <p:cNvPr id="48" name="Google Shape;48;p7"/>
          <p:cNvSpPr txBox="1"/>
          <p:nvPr/>
        </p:nvSpPr>
        <p:spPr>
          <a:xfrm>
            <a:off x="1856231" y="1892807"/>
            <a:ext cx="12252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300">
                <a:solidFill>
                  <a:srgbClr val="55585C"/>
                </a:solidFill>
                <a:latin typeface="Calibri"/>
                <a:ea typeface="Calibri"/>
                <a:cs typeface="Calibri"/>
                <a:sym typeface="Calibri"/>
              </a:rPr>
              <a:t>OBSERVATION</a:t>
            </a:r>
            <a:endParaRPr sz="1700"/>
          </a:p>
        </p:txBody>
      </p:sp>
      <p:sp>
        <p:nvSpPr>
          <p:cNvPr id="49" name="Google Shape;49;p7"/>
          <p:cNvSpPr txBox="1"/>
          <p:nvPr/>
        </p:nvSpPr>
        <p:spPr>
          <a:xfrm>
            <a:off x="3026664" y="1865376"/>
            <a:ext cx="81840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232528"/>
                </a:solidFill>
                <a:latin typeface="Calibri"/>
                <a:ea typeface="Calibri"/>
                <a:cs typeface="Calibri"/>
                <a:sym typeface="Calibri"/>
              </a:rPr>
              <a:t>Structural state can survive yet go unreported.</a:t>
            </a:r>
            <a:endParaRPr/>
          </a:p>
        </p:txBody>
      </p:sp>
      <p:sp>
        <p:nvSpPr>
          <p:cNvPr id="50" name="Google Shape;50;p7"/>
          <p:cNvSpPr txBox="1"/>
          <p:nvPr/>
        </p:nvSpPr>
        <p:spPr>
          <a:xfrm>
            <a:off x="3026664" y="2267712"/>
            <a:ext cx="8184000" cy="237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540">
                <a:solidFill>
                  <a:srgbClr val="55585C"/>
                </a:solidFill>
                <a:latin typeface="Calibri"/>
                <a:ea typeface="Calibri"/>
                <a:cs typeface="Calibri"/>
                <a:sym typeface="Calibri"/>
              </a:rPr>
              <a:t>E100/E113; S22/S25   ·   Challenge: human-validated naming and independent decoding.</a:t>
            </a:r>
            <a:endParaRPr sz="1800"/>
          </a:p>
        </p:txBody>
      </p:sp>
      <p:sp>
        <p:nvSpPr>
          <p:cNvPr id="51" name="Google Shape;51;p7"/>
          <p:cNvSpPr/>
          <p:nvPr/>
        </p:nvSpPr>
        <p:spPr>
          <a:xfrm>
            <a:off x="621792" y="2756915"/>
            <a:ext cx="10954500" cy="855000"/>
          </a:xfrm>
          <a:prstGeom prst="roundRect">
            <a:avLst>
              <a:gd fmla="val 16667" name="adj"/>
            </a:avLst>
          </a:prstGeom>
          <a:solidFill>
            <a:srgbClr val="FFFFFF"/>
          </a:solidFill>
          <a:ln cap="flat" cmpd="sng" w="9525">
            <a:solidFill>
              <a:srgbClr val="E2E0D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7"/>
          <p:cNvSpPr/>
          <p:nvPr/>
        </p:nvSpPr>
        <p:spPr>
          <a:xfrm>
            <a:off x="621792" y="2756915"/>
            <a:ext cx="65700" cy="855000"/>
          </a:xfrm>
          <a:prstGeom prst="rect">
            <a:avLst/>
          </a:prstGeom>
          <a:solidFill>
            <a:srgbClr val="BF64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7"/>
          <p:cNvSpPr txBox="1"/>
          <p:nvPr/>
        </p:nvSpPr>
        <p:spPr>
          <a:xfrm>
            <a:off x="795528" y="2820923"/>
            <a:ext cx="969300" cy="46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3000">
                <a:solidFill>
                  <a:srgbClr val="BF642A"/>
                </a:solidFill>
                <a:latin typeface="Cambria"/>
                <a:ea typeface="Cambria"/>
                <a:cs typeface="Cambria"/>
                <a:sym typeface="Cambria"/>
              </a:rPr>
              <a:t>90%</a:t>
            </a:r>
            <a:endParaRPr/>
          </a:p>
        </p:txBody>
      </p:sp>
      <p:sp>
        <p:nvSpPr>
          <p:cNvPr id="54" name="Google Shape;54;p7"/>
          <p:cNvSpPr txBox="1"/>
          <p:nvPr/>
        </p:nvSpPr>
        <p:spPr>
          <a:xfrm>
            <a:off x="1856231" y="2839211"/>
            <a:ext cx="12252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a:solidFill>
                  <a:srgbClr val="55585C"/>
                </a:solidFill>
                <a:latin typeface="Calibri"/>
                <a:ea typeface="Calibri"/>
                <a:cs typeface="Calibri"/>
                <a:sym typeface="Calibri"/>
              </a:rPr>
              <a:t>OBSERVATION</a:t>
            </a:r>
            <a:endParaRPr sz="1800"/>
          </a:p>
        </p:txBody>
      </p:sp>
      <p:sp>
        <p:nvSpPr>
          <p:cNvPr id="55" name="Google Shape;55;p7"/>
          <p:cNvSpPr txBox="1"/>
          <p:nvPr/>
        </p:nvSpPr>
        <p:spPr>
          <a:xfrm>
            <a:off x="3026664" y="2811779"/>
            <a:ext cx="81840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232528"/>
                </a:solidFill>
                <a:latin typeface="Calibri"/>
                <a:ea typeface="Calibri"/>
                <a:cs typeface="Calibri"/>
                <a:sym typeface="Calibri"/>
              </a:rPr>
              <a:t>At the tested read token, causal effects rise late.</a:t>
            </a:r>
            <a:endParaRPr/>
          </a:p>
        </p:txBody>
      </p:sp>
      <p:sp>
        <p:nvSpPr>
          <p:cNvPr id="56" name="Google Shape;56;p7"/>
          <p:cNvSpPr txBox="1"/>
          <p:nvPr/>
        </p:nvSpPr>
        <p:spPr>
          <a:xfrm>
            <a:off x="3026664" y="3214115"/>
            <a:ext cx="8184000" cy="22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40">
                <a:solidFill>
                  <a:srgbClr val="55585C"/>
                </a:solidFill>
                <a:latin typeface="Calibri"/>
                <a:ea typeface="Calibri"/>
                <a:cs typeface="Calibri"/>
                <a:sym typeface="Calibri"/>
              </a:rPr>
              <a:t>E126 and unsteered E137   ·   Challenge: earlier-site effects on new tasks; registered natural rule failed.</a:t>
            </a:r>
            <a:endParaRPr sz="1700"/>
          </a:p>
        </p:txBody>
      </p:sp>
      <p:sp>
        <p:nvSpPr>
          <p:cNvPr id="57" name="Google Shape;57;p7"/>
          <p:cNvSpPr/>
          <p:nvPr/>
        </p:nvSpPr>
        <p:spPr>
          <a:xfrm>
            <a:off x="621792" y="3703320"/>
            <a:ext cx="10954500" cy="855000"/>
          </a:xfrm>
          <a:prstGeom prst="roundRect">
            <a:avLst>
              <a:gd fmla="val 16667" name="adj"/>
            </a:avLst>
          </a:prstGeom>
          <a:solidFill>
            <a:srgbClr val="FFFFFF"/>
          </a:solidFill>
          <a:ln cap="flat" cmpd="sng" w="9525">
            <a:solidFill>
              <a:srgbClr val="E2E0D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7"/>
          <p:cNvSpPr/>
          <p:nvPr/>
        </p:nvSpPr>
        <p:spPr>
          <a:xfrm>
            <a:off x="621792" y="3703320"/>
            <a:ext cx="65700" cy="855000"/>
          </a:xfrm>
          <a:prstGeom prst="rect">
            <a:avLst/>
          </a:prstGeom>
          <a:solidFill>
            <a:srgbClr val="1C75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7"/>
          <p:cNvSpPr txBox="1"/>
          <p:nvPr/>
        </p:nvSpPr>
        <p:spPr>
          <a:xfrm>
            <a:off x="795528" y="3767328"/>
            <a:ext cx="969300" cy="46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3000">
                <a:solidFill>
                  <a:srgbClr val="1C7570"/>
                </a:solidFill>
                <a:latin typeface="Cambria"/>
                <a:ea typeface="Cambria"/>
                <a:cs typeface="Cambria"/>
                <a:sym typeface="Cambria"/>
              </a:rPr>
              <a:t>60%</a:t>
            </a:r>
            <a:endParaRPr/>
          </a:p>
        </p:txBody>
      </p:sp>
      <p:sp>
        <p:nvSpPr>
          <p:cNvPr id="60" name="Google Shape;60;p7"/>
          <p:cNvSpPr txBox="1"/>
          <p:nvPr/>
        </p:nvSpPr>
        <p:spPr>
          <a:xfrm>
            <a:off x="1856231" y="3785615"/>
            <a:ext cx="12252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a:solidFill>
                  <a:srgbClr val="55585C"/>
                </a:solidFill>
                <a:latin typeface="Calibri"/>
                <a:ea typeface="Calibri"/>
                <a:cs typeface="Calibri"/>
                <a:sym typeface="Calibri"/>
              </a:rPr>
              <a:t>HYPOTHESIS</a:t>
            </a:r>
            <a:endParaRPr sz="1800"/>
          </a:p>
        </p:txBody>
      </p:sp>
      <p:sp>
        <p:nvSpPr>
          <p:cNvPr id="61" name="Google Shape;61;p7"/>
          <p:cNvSpPr txBox="1"/>
          <p:nvPr/>
        </p:nvSpPr>
        <p:spPr>
          <a:xfrm>
            <a:off x="3026664" y="3758183"/>
            <a:ext cx="81840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232528"/>
                </a:solidFill>
                <a:latin typeface="Calibri"/>
                <a:ea typeface="Calibri"/>
                <a:cs typeface="Calibri"/>
                <a:sym typeface="Calibri"/>
              </a:rPr>
              <a:t>Many successful readouts are explainable from prompt context.</a:t>
            </a:r>
            <a:endParaRPr/>
          </a:p>
        </p:txBody>
      </p:sp>
      <p:sp>
        <p:nvSpPr>
          <p:cNvPr id="62" name="Google Shape;62;p7"/>
          <p:cNvSpPr txBox="1"/>
          <p:nvPr/>
        </p:nvSpPr>
        <p:spPr>
          <a:xfrm>
            <a:off x="3026664" y="4160520"/>
            <a:ext cx="8184000" cy="22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40">
                <a:solidFill>
                  <a:srgbClr val="55585C"/>
                </a:solidFill>
                <a:latin typeface="Calibri"/>
                <a:ea typeface="Calibri"/>
                <a:cs typeface="Calibri"/>
                <a:sym typeface="Calibri"/>
              </a:rPr>
              <a:t>S06, E140; E107b/E116 pull against   ·   Challenge: verified model-private tracking beyond matched text-only.</a:t>
            </a:r>
            <a:endParaRPr sz="1700"/>
          </a:p>
        </p:txBody>
      </p:sp>
      <p:sp>
        <p:nvSpPr>
          <p:cNvPr id="63" name="Google Shape;63;p7"/>
          <p:cNvSpPr/>
          <p:nvPr/>
        </p:nvSpPr>
        <p:spPr>
          <a:xfrm>
            <a:off x="621792" y="4649723"/>
            <a:ext cx="10954500" cy="855000"/>
          </a:xfrm>
          <a:prstGeom prst="roundRect">
            <a:avLst>
              <a:gd fmla="val 16667" name="adj"/>
            </a:avLst>
          </a:prstGeom>
          <a:solidFill>
            <a:srgbClr val="FFFFFF"/>
          </a:solidFill>
          <a:ln cap="flat" cmpd="sng" w="9525">
            <a:solidFill>
              <a:srgbClr val="E2E0D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7"/>
          <p:cNvSpPr/>
          <p:nvPr/>
        </p:nvSpPr>
        <p:spPr>
          <a:xfrm>
            <a:off x="621792" y="4649723"/>
            <a:ext cx="65700" cy="855000"/>
          </a:xfrm>
          <a:prstGeom prst="rect">
            <a:avLst/>
          </a:prstGeom>
          <a:solidFill>
            <a:srgbClr val="A8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7"/>
          <p:cNvSpPr txBox="1"/>
          <p:nvPr/>
        </p:nvSpPr>
        <p:spPr>
          <a:xfrm>
            <a:off x="795528" y="4713731"/>
            <a:ext cx="969300" cy="46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3000">
                <a:solidFill>
                  <a:srgbClr val="A82C5E"/>
                </a:solidFill>
                <a:latin typeface="Cambria"/>
                <a:ea typeface="Cambria"/>
                <a:cs typeface="Cambria"/>
                <a:sym typeface="Cambria"/>
              </a:rPr>
              <a:t>5</a:t>
            </a:r>
            <a:r>
              <a:rPr lang="en-US" sz="3000">
                <a:solidFill>
                  <a:srgbClr val="A82C5E"/>
                </a:solidFill>
                <a:latin typeface="Cambria"/>
                <a:ea typeface="Cambria"/>
                <a:cs typeface="Cambria"/>
                <a:sym typeface="Cambria"/>
              </a:rPr>
              <a:t>5</a:t>
            </a:r>
            <a:r>
              <a:rPr b="0" lang="en-US" sz="3000">
                <a:solidFill>
                  <a:srgbClr val="A82C5E"/>
                </a:solidFill>
                <a:latin typeface="Cambria"/>
                <a:ea typeface="Cambria"/>
                <a:cs typeface="Cambria"/>
                <a:sym typeface="Cambria"/>
              </a:rPr>
              <a:t>%</a:t>
            </a:r>
            <a:endParaRPr/>
          </a:p>
        </p:txBody>
      </p:sp>
      <p:sp>
        <p:nvSpPr>
          <p:cNvPr id="66" name="Google Shape;66;p7"/>
          <p:cNvSpPr txBox="1"/>
          <p:nvPr/>
        </p:nvSpPr>
        <p:spPr>
          <a:xfrm>
            <a:off x="1856231" y="4732019"/>
            <a:ext cx="12252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a:solidFill>
                  <a:srgbClr val="55585C"/>
                </a:solidFill>
                <a:latin typeface="Calibri"/>
                <a:ea typeface="Calibri"/>
                <a:cs typeface="Calibri"/>
                <a:sym typeface="Calibri"/>
              </a:rPr>
              <a:t>HYPOTHESIS</a:t>
            </a:r>
            <a:endParaRPr sz="1800"/>
          </a:p>
        </p:txBody>
      </p:sp>
      <p:sp>
        <p:nvSpPr>
          <p:cNvPr id="67" name="Google Shape;67;p7"/>
          <p:cNvSpPr txBox="1"/>
          <p:nvPr/>
        </p:nvSpPr>
        <p:spPr>
          <a:xfrm>
            <a:off x="3026664" y="4704587"/>
            <a:ext cx="81840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232528"/>
                </a:solidFill>
                <a:latin typeface="Calibri"/>
                <a:ea typeface="Calibri"/>
                <a:cs typeface="Calibri"/>
                <a:sym typeface="Calibri"/>
              </a:rPr>
              <a:t>Training and output conventions help explain the silence.</a:t>
            </a:r>
            <a:endParaRPr/>
          </a:p>
        </p:txBody>
      </p:sp>
      <p:sp>
        <p:nvSpPr>
          <p:cNvPr id="68" name="Google Shape;68;p7"/>
          <p:cNvSpPr txBox="1"/>
          <p:nvPr/>
        </p:nvSpPr>
        <p:spPr>
          <a:xfrm>
            <a:off x="3026664" y="5106923"/>
            <a:ext cx="8184000" cy="237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540">
                <a:solidFill>
                  <a:srgbClr val="55585C"/>
                </a:solidFill>
                <a:latin typeface="Calibri"/>
                <a:ea typeface="Calibri"/>
                <a:cs typeface="Calibri"/>
                <a:sym typeface="Calibri"/>
              </a:rPr>
              <a:t>S29/S30; E139 remains mixed   ·   Challenge: reward-only ablation or interface-matched SFT/RL study.</a:t>
            </a:r>
            <a:endParaRPr sz="1800"/>
          </a:p>
        </p:txBody>
      </p:sp>
      <p:sp>
        <p:nvSpPr>
          <p:cNvPr id="69" name="Google Shape;69;p7"/>
          <p:cNvSpPr txBox="1"/>
          <p:nvPr/>
        </p:nvSpPr>
        <p:spPr>
          <a:xfrm>
            <a:off x="630936" y="5687568"/>
            <a:ext cx="10963800" cy="174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130">
                <a:solidFill>
                  <a:srgbClr val="55585C"/>
                </a:solidFill>
                <a:latin typeface="Calibri"/>
                <a:ea typeface="Calibri"/>
                <a:cs typeface="Calibri"/>
                <a:sym typeface="Calibri"/>
              </a:rPr>
              <a:t>Provisional subjective credences—not statistical confidence intervals. Guiv and Suraj should agree on these numbers before submission.</a:t>
            </a:r>
            <a:endParaRPr/>
          </a:p>
        </p:txBody>
      </p:sp>
      <p:sp>
        <p:nvSpPr>
          <p:cNvPr id="70" name="Google Shape;70;p7"/>
          <p:cNvSpPr txBox="1"/>
          <p:nvPr/>
        </p:nvSpPr>
        <p:spPr>
          <a:xfrm>
            <a:off x="630936" y="6108192"/>
            <a:ext cx="10981800" cy="20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310">
                <a:solidFill>
                  <a:srgbClr val="1C7570"/>
                </a:solidFill>
                <a:latin typeface="Calibri"/>
                <a:ea typeface="Calibri"/>
                <a:cs typeface="Calibri"/>
                <a:sym typeface="Calibri"/>
              </a:rPr>
              <a:t>DECISIVE STANDARD  ·  A reader tracks a causally verified subject-private state better than a matched text-only predictor.</a:t>
            </a:r>
            <a:endParaRPr/>
          </a:p>
        </p:txBody>
      </p:sp>
      <p:sp>
        <p:nvSpPr>
          <p:cNvPr id="71" name="Google Shape;71;p7"/>
          <p:cNvSpPr txBox="1"/>
          <p:nvPr/>
        </p:nvSpPr>
        <p:spPr>
          <a:xfrm>
            <a:off x="630936" y="6510528"/>
            <a:ext cx="10963800" cy="133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869">
                <a:solidFill>
                  <a:srgbClr val="55585C"/>
                </a:solidFill>
                <a:latin typeface="Calibri"/>
                <a:ea typeface="Calibri"/>
                <a:cs typeface="Calibri"/>
                <a:sym typeface="Calibri"/>
              </a:rPr>
              <a:t>Sources: G-E100/E113/E126/E137/E140/E107b/E116; S-06/S22/S25/S29/S30; see claim ledger and appendix.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75" name="Shape 75"/>
        <p:cNvGrpSpPr/>
        <p:nvPr/>
      </p:nvGrpSpPr>
      <p:grpSpPr>
        <a:xfrm>
          <a:off x="0" y="0"/>
          <a:ext cx="0" cy="0"/>
          <a:chOff x="0" y="0"/>
          <a:chExt cx="0" cy="0"/>
        </a:xfrm>
      </p:grpSpPr>
      <p:sp>
        <p:nvSpPr>
          <p:cNvPr id="76" name="Google Shape;76;p8"/>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BEFORE THE SPRINT</a:t>
            </a:r>
            <a:endParaRPr b="1" sz="1500">
              <a:solidFill>
                <a:srgbClr val="8A8478"/>
              </a:solidFill>
              <a:latin typeface="Source Sans 3"/>
              <a:ea typeface="Source Sans 3"/>
              <a:cs typeface="Source Sans 3"/>
              <a:sym typeface="Source Sans 3"/>
            </a:endParaRPr>
          </a:p>
        </p:txBody>
      </p:sp>
      <p:sp>
        <p:nvSpPr>
          <p:cNvPr id="77" name="Google Shape;77;p8"/>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What existed and what we kept</a:t>
            </a:r>
            <a:endParaRPr b="1" sz="3500">
              <a:solidFill>
                <a:srgbClr val="1D232A"/>
              </a:solidFill>
              <a:latin typeface="Lora"/>
              <a:ea typeface="Lora"/>
              <a:cs typeface="Lora"/>
              <a:sym typeface="Lora"/>
            </a:endParaRPr>
          </a:p>
        </p:txBody>
      </p:sp>
      <p:sp>
        <p:nvSpPr>
          <p:cNvPr id="78" name="Google Shape;78;p8"/>
          <p:cNvSpPr/>
          <p:nvPr/>
        </p:nvSpPr>
        <p:spPr>
          <a:xfrm>
            <a:off x="609600" y="1479256"/>
            <a:ext cx="5364300" cy="37065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79" name="Google Shape;79;p8"/>
          <p:cNvSpPr/>
          <p:nvPr/>
        </p:nvSpPr>
        <p:spPr>
          <a:xfrm>
            <a:off x="609600" y="1479256"/>
            <a:ext cx="60900" cy="37065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0" name="Google Shape;80;p8"/>
          <p:cNvSpPr txBox="1"/>
          <p:nvPr/>
        </p:nvSpPr>
        <p:spPr>
          <a:xfrm>
            <a:off x="743712" y="1528064"/>
            <a:ext cx="51816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Exploration</a:t>
            </a:r>
            <a:endParaRPr b="1" sz="2100">
              <a:solidFill>
                <a:srgbClr val="1D232A"/>
              </a:solidFill>
              <a:latin typeface="Source Sans 3"/>
              <a:ea typeface="Source Sans 3"/>
              <a:cs typeface="Source Sans 3"/>
              <a:sym typeface="Source Sans 3"/>
            </a:endParaRPr>
          </a:p>
        </p:txBody>
      </p:sp>
      <p:sp>
        <p:nvSpPr>
          <p:cNvPr id="81" name="Google Shape;81;p8"/>
          <p:cNvSpPr txBox="1"/>
          <p:nvPr/>
        </p:nvSpPr>
        <p:spPr>
          <a:xfrm>
            <a:off x="743712" y="2027936"/>
            <a:ext cx="5181600" cy="3096900"/>
          </a:xfrm>
          <a:prstGeom prst="rect">
            <a:avLst/>
          </a:prstGeom>
          <a:noFill/>
          <a:ln>
            <a:noFill/>
          </a:ln>
        </p:spPr>
        <p:txBody>
          <a:bodyPr anchorCtr="0" anchor="t" bIns="121900" lIns="121900" spcFirstLastPara="1" rIns="121900" wrap="square" tIns="121900">
            <a:noAutofit/>
          </a:bodyPr>
          <a:lstStyle/>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Readers replicated: NLA FVE 0.761; WorkspaceBench 12 of 12 inside our CIs</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The J-space survival test can't separate in-J from non-J features</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Only col (characters since newline) is cleanly non-J; no reader reads it</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Confirmatory run pre-registered, never run</a:t>
            </a:r>
            <a:endParaRPr sz="1900">
              <a:solidFill>
                <a:srgbClr val="1D232A"/>
              </a:solidFill>
              <a:latin typeface="Source Sans 3"/>
              <a:ea typeface="Source Sans 3"/>
              <a:cs typeface="Source Sans 3"/>
              <a:sym typeface="Source Sans 3"/>
            </a:endParaRPr>
          </a:p>
        </p:txBody>
      </p:sp>
      <p:sp>
        <p:nvSpPr>
          <p:cNvPr id="82" name="Google Shape;82;p8"/>
          <p:cNvSpPr/>
          <p:nvPr/>
        </p:nvSpPr>
        <p:spPr>
          <a:xfrm>
            <a:off x="6217920" y="1479256"/>
            <a:ext cx="5364300" cy="37065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3" name="Google Shape;83;p8"/>
          <p:cNvSpPr/>
          <p:nvPr/>
        </p:nvSpPr>
        <p:spPr>
          <a:xfrm>
            <a:off x="6217920" y="1479256"/>
            <a:ext cx="60900" cy="37065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4" name="Google Shape;84;p8"/>
          <p:cNvSpPr txBox="1"/>
          <p:nvPr/>
        </p:nvSpPr>
        <p:spPr>
          <a:xfrm>
            <a:off x="6352032" y="1528064"/>
            <a:ext cx="51816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Sprint</a:t>
            </a:r>
            <a:endParaRPr b="1" sz="2100">
              <a:solidFill>
                <a:srgbClr val="1D232A"/>
              </a:solidFill>
              <a:latin typeface="Source Sans 3"/>
              <a:ea typeface="Source Sans 3"/>
              <a:cs typeface="Source Sans 3"/>
              <a:sym typeface="Source Sans 3"/>
            </a:endParaRPr>
          </a:p>
        </p:txBody>
      </p:sp>
      <p:sp>
        <p:nvSpPr>
          <p:cNvPr id="85" name="Google Shape;85;p8"/>
          <p:cNvSpPr txBox="1"/>
          <p:nvPr/>
        </p:nvSpPr>
        <p:spPr>
          <a:xfrm>
            <a:off x="6352032" y="2027936"/>
            <a:ext cx="5181600" cy="3096900"/>
          </a:xfrm>
          <a:prstGeom prst="rect">
            <a:avLst/>
          </a:prstGeom>
          <a:noFill/>
          <a:ln>
            <a:noFill/>
          </a:ln>
        </p:spPr>
        <p:txBody>
          <a:bodyPr anchorCtr="0" anchor="t" bIns="121900" lIns="121900" spcFirstLastPara="1" rIns="121900" wrap="square" tIns="121900">
            <a:noAutofit/>
          </a:bodyPr>
          <a:lstStyle/>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Kept: the replication, best-of-11-layers, centred pushes, z against random directions</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Kept: WorkspaceBench measures re-solving the prompt (next slide)</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23 Oct: Neel asked what one method finds that another can't</a:t>
            </a:r>
            <a:endParaRPr sz="1900">
              <a:solidFill>
                <a:srgbClr val="1D232A"/>
              </a:solidFill>
              <a:latin typeface="Source Sans 3"/>
              <a:ea typeface="Source Sans 3"/>
              <a:cs typeface="Source Sans 3"/>
              <a:sym typeface="Source Sans 3"/>
            </a:endParaRPr>
          </a:p>
          <a:p>
            <a:pPr indent="-425450" lvl="0" marL="609600" rtl="0" algn="l">
              <a:spcBef>
                <a:spcPts val="0"/>
              </a:spcBef>
              <a:spcAft>
                <a:spcPts val="0"/>
              </a:spcAft>
              <a:buClr>
                <a:srgbClr val="1D232A"/>
              </a:buClr>
              <a:buSzPts val="1900"/>
              <a:buFont typeface="Source Sans 3"/>
              <a:buChar char="●"/>
            </a:pPr>
            <a:r>
              <a:rPr lang="en-US" sz="1900">
                <a:solidFill>
                  <a:srgbClr val="1D232A"/>
                </a:solidFill>
                <a:latin typeface="Source Sans 3"/>
                <a:ea typeface="Source Sans 3"/>
                <a:cs typeface="Source Sans 3"/>
                <a:sym typeface="Source Sans 3"/>
              </a:rPr>
              <a:t>That question, per concept, became the sprint</a:t>
            </a:r>
            <a:endParaRPr sz="1900">
              <a:solidFill>
                <a:srgbClr val="1D232A"/>
              </a:solidFill>
              <a:latin typeface="Source Sans 3"/>
              <a:ea typeface="Source Sans 3"/>
              <a:cs typeface="Source Sans 3"/>
              <a:sym typeface="Source Sans 3"/>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9"/>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THE APPARATUS</a:t>
            </a:r>
            <a:endParaRPr sz="1100"/>
          </a:p>
        </p:txBody>
      </p:sp>
      <p:sp>
        <p:nvSpPr>
          <p:cNvPr id="92" name="Google Shape;92;p9"/>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800">
                <a:solidFill>
                  <a:schemeClr val="dk1"/>
                </a:solidFill>
                <a:latin typeface="Arial"/>
                <a:ea typeface="Arial"/>
                <a:cs typeface="Arial"/>
                <a:sym typeface="Arial"/>
              </a:rPr>
              <a:t>An activation reader turns one residual vector into text</a:t>
            </a:r>
            <a:endParaRPr b="1" sz="2800">
              <a:latin typeface="Arial"/>
              <a:ea typeface="Arial"/>
              <a:cs typeface="Arial"/>
              <a:sym typeface="Arial"/>
            </a:endParaRPr>
          </a:p>
        </p:txBody>
      </p:sp>
      <p:sp>
        <p:nvSpPr>
          <p:cNvPr id="93" name="Google Shape;93;p9"/>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9"/>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95" name="Google Shape;95;p9"/>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9"/>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97" name="Google Shape;97;p9"/>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9"/>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99" name="Google Shape;99;p9"/>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Read site   </a:t>
            </a:r>
            <a:r>
              <a:rPr lang="en-US" sz="1200">
                <a:solidFill>
                  <a:schemeClr val="dk1"/>
                </a:solidFill>
              </a:rPr>
              <a:t>Chat banks read the assistant-onset token, the last prompt token before Qwen would generate. Transfer chains (E133, E137) have no chat template and read the raw final " by". Never the first generated token.</a:t>
            </a:r>
            <a:endParaRPr sz="1200"/>
          </a:p>
        </p:txBody>
      </p:sp>
      <p:sp>
        <p:nvSpPr>
          <p:cNvPr id="100" name="Google Shape;100;p9"/>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Readers: Oracle Lens and NLA adapters on the same Qwen3.6-27B backbone · core/readers.py and read-site conventions in guivff/activation-readers @ c60fa970 (appendix A3)</a:t>
            </a:r>
            <a:endParaRPr sz="1100"/>
          </a:p>
        </p:txBody>
      </p:sp>
      <p:sp>
        <p:nvSpPr>
          <p:cNvPr id="101" name="Google Shape;101;p9"/>
          <p:cNvSpPr txBox="1"/>
          <p:nvPr/>
        </p:nvSpPr>
        <p:spPr>
          <a:xfrm>
            <a:off x="548640" y="1600200"/>
            <a:ext cx="3108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700">
                <a:solidFill>
                  <a:srgbClr val="56606B"/>
                </a:solidFill>
                <a:latin typeface="Calibri"/>
                <a:ea typeface="Calibri"/>
                <a:cs typeface="Calibri"/>
                <a:sym typeface="Calibri"/>
              </a:rPr>
              <a:t>1  Prompt into Qwen3.6-27B</a:t>
            </a:r>
            <a:endParaRPr sz="1700">
              <a:solidFill>
                <a:schemeClr val="dk1"/>
              </a:solidFill>
              <a:latin typeface="Calibri"/>
              <a:ea typeface="Calibri"/>
              <a:cs typeface="Calibri"/>
              <a:sym typeface="Calibri"/>
            </a:endParaRPr>
          </a:p>
        </p:txBody>
      </p:sp>
      <p:sp>
        <p:nvSpPr>
          <p:cNvPr id="102" name="Google Shape;102;p9"/>
          <p:cNvSpPr/>
          <p:nvPr/>
        </p:nvSpPr>
        <p:spPr>
          <a:xfrm>
            <a:off x="548640" y="1920240"/>
            <a:ext cx="3429000" cy="1280100"/>
          </a:xfrm>
          <a:prstGeom prst="roundRect">
            <a:avLst>
              <a:gd fmla="val 4286"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9"/>
          <p:cNvSpPr txBox="1"/>
          <p:nvPr/>
        </p:nvSpPr>
        <p:spPr>
          <a:xfrm>
            <a:off x="694944" y="2029968"/>
            <a:ext cx="3136500" cy="107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250"/>
              <a:buFont typeface="Courier New"/>
              <a:buNone/>
            </a:pPr>
            <a:r>
              <a:rPr lang="en-US" sz="1250">
                <a:solidFill>
                  <a:srgbClr val="1F2A33"/>
                </a:solidFill>
                <a:latin typeface="Courier New"/>
                <a:ea typeface="Courier New"/>
                <a:cs typeface="Courier New"/>
                <a:sym typeface="Courier New"/>
              </a:rPr>
              <a:t>Archived question: The capital</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250"/>
              <a:buFont typeface="Courier New"/>
              <a:buNone/>
            </a:pPr>
            <a:r>
              <a:rPr lang="en-US" sz="1250">
                <a:solidFill>
                  <a:srgbClr val="1F2A33"/>
                </a:solidFill>
                <a:latin typeface="Courier New"/>
                <a:ea typeface="Courier New"/>
                <a:cs typeface="Courier New"/>
                <a:sym typeface="Courier New"/>
              </a:rPr>
              <a:t>of Peru is</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250"/>
              <a:buFont typeface="Courier New"/>
              <a:buNone/>
            </a:pPr>
            <a:r>
              <a:rPr lang="en-US" sz="1250">
                <a:solidFill>
                  <a:srgbClr val="1F2A33"/>
                </a:solidFill>
                <a:latin typeface="Courier New"/>
                <a:ea typeface="Courier New"/>
                <a:cs typeface="Courier New"/>
                <a:sym typeface="Courier New"/>
              </a:rPr>
              <a:t>End of archived question.</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250"/>
              <a:buFont typeface="Courier New"/>
              <a:buNone/>
            </a:pPr>
            <a:r>
              <a:rPr lang="en-US" sz="1250">
                <a:solidFill>
                  <a:srgbClr val="1F2A33"/>
                </a:solidFill>
                <a:latin typeface="Courier New"/>
                <a:ea typeface="Courier New"/>
                <a:cs typeface="Courier New"/>
                <a:sym typeface="Courier New"/>
              </a:rPr>
              <a:t>Current question: The capital</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250"/>
              <a:buFont typeface="Courier New"/>
              <a:buNone/>
            </a:pPr>
            <a:r>
              <a:rPr lang="en-US" sz="1250">
                <a:solidFill>
                  <a:srgbClr val="1F2A33"/>
                </a:solidFill>
                <a:latin typeface="Courier New"/>
                <a:ea typeface="Courier New"/>
                <a:cs typeface="Courier New"/>
                <a:sym typeface="Courier New"/>
              </a:rPr>
              <a:t>of France is</a:t>
            </a:r>
            <a:endParaRPr sz="1250">
              <a:solidFill>
                <a:schemeClr val="dk1"/>
              </a:solidFill>
              <a:latin typeface="Calibri"/>
              <a:ea typeface="Calibri"/>
              <a:cs typeface="Calibri"/>
              <a:sym typeface="Calibri"/>
            </a:endParaRPr>
          </a:p>
        </p:txBody>
      </p:sp>
      <p:sp>
        <p:nvSpPr>
          <p:cNvPr id="104" name="Google Shape;104;p9"/>
          <p:cNvSpPr txBox="1"/>
          <p:nvPr/>
        </p:nvSpPr>
        <p:spPr>
          <a:xfrm>
            <a:off x="548640" y="3337560"/>
            <a:ext cx="3291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700">
                <a:solidFill>
                  <a:srgbClr val="56606B"/>
                </a:solidFill>
                <a:latin typeface="Calibri"/>
                <a:ea typeface="Calibri"/>
                <a:cs typeface="Calibri"/>
                <a:sym typeface="Calibri"/>
              </a:rPr>
              <a:t>2  Residual output of one block, one token</a:t>
            </a:r>
            <a:endParaRPr sz="1700">
              <a:solidFill>
                <a:schemeClr val="dk1"/>
              </a:solidFill>
              <a:latin typeface="Calibri"/>
              <a:ea typeface="Calibri"/>
              <a:cs typeface="Calibri"/>
              <a:sym typeface="Calibri"/>
            </a:endParaRPr>
          </a:p>
        </p:txBody>
      </p:sp>
      <p:sp>
        <p:nvSpPr>
          <p:cNvPr id="105" name="Google Shape;105;p9"/>
          <p:cNvSpPr/>
          <p:nvPr/>
        </p:nvSpPr>
        <p:spPr>
          <a:xfrm>
            <a:off x="548640" y="3657600"/>
            <a:ext cx="2514600" cy="283500"/>
          </a:xfrm>
          <a:prstGeom prst="roundRect">
            <a:avLst>
              <a:gd fmla="val 12903"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9"/>
          <p:cNvSpPr txBox="1"/>
          <p:nvPr/>
        </p:nvSpPr>
        <p:spPr>
          <a:xfrm>
            <a:off x="658368" y="3657600"/>
            <a:ext cx="23775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block 40</a:t>
            </a:r>
            <a:endParaRPr sz="1350">
              <a:solidFill>
                <a:schemeClr val="dk1"/>
              </a:solidFill>
              <a:latin typeface="Calibri"/>
              <a:ea typeface="Calibri"/>
              <a:cs typeface="Calibri"/>
              <a:sym typeface="Calibri"/>
            </a:endParaRPr>
          </a:p>
        </p:txBody>
      </p:sp>
      <p:sp>
        <p:nvSpPr>
          <p:cNvPr id="107" name="Google Shape;107;p9"/>
          <p:cNvSpPr/>
          <p:nvPr/>
        </p:nvSpPr>
        <p:spPr>
          <a:xfrm>
            <a:off x="548640" y="4005072"/>
            <a:ext cx="2514600" cy="283500"/>
          </a:xfrm>
          <a:prstGeom prst="roundRect">
            <a:avLst>
              <a:gd fmla="val 12903" name="adj"/>
            </a:avLst>
          </a:prstGeom>
          <a:solidFill>
            <a:srgbClr val="E9E3F2"/>
          </a:solidFill>
          <a:ln cap="flat" cmpd="sng" w="952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9"/>
          <p:cNvSpPr txBox="1"/>
          <p:nvPr/>
        </p:nvSpPr>
        <p:spPr>
          <a:xfrm>
            <a:off x="658368" y="4005072"/>
            <a:ext cx="23775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4C9C"/>
              </a:buClr>
              <a:buSzPts val="1350"/>
              <a:buFont typeface="Calibri"/>
              <a:buNone/>
            </a:pPr>
            <a:r>
              <a:rPr b="1" lang="en-US" sz="1350">
                <a:solidFill>
                  <a:srgbClr val="6A4C9C"/>
                </a:solidFill>
                <a:latin typeface="Calibri"/>
                <a:ea typeface="Calibri"/>
                <a:cs typeface="Calibri"/>
                <a:sym typeface="Calibri"/>
              </a:rPr>
              <a:t>block 42   NLA reads</a:t>
            </a:r>
            <a:endParaRPr sz="1350">
              <a:solidFill>
                <a:schemeClr val="dk1"/>
              </a:solidFill>
              <a:latin typeface="Calibri"/>
              <a:ea typeface="Calibri"/>
              <a:cs typeface="Calibri"/>
              <a:sym typeface="Calibri"/>
            </a:endParaRPr>
          </a:p>
        </p:txBody>
      </p:sp>
      <p:sp>
        <p:nvSpPr>
          <p:cNvPr id="109" name="Google Shape;109;p9"/>
          <p:cNvSpPr/>
          <p:nvPr/>
        </p:nvSpPr>
        <p:spPr>
          <a:xfrm>
            <a:off x="548640" y="4352544"/>
            <a:ext cx="2514600" cy="283500"/>
          </a:xfrm>
          <a:prstGeom prst="roundRect">
            <a:avLst>
              <a:gd fmla="val 12903" name="adj"/>
            </a:avLst>
          </a:prstGeom>
          <a:solidFill>
            <a:srgbClr val="E9E3F2"/>
          </a:solidFill>
          <a:ln cap="flat" cmpd="sng" w="952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9"/>
          <p:cNvSpPr txBox="1"/>
          <p:nvPr/>
        </p:nvSpPr>
        <p:spPr>
          <a:xfrm>
            <a:off x="658368" y="4352544"/>
            <a:ext cx="23775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4C9C"/>
              </a:buClr>
              <a:buSzPts val="1350"/>
              <a:buFont typeface="Calibri"/>
              <a:buNone/>
            </a:pPr>
            <a:r>
              <a:rPr b="1" lang="en-US" sz="1350">
                <a:solidFill>
                  <a:srgbClr val="6A4C9C"/>
                </a:solidFill>
                <a:latin typeface="Calibri"/>
                <a:ea typeface="Calibri"/>
                <a:cs typeface="Calibri"/>
                <a:sym typeface="Calibri"/>
              </a:rPr>
              <a:t>block 44   Oracle reads</a:t>
            </a:r>
            <a:endParaRPr sz="1350">
              <a:solidFill>
                <a:schemeClr val="dk1"/>
              </a:solidFill>
              <a:latin typeface="Calibri"/>
              <a:ea typeface="Calibri"/>
              <a:cs typeface="Calibri"/>
              <a:sym typeface="Calibri"/>
            </a:endParaRPr>
          </a:p>
        </p:txBody>
      </p:sp>
      <p:sp>
        <p:nvSpPr>
          <p:cNvPr id="111" name="Google Shape;111;p9"/>
          <p:cNvSpPr/>
          <p:nvPr/>
        </p:nvSpPr>
        <p:spPr>
          <a:xfrm>
            <a:off x="548640" y="4700016"/>
            <a:ext cx="2514600" cy="283500"/>
          </a:xfrm>
          <a:prstGeom prst="roundRect">
            <a:avLst>
              <a:gd fmla="val 12903"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9"/>
          <p:cNvSpPr txBox="1"/>
          <p:nvPr/>
        </p:nvSpPr>
        <p:spPr>
          <a:xfrm>
            <a:off x="658368" y="4700016"/>
            <a:ext cx="23775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block 52</a:t>
            </a:r>
            <a:endParaRPr sz="1350">
              <a:solidFill>
                <a:schemeClr val="dk1"/>
              </a:solidFill>
              <a:latin typeface="Calibri"/>
              <a:ea typeface="Calibri"/>
              <a:cs typeface="Calibri"/>
              <a:sym typeface="Calibri"/>
            </a:endParaRPr>
          </a:p>
        </p:txBody>
      </p:sp>
      <p:sp>
        <p:nvSpPr>
          <p:cNvPr id="113" name="Google Shape;113;p9"/>
          <p:cNvSpPr/>
          <p:nvPr/>
        </p:nvSpPr>
        <p:spPr>
          <a:xfrm>
            <a:off x="548640" y="5047488"/>
            <a:ext cx="2514600" cy="283500"/>
          </a:xfrm>
          <a:prstGeom prst="roundRect">
            <a:avLst>
              <a:gd fmla="val 12903"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9"/>
          <p:cNvSpPr txBox="1"/>
          <p:nvPr/>
        </p:nvSpPr>
        <p:spPr>
          <a:xfrm>
            <a:off x="658368" y="5047488"/>
            <a:ext cx="23775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block 60</a:t>
            </a:r>
            <a:endParaRPr sz="1350">
              <a:solidFill>
                <a:schemeClr val="dk1"/>
              </a:solidFill>
              <a:latin typeface="Calibri"/>
              <a:ea typeface="Calibri"/>
              <a:cs typeface="Calibri"/>
              <a:sym typeface="Calibri"/>
            </a:endParaRPr>
          </a:p>
        </p:txBody>
      </p:sp>
      <p:sp>
        <p:nvSpPr>
          <p:cNvPr id="115" name="Google Shape;115;p9"/>
          <p:cNvSpPr txBox="1"/>
          <p:nvPr/>
        </p:nvSpPr>
        <p:spPr>
          <a:xfrm>
            <a:off x="548640" y="5440680"/>
            <a:ext cx="3840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200"/>
              <a:buFont typeface="Courier New"/>
              <a:buNone/>
            </a:pPr>
            <a:r>
              <a:rPr lang="en-US" sz="1200">
                <a:solidFill>
                  <a:srgbClr val="1F2A33"/>
                </a:solidFill>
                <a:latin typeface="Courier New"/>
                <a:ea typeface="Courier New"/>
                <a:cs typeface="Courier New"/>
                <a:sym typeface="Courier New"/>
              </a:rPr>
              <a:t>block L output = hidden_states[L+1]</a:t>
            </a:r>
            <a:endParaRPr sz="1200">
              <a:solidFill>
                <a:schemeClr val="dk1"/>
              </a:solidFill>
              <a:latin typeface="Calibri"/>
              <a:ea typeface="Calibri"/>
              <a:cs typeface="Calibri"/>
              <a:sym typeface="Calibri"/>
            </a:endParaRPr>
          </a:p>
        </p:txBody>
      </p:sp>
      <p:sp>
        <p:nvSpPr>
          <p:cNvPr id="116" name="Google Shape;116;p9"/>
          <p:cNvSpPr/>
          <p:nvPr/>
        </p:nvSpPr>
        <p:spPr>
          <a:xfrm>
            <a:off x="3246120" y="3657600"/>
            <a:ext cx="164700" cy="148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9"/>
          <p:cNvSpPr/>
          <p:nvPr/>
        </p:nvSpPr>
        <p:spPr>
          <a:xfrm>
            <a:off x="3246120" y="3822192"/>
            <a:ext cx="164700" cy="148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9"/>
          <p:cNvSpPr/>
          <p:nvPr/>
        </p:nvSpPr>
        <p:spPr>
          <a:xfrm>
            <a:off x="3246120" y="3986784"/>
            <a:ext cx="164700" cy="148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9"/>
          <p:cNvSpPr/>
          <p:nvPr/>
        </p:nvSpPr>
        <p:spPr>
          <a:xfrm>
            <a:off x="3246120" y="4151376"/>
            <a:ext cx="164700" cy="148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9"/>
          <p:cNvSpPr/>
          <p:nvPr/>
        </p:nvSpPr>
        <p:spPr>
          <a:xfrm>
            <a:off x="3246120" y="4315968"/>
            <a:ext cx="164700" cy="148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9"/>
          <p:cNvSpPr/>
          <p:nvPr/>
        </p:nvSpPr>
        <p:spPr>
          <a:xfrm>
            <a:off x="3246120" y="4480560"/>
            <a:ext cx="164700" cy="148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9"/>
          <p:cNvSpPr/>
          <p:nvPr/>
        </p:nvSpPr>
        <p:spPr>
          <a:xfrm>
            <a:off x="3246120" y="4645152"/>
            <a:ext cx="164700" cy="148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9"/>
          <p:cNvSpPr/>
          <p:nvPr/>
        </p:nvSpPr>
        <p:spPr>
          <a:xfrm>
            <a:off x="3246120" y="4809744"/>
            <a:ext cx="164700" cy="148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9"/>
          <p:cNvSpPr/>
          <p:nvPr/>
        </p:nvSpPr>
        <p:spPr>
          <a:xfrm>
            <a:off x="3246120" y="4974336"/>
            <a:ext cx="164700" cy="148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9"/>
          <p:cNvSpPr/>
          <p:nvPr/>
        </p:nvSpPr>
        <p:spPr>
          <a:xfrm>
            <a:off x="3246120" y="5138928"/>
            <a:ext cx="164700" cy="148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9"/>
          <p:cNvSpPr txBox="1"/>
          <p:nvPr/>
        </p:nvSpPr>
        <p:spPr>
          <a:xfrm>
            <a:off x="3520440" y="5074920"/>
            <a:ext cx="274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4C9C"/>
              </a:buClr>
              <a:buSzPts val="1800"/>
              <a:buFont typeface="Cambria Math"/>
              <a:buNone/>
            </a:pPr>
            <a:r>
              <a:rPr b="1" lang="en-US" sz="1800">
                <a:solidFill>
                  <a:srgbClr val="6A4C9C"/>
                </a:solidFill>
                <a:latin typeface="Cambria Math"/>
                <a:ea typeface="Cambria Math"/>
                <a:cs typeface="Cambria Math"/>
                <a:sym typeface="Cambria Math"/>
              </a:rPr>
              <a:t>h</a:t>
            </a:r>
            <a:endParaRPr sz="1800">
              <a:solidFill>
                <a:schemeClr val="dk1"/>
              </a:solidFill>
              <a:latin typeface="Calibri"/>
              <a:ea typeface="Calibri"/>
              <a:cs typeface="Calibri"/>
              <a:sym typeface="Calibri"/>
            </a:endParaRPr>
          </a:p>
        </p:txBody>
      </p:sp>
      <p:cxnSp>
        <p:nvCxnSpPr>
          <p:cNvPr id="127" name="Google Shape;127;p9"/>
          <p:cNvCxnSpPr/>
          <p:nvPr/>
        </p:nvCxnSpPr>
        <p:spPr>
          <a:xfrm flipH="1" rot="10800000">
            <a:off x="3520440" y="2743200"/>
            <a:ext cx="640200" cy="1828800"/>
          </a:xfrm>
          <a:prstGeom prst="straightConnector1">
            <a:avLst/>
          </a:prstGeom>
          <a:noFill/>
          <a:ln cap="flat" cmpd="sng" w="25400">
            <a:solidFill>
              <a:srgbClr val="6A4C9C"/>
            </a:solidFill>
            <a:prstDash val="solid"/>
            <a:round/>
            <a:headEnd len="sm" w="sm" type="none"/>
            <a:tailEnd len="med" w="med" type="triangle"/>
          </a:ln>
        </p:spPr>
      </p:cxnSp>
      <p:cxnSp>
        <p:nvCxnSpPr>
          <p:cNvPr id="128" name="Google Shape;128;p9"/>
          <p:cNvCxnSpPr/>
          <p:nvPr/>
        </p:nvCxnSpPr>
        <p:spPr>
          <a:xfrm>
            <a:off x="3520440" y="4572000"/>
            <a:ext cx="640200" cy="228600"/>
          </a:xfrm>
          <a:prstGeom prst="straightConnector1">
            <a:avLst/>
          </a:prstGeom>
          <a:noFill/>
          <a:ln cap="flat" cmpd="sng" w="25400">
            <a:solidFill>
              <a:srgbClr val="6A4C9C"/>
            </a:solidFill>
            <a:prstDash val="solid"/>
            <a:round/>
            <a:headEnd len="sm" w="sm" type="none"/>
            <a:tailEnd len="med" w="med" type="triangle"/>
          </a:ln>
        </p:spPr>
      </p:cxnSp>
      <p:sp>
        <p:nvSpPr>
          <p:cNvPr id="129" name="Google Shape;129;p9"/>
          <p:cNvSpPr txBox="1"/>
          <p:nvPr/>
        </p:nvSpPr>
        <p:spPr>
          <a:xfrm>
            <a:off x="4251950" y="1307400"/>
            <a:ext cx="45720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700">
                <a:solidFill>
                  <a:srgbClr val="56606B"/>
                </a:solidFill>
                <a:latin typeface="Calibri"/>
                <a:ea typeface="Calibri"/>
                <a:cs typeface="Calibri"/>
                <a:sym typeface="Calibri"/>
              </a:rPr>
              <a:t>3  Inject h into a reader that shares Qwen's weights</a:t>
            </a:r>
            <a:endParaRPr sz="1700">
              <a:solidFill>
                <a:schemeClr val="dk1"/>
              </a:solidFill>
              <a:latin typeface="Calibri"/>
              <a:ea typeface="Calibri"/>
              <a:cs typeface="Calibri"/>
              <a:sym typeface="Calibri"/>
            </a:endParaRPr>
          </a:p>
        </p:txBody>
      </p:sp>
      <p:sp>
        <p:nvSpPr>
          <p:cNvPr id="130" name="Google Shape;130;p9"/>
          <p:cNvSpPr/>
          <p:nvPr/>
        </p:nvSpPr>
        <p:spPr>
          <a:xfrm>
            <a:off x="4251960" y="1965960"/>
            <a:ext cx="4023300" cy="1691700"/>
          </a:xfrm>
          <a:prstGeom prst="roundRect">
            <a:avLst>
              <a:gd fmla="val 3243"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9"/>
          <p:cNvSpPr txBox="1"/>
          <p:nvPr/>
        </p:nvSpPr>
        <p:spPr>
          <a:xfrm>
            <a:off x="4434840" y="2057400"/>
            <a:ext cx="3657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700"/>
              <a:buFont typeface="Calibri"/>
              <a:buNone/>
            </a:pPr>
            <a:r>
              <a:rPr b="1" lang="en-US" sz="1700">
                <a:solidFill>
                  <a:srgbClr val="1F2A33"/>
                </a:solidFill>
                <a:latin typeface="Calibri"/>
                <a:ea typeface="Calibri"/>
                <a:cs typeface="Calibri"/>
                <a:sym typeface="Calibri"/>
              </a:rPr>
              <a:t>Oracle Lens · reads block 44</a:t>
            </a:r>
            <a:endParaRPr sz="1700">
              <a:solidFill>
                <a:schemeClr val="dk1"/>
              </a:solidFill>
              <a:latin typeface="Calibri"/>
              <a:ea typeface="Calibri"/>
              <a:cs typeface="Calibri"/>
              <a:sym typeface="Calibri"/>
            </a:endParaRPr>
          </a:p>
        </p:txBody>
      </p:sp>
      <p:sp>
        <p:nvSpPr>
          <p:cNvPr id="132" name="Google Shape;132;p9"/>
          <p:cNvSpPr txBox="1"/>
          <p:nvPr/>
        </p:nvSpPr>
        <p:spPr>
          <a:xfrm>
            <a:off x="4434840" y="2423160"/>
            <a:ext cx="3657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replaces a marker token's input embedding</a:t>
            </a:r>
            <a:endParaRPr sz="1400">
              <a:solidFill>
                <a:schemeClr val="dk1"/>
              </a:solidFill>
              <a:latin typeface="Calibri"/>
              <a:ea typeface="Calibri"/>
              <a:cs typeface="Calibri"/>
              <a:sym typeface="Calibri"/>
            </a:endParaRPr>
          </a:p>
        </p:txBody>
      </p:sp>
      <p:sp>
        <p:nvSpPr>
          <p:cNvPr id="133" name="Google Shape;133;p9"/>
          <p:cNvSpPr/>
          <p:nvPr/>
        </p:nvSpPr>
        <p:spPr>
          <a:xfrm>
            <a:off x="4434840" y="2834640"/>
            <a:ext cx="3657600" cy="567000"/>
          </a:xfrm>
          <a:prstGeom prst="roundRect">
            <a:avLst>
              <a:gd fmla="val 9677"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txBox="1"/>
          <p:nvPr/>
        </p:nvSpPr>
        <p:spPr>
          <a:xfrm>
            <a:off x="4599432" y="2889504"/>
            <a:ext cx="3328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e[marker] ← 16000 · h / ‖h‖</a:t>
            </a:r>
            <a:endParaRPr sz="1600">
              <a:solidFill>
                <a:schemeClr val="dk1"/>
              </a:solidFill>
              <a:latin typeface="Calibri"/>
              <a:ea typeface="Calibri"/>
              <a:cs typeface="Calibri"/>
              <a:sym typeface="Calibri"/>
            </a:endParaRPr>
          </a:p>
        </p:txBody>
      </p:sp>
      <p:sp>
        <p:nvSpPr>
          <p:cNvPr id="135" name="Google Shape;135;p9"/>
          <p:cNvSpPr/>
          <p:nvPr/>
        </p:nvSpPr>
        <p:spPr>
          <a:xfrm>
            <a:off x="4251960" y="3931920"/>
            <a:ext cx="4023300" cy="1691700"/>
          </a:xfrm>
          <a:prstGeom prst="roundRect">
            <a:avLst>
              <a:gd fmla="val 3243"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txBox="1"/>
          <p:nvPr/>
        </p:nvSpPr>
        <p:spPr>
          <a:xfrm>
            <a:off x="4434840" y="4023360"/>
            <a:ext cx="3657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700"/>
              <a:buFont typeface="Calibri"/>
              <a:buNone/>
            </a:pPr>
            <a:r>
              <a:rPr b="1" lang="en-US" sz="1700">
                <a:solidFill>
                  <a:srgbClr val="1F2A33"/>
                </a:solidFill>
                <a:latin typeface="Calibri"/>
                <a:ea typeface="Calibri"/>
                <a:cs typeface="Calibri"/>
                <a:sym typeface="Calibri"/>
              </a:rPr>
              <a:t>NLA · reads block 42</a:t>
            </a:r>
            <a:endParaRPr sz="1700">
              <a:solidFill>
                <a:schemeClr val="dk1"/>
              </a:solidFill>
              <a:latin typeface="Calibri"/>
              <a:ea typeface="Calibri"/>
              <a:cs typeface="Calibri"/>
              <a:sym typeface="Calibri"/>
            </a:endParaRPr>
          </a:p>
        </p:txBody>
      </p:sp>
      <p:sp>
        <p:nvSpPr>
          <p:cNvPr id="137" name="Google Shape;137;p9"/>
          <p:cNvSpPr txBox="1"/>
          <p:nvPr/>
        </p:nvSpPr>
        <p:spPr>
          <a:xfrm>
            <a:off x="4434840" y="4389120"/>
            <a:ext cx="36576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adds after its block 1, RL-trained so a critic can rebuild h</a:t>
            </a:r>
            <a:endParaRPr sz="1400">
              <a:solidFill>
                <a:schemeClr val="dk1"/>
              </a:solidFill>
              <a:latin typeface="Calibri"/>
              <a:ea typeface="Calibri"/>
              <a:cs typeface="Calibri"/>
              <a:sym typeface="Calibri"/>
            </a:endParaRPr>
          </a:p>
        </p:txBody>
      </p:sp>
      <p:sp>
        <p:nvSpPr>
          <p:cNvPr id="138" name="Google Shape;138;p9"/>
          <p:cNvSpPr/>
          <p:nvPr/>
        </p:nvSpPr>
        <p:spPr>
          <a:xfrm>
            <a:off x="4434840" y="4800600"/>
            <a:ext cx="3657600" cy="567000"/>
          </a:xfrm>
          <a:prstGeom prst="roundRect">
            <a:avLst>
              <a:gd fmla="val 9677"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9"/>
          <p:cNvSpPr txBox="1"/>
          <p:nvPr/>
        </p:nvSpPr>
        <p:spPr>
          <a:xfrm>
            <a:off x="4599432" y="4855464"/>
            <a:ext cx="3328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h₁[marker] ← h₁ + ‖h₁‖ · h / ‖h‖</a:t>
            </a:r>
            <a:endParaRPr sz="1600">
              <a:solidFill>
                <a:schemeClr val="dk1"/>
              </a:solidFill>
              <a:latin typeface="Calibri"/>
              <a:ea typeface="Calibri"/>
              <a:cs typeface="Calibri"/>
              <a:sym typeface="Calibri"/>
            </a:endParaRPr>
          </a:p>
        </p:txBody>
      </p:sp>
      <p:cxnSp>
        <p:nvCxnSpPr>
          <p:cNvPr id="140" name="Google Shape;140;p9"/>
          <p:cNvCxnSpPr/>
          <p:nvPr/>
        </p:nvCxnSpPr>
        <p:spPr>
          <a:xfrm>
            <a:off x="8321040" y="2788920"/>
            <a:ext cx="365700" cy="900"/>
          </a:xfrm>
          <a:prstGeom prst="straightConnector1">
            <a:avLst/>
          </a:prstGeom>
          <a:noFill/>
          <a:ln cap="flat" cmpd="sng" w="25400">
            <a:solidFill>
              <a:srgbClr val="B03060"/>
            </a:solidFill>
            <a:prstDash val="solid"/>
            <a:round/>
            <a:headEnd len="sm" w="sm" type="none"/>
            <a:tailEnd len="med" w="med" type="triangle"/>
          </a:ln>
        </p:spPr>
      </p:cxnSp>
      <p:cxnSp>
        <p:nvCxnSpPr>
          <p:cNvPr id="141" name="Google Shape;141;p9"/>
          <p:cNvCxnSpPr/>
          <p:nvPr/>
        </p:nvCxnSpPr>
        <p:spPr>
          <a:xfrm>
            <a:off x="8321040" y="4754880"/>
            <a:ext cx="365700" cy="900"/>
          </a:xfrm>
          <a:prstGeom prst="straightConnector1">
            <a:avLst/>
          </a:prstGeom>
          <a:noFill/>
          <a:ln cap="flat" cmpd="sng" w="25400">
            <a:solidFill>
              <a:srgbClr val="B03060"/>
            </a:solidFill>
            <a:prstDash val="solid"/>
            <a:round/>
            <a:headEnd len="sm" w="sm" type="none"/>
            <a:tailEnd len="med" w="med" type="triangle"/>
          </a:ln>
        </p:spPr>
      </p:cxnSp>
      <p:sp>
        <p:nvSpPr>
          <p:cNvPr id="142" name="Google Shape;142;p9"/>
          <p:cNvSpPr txBox="1"/>
          <p:nvPr/>
        </p:nvSpPr>
        <p:spPr>
          <a:xfrm>
            <a:off x="8778240" y="1600200"/>
            <a:ext cx="2926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700">
                <a:solidFill>
                  <a:srgbClr val="56606B"/>
                </a:solidFill>
                <a:latin typeface="Calibri"/>
                <a:ea typeface="Calibri"/>
                <a:cs typeface="Calibri"/>
                <a:sym typeface="Calibri"/>
              </a:rPr>
              <a:t>4  Text</a:t>
            </a:r>
            <a:endParaRPr b="1" sz="1700">
              <a:solidFill>
                <a:schemeClr val="dk1"/>
              </a:solidFill>
              <a:latin typeface="Calibri"/>
              <a:ea typeface="Calibri"/>
              <a:cs typeface="Calibri"/>
              <a:sym typeface="Calibri"/>
            </a:endParaRPr>
          </a:p>
        </p:txBody>
      </p:sp>
      <p:sp>
        <p:nvSpPr>
          <p:cNvPr id="143" name="Google Shape;143;p9"/>
          <p:cNvSpPr/>
          <p:nvPr/>
        </p:nvSpPr>
        <p:spPr>
          <a:xfrm>
            <a:off x="8778240" y="1965960"/>
            <a:ext cx="2880300" cy="1691700"/>
          </a:xfrm>
          <a:prstGeom prst="roundRect">
            <a:avLst>
              <a:gd fmla="val 3243" name="adj"/>
            </a:avLst>
          </a:prstGeom>
          <a:solidFill>
            <a:srgbClr val="F3DCE4"/>
          </a:solidFill>
          <a:ln cap="flat" cmpd="sng" w="9525">
            <a:solidFill>
              <a:srgbClr val="F3DC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txBox="1"/>
          <p:nvPr/>
        </p:nvSpPr>
        <p:spPr>
          <a:xfrm>
            <a:off x="8915400" y="2103120"/>
            <a:ext cx="26061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500"/>
              <a:buFont typeface="Calibri"/>
              <a:buNone/>
            </a:pPr>
            <a:r>
              <a:rPr b="1" lang="en-US" sz="1500">
                <a:solidFill>
                  <a:srgbClr val="B03060"/>
                </a:solidFill>
                <a:latin typeface="Calibri"/>
                <a:ea typeface="Calibri"/>
                <a:cs typeface="Calibri"/>
                <a:sym typeface="Calibri"/>
              </a:rPr>
              <a:t>short continuations of a prompt</a:t>
            </a:r>
            <a:endParaRPr sz="1500">
              <a:solidFill>
                <a:schemeClr val="dk1"/>
              </a:solidFill>
              <a:latin typeface="Calibri"/>
              <a:ea typeface="Calibri"/>
              <a:cs typeface="Calibri"/>
              <a:sym typeface="Calibri"/>
            </a:endParaRPr>
          </a:p>
        </p:txBody>
      </p:sp>
      <p:sp>
        <p:nvSpPr>
          <p:cNvPr id="145" name="Google Shape;145;p9"/>
          <p:cNvSpPr/>
          <p:nvPr/>
        </p:nvSpPr>
        <p:spPr>
          <a:xfrm>
            <a:off x="8778240" y="3931920"/>
            <a:ext cx="2880300" cy="1691700"/>
          </a:xfrm>
          <a:prstGeom prst="roundRect">
            <a:avLst>
              <a:gd fmla="val 3243" name="adj"/>
            </a:avLst>
          </a:prstGeom>
          <a:solidFill>
            <a:srgbClr val="F3DCE4"/>
          </a:solidFill>
          <a:ln cap="flat" cmpd="sng" w="9525">
            <a:solidFill>
              <a:srgbClr val="F3DC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9"/>
          <p:cNvSpPr txBox="1"/>
          <p:nvPr/>
        </p:nvSpPr>
        <p:spPr>
          <a:xfrm>
            <a:off x="8915400" y="4069080"/>
            <a:ext cx="26061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500"/>
              <a:buFont typeface="Calibri"/>
              <a:buNone/>
            </a:pPr>
            <a:r>
              <a:rPr b="1" lang="en-US" sz="1500">
                <a:solidFill>
                  <a:srgbClr val="B03060"/>
                </a:solidFill>
                <a:latin typeface="Calibri"/>
                <a:ea typeface="Calibri"/>
                <a:cs typeface="Calibri"/>
                <a:sym typeface="Calibri"/>
              </a:rPr>
              <a:t>a paragraph explaining the activation</a:t>
            </a:r>
            <a:endParaRPr sz="1500">
              <a:solidFill>
                <a:schemeClr val="dk1"/>
              </a:solidFill>
              <a:latin typeface="Calibri"/>
              <a:ea typeface="Calibri"/>
              <a:cs typeface="Calibri"/>
              <a:sym typeface="Calibri"/>
            </a:endParaRPr>
          </a:p>
        </p:txBody>
      </p:sp>
      <p:sp>
        <p:nvSpPr>
          <p:cNvPr id="147" name="Google Shape;147;p9"/>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HOW WE GRADE A READER</a:t>
            </a:r>
            <a:endParaRPr sz="1100"/>
          </a:p>
        </p:txBody>
      </p:sp>
      <p:sp>
        <p:nvSpPr>
          <p:cNvPr id="154" name="Google Shape;154;p10"/>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700">
                <a:solidFill>
                  <a:schemeClr val="dk1"/>
                </a:solidFill>
                <a:latin typeface="Arial"/>
                <a:ea typeface="Arial"/>
                <a:cs typeface="Arial"/>
                <a:sym typeface="Arial"/>
              </a:rPr>
              <a:t>Three questions about every state: decodable, causal here, stated</a:t>
            </a:r>
            <a:endParaRPr b="1" sz="2700">
              <a:latin typeface="Arial"/>
              <a:ea typeface="Arial"/>
              <a:cs typeface="Arial"/>
              <a:sym typeface="Arial"/>
            </a:endParaRPr>
          </a:p>
        </p:txBody>
      </p:sp>
      <p:sp>
        <p:nvSpPr>
          <p:cNvPr id="155" name="Google Shape;155;p10"/>
          <p:cNvSpPr/>
          <p:nvPr/>
        </p:nvSpPr>
        <p:spPr>
          <a:xfrm>
            <a:off x="9930384" y="310896"/>
            <a:ext cx="183000" cy="183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0"/>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57" name="Google Shape;157;p10"/>
          <p:cNvSpPr/>
          <p:nvPr/>
        </p:nvSpPr>
        <p:spPr>
          <a:xfrm>
            <a:off x="10753344" y="310896"/>
            <a:ext cx="183000" cy="18300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0"/>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59" name="Google Shape;159;p10"/>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0"/>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1" name="Google Shape;161;p10"/>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Rule   </a:t>
            </a:r>
            <a:r>
              <a:rPr lang="en-US" sz="1200">
                <a:solidFill>
                  <a:schemeClr val="dk1"/>
                </a:solidFill>
              </a:rPr>
              <a:t>A state can be decodable without being causal here, and causal without being stated. These are never drawn on a shared axis; each later slide names its unit.</a:t>
            </a:r>
            <a:endParaRPr sz="1200"/>
          </a:p>
        </p:txBody>
      </p:sp>
      <p:sp>
        <p:nvSpPr>
          <p:cNvPr id="162" name="Google Shape;162;p10"/>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Judge: blind LLM judge, a YES must quote the readout · human audit</a:t>
            </a:r>
            <a:r>
              <a:rPr lang="en-US"/>
              <a:t>ed later</a:t>
            </a:r>
            <a:endParaRPr sz="1100"/>
          </a:p>
        </p:txBody>
      </p:sp>
      <p:sp>
        <p:nvSpPr>
          <p:cNvPr id="163" name="Google Shape;163;p10"/>
          <p:cNvSpPr/>
          <p:nvPr/>
        </p:nvSpPr>
        <p:spPr>
          <a:xfrm>
            <a:off x="548640" y="1691640"/>
            <a:ext cx="3566100" cy="3931800"/>
          </a:xfrm>
          <a:prstGeom prst="roundRect">
            <a:avLst>
              <a:gd fmla="val 2051" name="adj"/>
            </a:avLst>
          </a:prstGeom>
          <a:solidFill>
            <a:srgbClr val="E9E3F2"/>
          </a:solidFill>
          <a:ln cap="flat" cmpd="sng" w="9525">
            <a:solidFill>
              <a:srgbClr val="E9E3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10"/>
          <p:cNvSpPr/>
          <p:nvPr/>
        </p:nvSpPr>
        <p:spPr>
          <a:xfrm>
            <a:off x="822960" y="1920240"/>
            <a:ext cx="384000" cy="384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0"/>
          <p:cNvSpPr txBox="1"/>
          <p:nvPr/>
        </p:nvSpPr>
        <p:spPr>
          <a:xfrm>
            <a:off x="1371600" y="1901952"/>
            <a:ext cx="25602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4C9C"/>
              </a:buClr>
              <a:buSzPts val="2200"/>
              <a:buFont typeface="Calibri"/>
              <a:buNone/>
            </a:pPr>
            <a:r>
              <a:rPr b="1" lang="en-US" sz="2200">
                <a:solidFill>
                  <a:srgbClr val="6A4C9C"/>
                </a:solidFill>
                <a:latin typeface="Calibri"/>
                <a:ea typeface="Calibri"/>
                <a:cs typeface="Calibri"/>
                <a:sym typeface="Calibri"/>
              </a:rPr>
              <a:t>Decodable</a:t>
            </a:r>
            <a:endParaRPr sz="2200">
              <a:solidFill>
                <a:schemeClr val="dk1"/>
              </a:solidFill>
              <a:latin typeface="Calibri"/>
              <a:ea typeface="Calibri"/>
              <a:cs typeface="Calibri"/>
              <a:sym typeface="Calibri"/>
            </a:endParaRPr>
          </a:p>
        </p:txBody>
      </p:sp>
      <p:sp>
        <p:nvSpPr>
          <p:cNvPr id="166" name="Google Shape;166;p10"/>
          <p:cNvSpPr txBox="1"/>
          <p:nvPr/>
        </p:nvSpPr>
        <p:spPr>
          <a:xfrm>
            <a:off x="822960" y="2560320"/>
            <a:ext cx="30633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700"/>
              <a:buFont typeface="Calibri"/>
              <a:buNone/>
            </a:pPr>
            <a:r>
              <a:rPr b="1" lang="en-US" sz="1700">
                <a:solidFill>
                  <a:srgbClr val="1F2A33"/>
                </a:solidFill>
                <a:latin typeface="Calibri"/>
                <a:ea typeface="Calibri"/>
                <a:cs typeface="Calibri"/>
                <a:sym typeface="Calibri"/>
              </a:rPr>
              <a:t>Can a linear probe read it from the activation?</a:t>
            </a:r>
            <a:endParaRPr sz="1700">
              <a:solidFill>
                <a:schemeClr val="dk1"/>
              </a:solidFill>
              <a:latin typeface="Calibri"/>
              <a:ea typeface="Calibri"/>
              <a:cs typeface="Calibri"/>
              <a:sym typeface="Calibri"/>
            </a:endParaRPr>
          </a:p>
        </p:txBody>
      </p:sp>
      <p:sp>
        <p:nvSpPr>
          <p:cNvPr id="167" name="Google Shape;167;p10"/>
          <p:cNvSpPr txBox="1"/>
          <p:nvPr/>
        </p:nvSpPr>
        <p:spPr>
          <a:xfrm>
            <a:off x="822960" y="3474720"/>
            <a:ext cx="30633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held-out probe</a:t>
            </a:r>
            <a:endParaRPr sz="1500">
              <a:solidFill>
                <a:schemeClr val="dk1"/>
              </a:solidFill>
              <a:latin typeface="Calibri"/>
              <a:ea typeface="Calibri"/>
              <a:cs typeface="Calibri"/>
              <a:sym typeface="Calibri"/>
            </a:endParaRPr>
          </a:p>
        </p:txBody>
      </p:sp>
      <p:sp>
        <p:nvSpPr>
          <p:cNvPr id="168" name="Google Shape;168;p10"/>
          <p:cNvSpPr/>
          <p:nvPr/>
        </p:nvSpPr>
        <p:spPr>
          <a:xfrm>
            <a:off x="822960" y="4206240"/>
            <a:ext cx="3017400" cy="777300"/>
          </a:xfrm>
          <a:prstGeom prst="roundRect">
            <a:avLst>
              <a:gd fmla="val 7059" name="adj"/>
            </a:avLst>
          </a:pr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0"/>
          <p:cNvSpPr txBox="1"/>
          <p:nvPr/>
        </p:nvSpPr>
        <p:spPr>
          <a:xfrm>
            <a:off x="960120" y="4224528"/>
            <a:ext cx="2743200" cy="43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4C9C"/>
              </a:buClr>
              <a:buSzPts val="2400"/>
              <a:buFont typeface="Cambria Math"/>
              <a:buNone/>
            </a:pPr>
            <a:r>
              <a:rPr b="1" lang="en-US" sz="2400">
                <a:solidFill>
                  <a:srgbClr val="6A4C9C"/>
                </a:solidFill>
                <a:latin typeface="Cambria Math"/>
                <a:ea typeface="Cambria Math"/>
                <a:cs typeface="Cambria Math"/>
                <a:sym typeface="Cambria Math"/>
              </a:rPr>
              <a:t>AUROC</a:t>
            </a:r>
            <a:endParaRPr sz="2400">
              <a:solidFill>
                <a:schemeClr val="dk1"/>
              </a:solidFill>
              <a:latin typeface="Calibri"/>
              <a:ea typeface="Calibri"/>
              <a:cs typeface="Calibri"/>
              <a:sym typeface="Calibri"/>
            </a:endParaRPr>
          </a:p>
        </p:txBody>
      </p:sp>
      <p:sp>
        <p:nvSpPr>
          <p:cNvPr id="170" name="Google Shape;170;p10"/>
          <p:cNvSpPr txBox="1"/>
          <p:nvPr/>
        </p:nvSpPr>
        <p:spPr>
          <a:xfrm>
            <a:off x="960120" y="4645152"/>
            <a:ext cx="27432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0.5 chance · 1.0 perfect</a:t>
            </a:r>
            <a:endParaRPr sz="1300">
              <a:solidFill>
                <a:schemeClr val="dk1"/>
              </a:solidFill>
              <a:latin typeface="Calibri"/>
              <a:ea typeface="Calibri"/>
              <a:cs typeface="Calibri"/>
              <a:sym typeface="Calibri"/>
            </a:endParaRPr>
          </a:p>
        </p:txBody>
      </p:sp>
      <p:sp>
        <p:nvSpPr>
          <p:cNvPr id="171" name="Google Shape;171;p10"/>
          <p:cNvSpPr txBox="1"/>
          <p:nvPr/>
        </p:nvSpPr>
        <p:spPr>
          <a:xfrm>
            <a:off x="822960" y="5166360"/>
            <a:ext cx="3017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i="1" lang="en-US" sz="1300">
                <a:solidFill>
                  <a:srgbClr val="56606B"/>
                </a:solidFill>
                <a:latin typeface="Calibri"/>
                <a:ea typeface="Calibri"/>
                <a:cs typeface="Calibri"/>
                <a:sym typeface="Calibri"/>
              </a:rPr>
              <a:t>judge-free</a:t>
            </a:r>
            <a:endParaRPr sz="1300">
              <a:solidFill>
                <a:schemeClr val="dk1"/>
              </a:solidFill>
              <a:latin typeface="Calibri"/>
              <a:ea typeface="Calibri"/>
              <a:cs typeface="Calibri"/>
              <a:sym typeface="Calibri"/>
            </a:endParaRPr>
          </a:p>
        </p:txBody>
      </p:sp>
      <p:sp>
        <p:nvSpPr>
          <p:cNvPr id="172" name="Google Shape;172;p10"/>
          <p:cNvSpPr/>
          <p:nvPr/>
        </p:nvSpPr>
        <p:spPr>
          <a:xfrm>
            <a:off x="4297680" y="1691640"/>
            <a:ext cx="3566100" cy="3931800"/>
          </a:xfrm>
          <a:prstGeom prst="roundRect">
            <a:avLst>
              <a:gd fmla="val 2051" name="adj"/>
            </a:avLst>
          </a:prstGeom>
          <a:solidFill>
            <a:srgbClr val="F5E2D5"/>
          </a:solidFill>
          <a:ln cap="flat" cmpd="sng" w="9525">
            <a:solidFill>
              <a:srgbClr val="F5E2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0"/>
          <p:cNvSpPr/>
          <p:nvPr/>
        </p:nvSpPr>
        <p:spPr>
          <a:xfrm>
            <a:off x="4572000" y="1920240"/>
            <a:ext cx="384000" cy="38400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0"/>
          <p:cNvSpPr txBox="1"/>
          <p:nvPr/>
        </p:nvSpPr>
        <p:spPr>
          <a:xfrm>
            <a:off x="5120640" y="1901952"/>
            <a:ext cx="25602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622B"/>
              </a:buClr>
              <a:buSzPts val="2200"/>
              <a:buFont typeface="Calibri"/>
              <a:buNone/>
            </a:pPr>
            <a:r>
              <a:rPr b="1" lang="en-US" sz="2200">
                <a:solidFill>
                  <a:srgbClr val="C8622B"/>
                </a:solidFill>
                <a:latin typeface="Calibri"/>
                <a:ea typeface="Calibri"/>
                <a:cs typeface="Calibri"/>
                <a:sym typeface="Calibri"/>
              </a:rPr>
              <a:t>Causal here</a:t>
            </a:r>
            <a:endParaRPr sz="2200">
              <a:solidFill>
                <a:schemeClr val="dk1"/>
              </a:solidFill>
              <a:latin typeface="Calibri"/>
              <a:ea typeface="Calibri"/>
              <a:cs typeface="Calibri"/>
              <a:sym typeface="Calibri"/>
            </a:endParaRPr>
          </a:p>
        </p:txBody>
      </p:sp>
      <p:sp>
        <p:nvSpPr>
          <p:cNvPr id="175" name="Google Shape;175;p10"/>
          <p:cNvSpPr txBox="1"/>
          <p:nvPr/>
        </p:nvSpPr>
        <p:spPr>
          <a:xfrm>
            <a:off x="4572000" y="2560320"/>
            <a:ext cx="30633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700"/>
              <a:buFont typeface="Calibri"/>
              <a:buNone/>
            </a:pPr>
            <a:r>
              <a:rPr b="1" lang="en-US" sz="1700">
                <a:solidFill>
                  <a:srgbClr val="1F2A33"/>
                </a:solidFill>
                <a:latin typeface="Calibri"/>
                <a:ea typeface="Calibri"/>
                <a:cs typeface="Calibri"/>
                <a:sym typeface="Calibri"/>
              </a:rPr>
              <a:t>Does Qwen's answer depend on it at this token and layer?</a:t>
            </a:r>
            <a:endParaRPr sz="1700">
              <a:solidFill>
                <a:schemeClr val="dk1"/>
              </a:solidFill>
              <a:latin typeface="Calibri"/>
              <a:ea typeface="Calibri"/>
              <a:cs typeface="Calibri"/>
              <a:sym typeface="Calibri"/>
            </a:endParaRPr>
          </a:p>
        </p:txBody>
      </p:sp>
      <p:sp>
        <p:nvSpPr>
          <p:cNvPr id="176" name="Google Shape;176;p10"/>
          <p:cNvSpPr txBox="1"/>
          <p:nvPr/>
        </p:nvSpPr>
        <p:spPr>
          <a:xfrm>
            <a:off x="4572000" y="3474720"/>
            <a:ext cx="30633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patch the activation, watch the answer's logit difference</a:t>
            </a:r>
            <a:endParaRPr sz="1500">
              <a:solidFill>
                <a:schemeClr val="dk1"/>
              </a:solidFill>
              <a:latin typeface="Calibri"/>
              <a:ea typeface="Calibri"/>
              <a:cs typeface="Calibri"/>
              <a:sym typeface="Calibri"/>
            </a:endParaRPr>
          </a:p>
        </p:txBody>
      </p:sp>
      <p:sp>
        <p:nvSpPr>
          <p:cNvPr id="177" name="Google Shape;177;p10"/>
          <p:cNvSpPr/>
          <p:nvPr/>
        </p:nvSpPr>
        <p:spPr>
          <a:xfrm>
            <a:off x="4572000" y="4206240"/>
            <a:ext cx="3017400" cy="777300"/>
          </a:xfrm>
          <a:prstGeom prst="roundRect">
            <a:avLst>
              <a:gd fmla="val 7059" name="adj"/>
            </a:avLst>
          </a:pr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0"/>
          <p:cNvSpPr txBox="1"/>
          <p:nvPr/>
        </p:nvSpPr>
        <p:spPr>
          <a:xfrm>
            <a:off x="4709160" y="4224528"/>
            <a:ext cx="2743200" cy="43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622B"/>
              </a:buClr>
              <a:buSzPts val="2400"/>
              <a:buFont typeface="Cambria Math"/>
              <a:buNone/>
            </a:pPr>
            <a:r>
              <a:rPr b="1" lang="en-US" sz="2400">
                <a:solidFill>
                  <a:srgbClr val="C8622B"/>
                </a:solidFill>
                <a:latin typeface="Cambria Math"/>
                <a:ea typeface="Cambria Math"/>
                <a:cs typeface="Cambria Math"/>
                <a:sym typeface="Cambria Math"/>
              </a:rPr>
              <a:t>R</a:t>
            </a:r>
            <a:endParaRPr sz="2400">
              <a:solidFill>
                <a:schemeClr val="dk1"/>
              </a:solidFill>
              <a:latin typeface="Calibri"/>
              <a:ea typeface="Calibri"/>
              <a:cs typeface="Calibri"/>
              <a:sym typeface="Calibri"/>
            </a:endParaRPr>
          </a:p>
        </p:txBody>
      </p:sp>
      <p:sp>
        <p:nvSpPr>
          <p:cNvPr id="179" name="Google Shape;179;p10"/>
          <p:cNvSpPr txBox="1"/>
          <p:nvPr/>
        </p:nvSpPr>
        <p:spPr>
          <a:xfrm>
            <a:off x="4709160" y="4645152"/>
            <a:ext cx="27432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0 no effect · 1 full effect</a:t>
            </a:r>
            <a:endParaRPr sz="1300">
              <a:solidFill>
                <a:schemeClr val="dk1"/>
              </a:solidFill>
              <a:latin typeface="Calibri"/>
              <a:ea typeface="Calibri"/>
              <a:cs typeface="Calibri"/>
              <a:sym typeface="Calibri"/>
            </a:endParaRPr>
          </a:p>
        </p:txBody>
      </p:sp>
      <p:sp>
        <p:nvSpPr>
          <p:cNvPr id="180" name="Google Shape;180;p10"/>
          <p:cNvSpPr txBox="1"/>
          <p:nvPr/>
        </p:nvSpPr>
        <p:spPr>
          <a:xfrm>
            <a:off x="4572000" y="5166360"/>
            <a:ext cx="3017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i="1" lang="en-US" sz="1300">
                <a:solidFill>
                  <a:srgbClr val="56606B"/>
                </a:solidFill>
                <a:latin typeface="Calibri"/>
                <a:ea typeface="Calibri"/>
                <a:cs typeface="Calibri"/>
                <a:sym typeface="Calibri"/>
              </a:rPr>
              <a:t>judge-free</a:t>
            </a:r>
            <a:endParaRPr sz="1300">
              <a:solidFill>
                <a:schemeClr val="dk1"/>
              </a:solidFill>
              <a:latin typeface="Calibri"/>
              <a:ea typeface="Calibri"/>
              <a:cs typeface="Calibri"/>
              <a:sym typeface="Calibri"/>
            </a:endParaRPr>
          </a:p>
        </p:txBody>
      </p:sp>
      <p:sp>
        <p:nvSpPr>
          <p:cNvPr id="181" name="Google Shape;181;p10"/>
          <p:cNvSpPr/>
          <p:nvPr/>
        </p:nvSpPr>
        <p:spPr>
          <a:xfrm>
            <a:off x="8046720" y="1691640"/>
            <a:ext cx="3566100" cy="3931800"/>
          </a:xfrm>
          <a:prstGeom prst="roundRect">
            <a:avLst>
              <a:gd fmla="val 2051" name="adj"/>
            </a:avLst>
          </a:prstGeom>
          <a:solidFill>
            <a:srgbClr val="F3DCE4"/>
          </a:solidFill>
          <a:ln cap="flat" cmpd="sng" w="9525">
            <a:solidFill>
              <a:srgbClr val="F3DC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0"/>
          <p:cNvSpPr/>
          <p:nvPr/>
        </p:nvSpPr>
        <p:spPr>
          <a:xfrm>
            <a:off x="8321040" y="1920240"/>
            <a:ext cx="384000" cy="384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0"/>
          <p:cNvSpPr txBox="1"/>
          <p:nvPr/>
        </p:nvSpPr>
        <p:spPr>
          <a:xfrm>
            <a:off x="8869680" y="1901952"/>
            <a:ext cx="25602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2200"/>
              <a:buFont typeface="Calibri"/>
              <a:buNone/>
            </a:pPr>
            <a:r>
              <a:rPr b="1" lang="en-US" sz="2200">
                <a:solidFill>
                  <a:srgbClr val="B03060"/>
                </a:solidFill>
                <a:latin typeface="Calibri"/>
                <a:ea typeface="Calibri"/>
                <a:cs typeface="Calibri"/>
                <a:sym typeface="Calibri"/>
              </a:rPr>
              <a:t>Stated</a:t>
            </a:r>
            <a:endParaRPr sz="2200">
              <a:solidFill>
                <a:schemeClr val="dk1"/>
              </a:solidFill>
              <a:latin typeface="Calibri"/>
              <a:ea typeface="Calibri"/>
              <a:cs typeface="Calibri"/>
              <a:sym typeface="Calibri"/>
            </a:endParaRPr>
          </a:p>
        </p:txBody>
      </p:sp>
      <p:sp>
        <p:nvSpPr>
          <p:cNvPr id="184" name="Google Shape;184;p10"/>
          <p:cNvSpPr txBox="1"/>
          <p:nvPr/>
        </p:nvSpPr>
        <p:spPr>
          <a:xfrm>
            <a:off x="8321040" y="2560320"/>
            <a:ext cx="30633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700"/>
              <a:buFont typeface="Calibri"/>
              <a:buNone/>
            </a:pPr>
            <a:r>
              <a:rPr b="1" lang="en-US" sz="1700">
                <a:solidFill>
                  <a:srgbClr val="1F2A33"/>
                </a:solidFill>
                <a:latin typeface="Calibri"/>
                <a:ea typeface="Calibri"/>
                <a:cs typeface="Calibri"/>
                <a:sym typeface="Calibri"/>
              </a:rPr>
              <a:t>Does the reader's text say it?</a:t>
            </a:r>
            <a:endParaRPr sz="1700">
              <a:solidFill>
                <a:schemeClr val="dk1"/>
              </a:solidFill>
              <a:latin typeface="Calibri"/>
              <a:ea typeface="Calibri"/>
              <a:cs typeface="Calibri"/>
              <a:sym typeface="Calibri"/>
            </a:endParaRPr>
          </a:p>
        </p:txBody>
      </p:sp>
      <p:sp>
        <p:nvSpPr>
          <p:cNvPr id="185" name="Google Shape;185;p10"/>
          <p:cNvSpPr txBox="1"/>
          <p:nvPr/>
        </p:nvSpPr>
        <p:spPr>
          <a:xfrm>
            <a:off x="8321040" y="3474720"/>
            <a:ext cx="30633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blind judge; a YES must quote the readout</a:t>
            </a:r>
            <a:endParaRPr sz="1500">
              <a:solidFill>
                <a:schemeClr val="dk1"/>
              </a:solidFill>
              <a:latin typeface="Calibri"/>
              <a:ea typeface="Calibri"/>
              <a:cs typeface="Calibri"/>
              <a:sym typeface="Calibri"/>
            </a:endParaRPr>
          </a:p>
        </p:txBody>
      </p:sp>
      <p:sp>
        <p:nvSpPr>
          <p:cNvPr id="186" name="Google Shape;186;p10"/>
          <p:cNvSpPr/>
          <p:nvPr/>
        </p:nvSpPr>
        <p:spPr>
          <a:xfrm>
            <a:off x="8321040" y="4206240"/>
            <a:ext cx="3017400" cy="777300"/>
          </a:xfrm>
          <a:prstGeom prst="roundRect">
            <a:avLst>
              <a:gd fmla="val 7059" name="adj"/>
            </a:avLst>
          </a:pr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0"/>
          <p:cNvSpPr txBox="1"/>
          <p:nvPr/>
        </p:nvSpPr>
        <p:spPr>
          <a:xfrm>
            <a:off x="8458200" y="4224528"/>
            <a:ext cx="2743200" cy="43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2400"/>
              <a:buFont typeface="Cambria Math"/>
              <a:buNone/>
            </a:pPr>
            <a:r>
              <a:rPr b="1" lang="en-US" sz="2400">
                <a:solidFill>
                  <a:srgbClr val="B03060"/>
                </a:solidFill>
                <a:latin typeface="Cambria Math"/>
                <a:ea typeface="Cambria Math"/>
                <a:cs typeface="Cambria Math"/>
                <a:sym typeface="Cambria Math"/>
              </a:rPr>
              <a:t>k / n</a:t>
            </a:r>
            <a:endParaRPr sz="2400">
              <a:solidFill>
                <a:schemeClr val="dk1"/>
              </a:solidFill>
              <a:latin typeface="Calibri"/>
              <a:ea typeface="Calibri"/>
              <a:cs typeface="Calibri"/>
              <a:sym typeface="Calibri"/>
            </a:endParaRPr>
          </a:p>
        </p:txBody>
      </p:sp>
      <p:sp>
        <p:nvSpPr>
          <p:cNvPr id="188" name="Google Shape;188;p10"/>
          <p:cNvSpPr txBox="1"/>
          <p:nvPr/>
        </p:nvSpPr>
        <p:spPr>
          <a:xfrm>
            <a:off x="8458200" y="4645152"/>
            <a:ext cx="27432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missing readouts reported</a:t>
            </a:r>
            <a:endParaRPr sz="1300">
              <a:solidFill>
                <a:schemeClr val="dk1"/>
              </a:solidFill>
              <a:latin typeface="Calibri"/>
              <a:ea typeface="Calibri"/>
              <a:cs typeface="Calibri"/>
              <a:sym typeface="Calibri"/>
            </a:endParaRPr>
          </a:p>
        </p:txBody>
      </p:sp>
      <p:sp>
        <p:nvSpPr>
          <p:cNvPr id="189" name="Google Shape;189;p10"/>
          <p:cNvSpPr txBox="1"/>
          <p:nvPr/>
        </p:nvSpPr>
        <p:spPr>
          <a:xfrm>
            <a:off x="8321040" y="5166360"/>
            <a:ext cx="3017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i="1" lang="en-US" sz="1300">
                <a:solidFill>
                  <a:srgbClr val="56606B"/>
                </a:solidFill>
                <a:latin typeface="Calibri"/>
                <a:ea typeface="Calibri"/>
                <a:cs typeface="Calibri"/>
                <a:sym typeface="Calibri"/>
              </a:rPr>
              <a:t>judged</a:t>
            </a:r>
            <a:endParaRPr sz="1300">
              <a:solidFill>
                <a:schemeClr val="dk1"/>
              </a:solidFill>
              <a:latin typeface="Calibri"/>
              <a:ea typeface="Calibri"/>
              <a:cs typeface="Calibri"/>
              <a:sym typeface="Calibri"/>
            </a:endParaRPr>
          </a:p>
        </p:txBody>
      </p:sp>
      <p:sp>
        <p:nvSpPr>
          <p:cNvPr id="190" name="Google Shape;190;p10"/>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1"/>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WHAT THE READERS ACTUALLY WRITE</a:t>
            </a:r>
            <a:endParaRPr sz="1100"/>
          </a:p>
        </p:txBody>
      </p:sp>
      <p:sp>
        <p:nvSpPr>
          <p:cNvPr id="197" name="Google Shape;197;p11"/>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700">
                <a:solidFill>
                  <a:schemeClr val="dk1"/>
                </a:solidFill>
                <a:latin typeface="Arial"/>
                <a:ea typeface="Arial"/>
                <a:cs typeface="Arial"/>
                <a:sym typeface="Arial"/>
              </a:rPr>
              <a:t>Readouts often look like a prompt of this kind, rebuilt and answered</a:t>
            </a:r>
            <a:endParaRPr b="1" sz="2700">
              <a:latin typeface="Arial"/>
              <a:ea typeface="Arial"/>
              <a:cs typeface="Arial"/>
              <a:sym typeface="Arial"/>
            </a:endParaRPr>
          </a:p>
        </p:txBody>
      </p:sp>
      <p:sp>
        <p:nvSpPr>
          <p:cNvPr id="198" name="Google Shape;198;p11"/>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1"/>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200" name="Google Shape;200;p11"/>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1"/>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202" name="Google Shape;202;p11"/>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1"/>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204" name="Google Shape;204;p11"/>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Selected examples   </a:t>
            </a:r>
            <a:r>
              <a:rPr lang="en-US" sz="1200">
                <a:solidFill>
                  <a:schemeClr val="dk1"/>
                </a:solidFill>
              </a:rPr>
              <a:t>Two readouts picked to show the two styles, not rates; the rates are on the following slides. Excerpts shortened with …; highlights mark the words a judge would credit.</a:t>
            </a:r>
            <a:endParaRPr sz="1200"/>
          </a:p>
        </p:txBody>
      </p:sp>
      <p:sp>
        <p:nvSpPr>
          <p:cNvPr id="205" name="Google Shape;205;p11"/>
          <p:cNvSpPr txBox="1"/>
          <p:nvPr/>
        </p:nvSpPr>
        <p:spPr>
          <a:xfrm>
            <a:off x="548640" y="1600200"/>
            <a:ext cx="3200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Prompt to Qwen</a:t>
            </a:r>
            <a:endParaRPr sz="1400">
              <a:solidFill>
                <a:schemeClr val="dk1"/>
              </a:solidFill>
              <a:latin typeface="Calibri"/>
              <a:ea typeface="Calibri"/>
              <a:cs typeface="Calibri"/>
              <a:sym typeface="Calibri"/>
            </a:endParaRPr>
          </a:p>
        </p:txBody>
      </p:sp>
      <p:sp>
        <p:nvSpPr>
          <p:cNvPr id="206" name="Google Shape;206;p11"/>
          <p:cNvSpPr txBox="1"/>
          <p:nvPr/>
        </p:nvSpPr>
        <p:spPr>
          <a:xfrm>
            <a:off x="3931920" y="1600200"/>
            <a:ext cx="3703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400"/>
              <a:buFont typeface="Calibri"/>
              <a:buNone/>
            </a:pPr>
            <a:r>
              <a:rPr b="1" lang="en-US" sz="1400">
                <a:solidFill>
                  <a:srgbClr val="B03060"/>
                </a:solidFill>
                <a:latin typeface="Calibri"/>
                <a:ea typeface="Calibri"/>
                <a:cs typeface="Calibri"/>
                <a:sym typeface="Calibri"/>
              </a:rPr>
              <a:t>Oracle Lens readout</a:t>
            </a:r>
            <a:endParaRPr sz="1400">
              <a:solidFill>
                <a:schemeClr val="dk1"/>
              </a:solidFill>
              <a:latin typeface="Calibri"/>
              <a:ea typeface="Calibri"/>
              <a:cs typeface="Calibri"/>
              <a:sym typeface="Calibri"/>
            </a:endParaRPr>
          </a:p>
        </p:txBody>
      </p:sp>
      <p:sp>
        <p:nvSpPr>
          <p:cNvPr id="207" name="Google Shape;207;p11"/>
          <p:cNvSpPr txBox="1"/>
          <p:nvPr/>
        </p:nvSpPr>
        <p:spPr>
          <a:xfrm>
            <a:off x="7818120" y="1600200"/>
            <a:ext cx="3840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400"/>
              <a:buFont typeface="Calibri"/>
              <a:buNone/>
            </a:pPr>
            <a:r>
              <a:rPr b="1" lang="en-US" sz="1400">
                <a:solidFill>
                  <a:srgbClr val="B03060"/>
                </a:solidFill>
                <a:latin typeface="Calibri"/>
                <a:ea typeface="Calibri"/>
                <a:cs typeface="Calibri"/>
                <a:sym typeface="Calibri"/>
              </a:rPr>
              <a:t>NLA readout</a:t>
            </a:r>
            <a:endParaRPr sz="1400">
              <a:solidFill>
                <a:schemeClr val="dk1"/>
              </a:solidFill>
              <a:latin typeface="Calibri"/>
              <a:ea typeface="Calibri"/>
              <a:cs typeface="Calibri"/>
              <a:sym typeface="Calibri"/>
            </a:endParaRPr>
          </a:p>
        </p:txBody>
      </p:sp>
      <p:sp>
        <p:nvSpPr>
          <p:cNvPr id="208" name="Google Shape;208;p11"/>
          <p:cNvSpPr/>
          <p:nvPr/>
        </p:nvSpPr>
        <p:spPr>
          <a:xfrm>
            <a:off x="548640" y="1965960"/>
            <a:ext cx="3200400" cy="1463100"/>
          </a:xfrm>
          <a:prstGeom prst="roundRect">
            <a:avLst>
              <a:gd fmla="val 3750"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1"/>
          <p:cNvSpPr txBox="1"/>
          <p:nvPr/>
        </p:nvSpPr>
        <p:spPr>
          <a:xfrm>
            <a:off x="685800" y="2075688"/>
            <a:ext cx="29262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What is the opposite of 'hot'? (Answer in Spanish, one word.)</a:t>
            </a:r>
            <a:endParaRPr sz="1500">
              <a:solidFill>
                <a:schemeClr val="dk1"/>
              </a:solidFill>
              <a:latin typeface="Calibri"/>
              <a:ea typeface="Calibri"/>
              <a:cs typeface="Calibri"/>
              <a:sym typeface="Calibri"/>
            </a:endParaRPr>
          </a:p>
        </p:txBody>
      </p:sp>
      <p:sp>
        <p:nvSpPr>
          <p:cNvPr id="210" name="Google Shape;210;p11"/>
          <p:cNvSpPr/>
          <p:nvPr/>
        </p:nvSpPr>
        <p:spPr>
          <a:xfrm>
            <a:off x="3931920" y="1965960"/>
            <a:ext cx="3703200" cy="1463100"/>
          </a:xfrm>
          <a:prstGeom prst="roundRect">
            <a:avLst>
              <a:gd fmla="val 3750"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1"/>
          <p:cNvSpPr txBox="1"/>
          <p:nvPr/>
        </p:nvSpPr>
        <p:spPr>
          <a:xfrm>
            <a:off x="4069080" y="2075688"/>
            <a:ext cx="34290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 </a:t>
            </a:r>
            <a:r>
              <a:rPr b="1" lang="en-US" sz="1300">
                <a:solidFill>
                  <a:srgbClr val="B03060"/>
                </a:solidFill>
                <a:highlight>
                  <a:srgbClr val="F3DCE4"/>
                </a:highlight>
                <a:latin typeface="Courier New"/>
                <a:ea typeface="Courier New"/>
                <a:cs typeface="Courier New"/>
                <a:sym typeface="Courier New"/>
              </a:rPr>
              <a:t>Frío</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 Frío</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 Frío (This is the single most common Spanish word for "cold" and the most direct translation)</a:t>
            </a:r>
            <a:endParaRPr sz="1300">
              <a:solidFill>
                <a:schemeClr val="dk1"/>
              </a:solidFill>
              <a:latin typeface="Calibri"/>
              <a:ea typeface="Calibri"/>
              <a:cs typeface="Calibri"/>
              <a:sym typeface="Calibri"/>
            </a:endParaRPr>
          </a:p>
        </p:txBody>
      </p:sp>
      <p:sp>
        <p:nvSpPr>
          <p:cNvPr id="212" name="Google Shape;212;p11"/>
          <p:cNvSpPr/>
          <p:nvPr/>
        </p:nvSpPr>
        <p:spPr>
          <a:xfrm>
            <a:off x="7818120" y="1965960"/>
            <a:ext cx="3840600" cy="1463100"/>
          </a:xfrm>
          <a:prstGeom prst="roundRect">
            <a:avLst>
              <a:gd fmla="val 3750"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1"/>
          <p:cNvSpPr txBox="1"/>
          <p:nvPr/>
        </p:nvSpPr>
        <p:spPr>
          <a:xfrm>
            <a:off x="7955280" y="2075688"/>
            <a:ext cx="35661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Q&amp;A format pattern: structured question-and-answer pair in English, now delivering a </a:t>
            </a:r>
            <a:r>
              <a:rPr b="1" lang="en-US" sz="1300">
                <a:solidFill>
                  <a:srgbClr val="B03060"/>
                </a:solidFill>
                <a:highlight>
                  <a:srgbClr val="F3DCE4"/>
                </a:highlight>
                <a:latin typeface="Courier New"/>
                <a:ea typeface="Courier New"/>
                <a:cs typeface="Courier New"/>
                <a:sym typeface="Courier New"/>
              </a:rPr>
              <a:t>Spanish-language direct answer</a:t>
            </a:r>
            <a:r>
              <a:rPr lang="en-US" sz="1300">
                <a:solidFill>
                  <a:srgbClr val="1F2A33"/>
                </a:solidFill>
                <a:latin typeface="Courier New"/>
                <a:ea typeface="Courier New"/>
                <a:cs typeface="Courier New"/>
                <a:sym typeface="Courier New"/>
              </a:rPr>
              <a:t>. … requiring the single Spanish word (e.g., "Frío") as the completion.</a:t>
            </a:r>
            <a:endParaRPr sz="1300">
              <a:solidFill>
                <a:schemeClr val="dk1"/>
              </a:solidFill>
              <a:latin typeface="Calibri"/>
              <a:ea typeface="Calibri"/>
              <a:cs typeface="Calibri"/>
              <a:sym typeface="Calibri"/>
            </a:endParaRPr>
          </a:p>
        </p:txBody>
      </p:sp>
      <p:sp>
        <p:nvSpPr>
          <p:cNvPr id="214" name="Google Shape;214;p11"/>
          <p:cNvSpPr txBox="1"/>
          <p:nvPr/>
        </p:nvSpPr>
        <p:spPr>
          <a:xfrm>
            <a:off x="3931920" y="3502152"/>
            <a:ext cx="7726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i="1" lang="en-US" sz="1450">
                <a:solidFill>
                  <a:srgbClr val="1F2A33"/>
                </a:solidFill>
                <a:latin typeface="Calibri"/>
                <a:ea typeface="Calibri"/>
                <a:cs typeface="Calibri"/>
                <a:sym typeface="Calibri"/>
              </a:rPr>
              <a:t>Both state the answer, and the NLA names the answer language.</a:t>
            </a:r>
            <a:endParaRPr sz="1450">
              <a:solidFill>
                <a:schemeClr val="dk1"/>
              </a:solidFill>
              <a:latin typeface="Calibri"/>
              <a:ea typeface="Calibri"/>
              <a:cs typeface="Calibri"/>
              <a:sym typeface="Calibri"/>
            </a:endParaRPr>
          </a:p>
        </p:txBody>
      </p:sp>
      <p:sp>
        <p:nvSpPr>
          <p:cNvPr id="215" name="Google Shape;215;p11"/>
          <p:cNvSpPr/>
          <p:nvPr/>
        </p:nvSpPr>
        <p:spPr>
          <a:xfrm>
            <a:off x="548640" y="3520440"/>
            <a:ext cx="1097400" cy="255900"/>
          </a:xfrm>
          <a:prstGeom prst="roundRect">
            <a:avLst>
              <a:gd fmla="val 57143" name="adj"/>
            </a:avLst>
          </a:prstGeom>
          <a:solidFill>
            <a:srgbClr val="E4DFD5"/>
          </a:solidFill>
          <a:ln cap="flat" cmpd="sng" w="9525">
            <a:solidFill>
              <a:srgbClr val="E4DF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1"/>
          <p:cNvSpPr txBox="1"/>
          <p:nvPr/>
        </p:nvSpPr>
        <p:spPr>
          <a:xfrm>
            <a:off x="548640" y="3520440"/>
            <a:ext cx="10974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b="1" lang="en-US" sz="1100">
                <a:solidFill>
                  <a:srgbClr val="56606B"/>
                </a:solidFill>
                <a:latin typeface="Calibri"/>
                <a:ea typeface="Calibri"/>
                <a:cs typeface="Calibri"/>
                <a:sym typeface="Calibri"/>
              </a:rPr>
              <a:t>lang-02A</a:t>
            </a:r>
            <a:endParaRPr sz="1100">
              <a:solidFill>
                <a:schemeClr val="dk1"/>
              </a:solidFill>
              <a:latin typeface="Calibri"/>
              <a:ea typeface="Calibri"/>
              <a:cs typeface="Calibri"/>
              <a:sym typeface="Calibri"/>
            </a:endParaRPr>
          </a:p>
        </p:txBody>
      </p:sp>
      <p:sp>
        <p:nvSpPr>
          <p:cNvPr id="217" name="Google Shape;217;p11"/>
          <p:cNvSpPr/>
          <p:nvPr/>
        </p:nvSpPr>
        <p:spPr>
          <a:xfrm>
            <a:off x="548640" y="3977640"/>
            <a:ext cx="3200400" cy="1463100"/>
          </a:xfrm>
          <a:prstGeom prst="roundRect">
            <a:avLst>
              <a:gd fmla="val 3750"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1"/>
          <p:cNvSpPr txBox="1"/>
          <p:nvPr/>
        </p:nvSpPr>
        <p:spPr>
          <a:xfrm>
            <a:off x="685800" y="4087368"/>
            <a:ext cx="29262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Eva carries the rope and Jonas carries the lantern. Who carries the lantern? Name only.</a:t>
            </a:r>
            <a:endParaRPr sz="1500">
              <a:solidFill>
                <a:schemeClr val="dk1"/>
              </a:solidFill>
              <a:latin typeface="Calibri"/>
              <a:ea typeface="Calibri"/>
              <a:cs typeface="Calibri"/>
              <a:sym typeface="Calibri"/>
            </a:endParaRPr>
          </a:p>
        </p:txBody>
      </p:sp>
      <p:sp>
        <p:nvSpPr>
          <p:cNvPr id="219" name="Google Shape;219;p11"/>
          <p:cNvSpPr/>
          <p:nvPr/>
        </p:nvSpPr>
        <p:spPr>
          <a:xfrm>
            <a:off x="3931920" y="3977640"/>
            <a:ext cx="3703200" cy="1463100"/>
          </a:xfrm>
          <a:prstGeom prst="roundRect">
            <a:avLst>
              <a:gd fmla="val 3750"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1"/>
          <p:cNvSpPr txBox="1"/>
          <p:nvPr/>
        </p:nvSpPr>
        <p:spPr>
          <a:xfrm>
            <a:off x="4069080" y="4087368"/>
            <a:ext cx="34290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 </a:t>
            </a:r>
            <a:r>
              <a:rPr b="1" lang="en-US" sz="1300">
                <a:solidFill>
                  <a:srgbClr val="B03060"/>
                </a:solidFill>
                <a:highlight>
                  <a:srgbClr val="F3DCE4"/>
                </a:highlight>
                <a:latin typeface="Courier New"/>
                <a:ea typeface="Courier New"/>
                <a:cs typeface="Courier New"/>
                <a:sym typeface="Courier New"/>
              </a:rPr>
              <a:t>Alice</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B03060"/>
              </a:buClr>
              <a:buSzPts val="1300"/>
              <a:buFont typeface="Courier New"/>
              <a:buNone/>
            </a:pPr>
            <a:r>
              <a:rPr b="1" lang="en-US" sz="1300">
                <a:solidFill>
                  <a:srgbClr val="B03060"/>
                </a:solidFill>
                <a:highlight>
                  <a:srgbClr val="F3DCE4"/>
                </a:highlight>
                <a:latin typeface="Courier New"/>
                <a:ea typeface="Courier New"/>
                <a:cs typeface="Courier New"/>
                <a:sym typeface="Courier New"/>
              </a:rPr>
              <a:t>John</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*(Note: The answer is strictly the name of the person who sleeps, as requested by …</a:t>
            </a:r>
            <a:endParaRPr sz="1300">
              <a:solidFill>
                <a:schemeClr val="dk1"/>
              </a:solidFill>
              <a:latin typeface="Calibri"/>
              <a:ea typeface="Calibri"/>
              <a:cs typeface="Calibri"/>
              <a:sym typeface="Calibri"/>
            </a:endParaRPr>
          </a:p>
        </p:txBody>
      </p:sp>
      <p:sp>
        <p:nvSpPr>
          <p:cNvPr id="221" name="Google Shape;221;p11"/>
          <p:cNvSpPr/>
          <p:nvPr/>
        </p:nvSpPr>
        <p:spPr>
          <a:xfrm>
            <a:off x="7818120" y="3977640"/>
            <a:ext cx="3840600" cy="1463100"/>
          </a:xfrm>
          <a:prstGeom prst="roundRect">
            <a:avLst>
              <a:gd fmla="val 3750"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1"/>
          <p:cNvSpPr txBox="1"/>
          <p:nvPr/>
        </p:nvSpPr>
        <p:spPr>
          <a:xfrm>
            <a:off x="7955280" y="4087368"/>
            <a:ext cx="35661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ourier New"/>
              <a:buNone/>
            </a:pPr>
            <a:r>
              <a:rPr lang="en-US" sz="1300">
                <a:solidFill>
                  <a:srgbClr val="1F2A33"/>
                </a:solidFill>
                <a:latin typeface="Courier New"/>
                <a:ea typeface="Courier New"/>
                <a:cs typeface="Courier New"/>
                <a:sym typeface="Courier New"/>
              </a:rPr>
              <a:t>Q&amp;A format with strict answer-only instruction signals the model must provide just the name </a:t>
            </a:r>
            <a:r>
              <a:rPr b="1" lang="en-US" sz="1300">
                <a:solidFill>
                  <a:srgbClr val="B03060"/>
                </a:solidFill>
                <a:highlight>
                  <a:srgbClr val="F3DCE4"/>
                </a:highlight>
                <a:latin typeface="Courier New"/>
                <a:ea typeface="Courier New"/>
                <a:cs typeface="Courier New"/>
                <a:sym typeface="Courier New"/>
              </a:rPr>
              <a:t>"Alex"</a:t>
            </a:r>
            <a:r>
              <a:rPr lang="en-US" sz="1300">
                <a:solidFill>
                  <a:srgbClr val="1F2A33"/>
                </a:solidFill>
                <a:latin typeface="Courier New"/>
                <a:ea typeface="Courier New"/>
                <a:cs typeface="Courier New"/>
                <a:sym typeface="Courier New"/>
              </a:rPr>
              <a:t> as the direct answer to "Who sits first." …</a:t>
            </a:r>
            <a:endParaRPr sz="1300">
              <a:solidFill>
                <a:schemeClr val="dk1"/>
              </a:solidFill>
              <a:latin typeface="Calibri"/>
              <a:ea typeface="Calibri"/>
              <a:cs typeface="Calibri"/>
              <a:sym typeface="Calibri"/>
            </a:endParaRPr>
          </a:p>
        </p:txBody>
      </p:sp>
      <p:sp>
        <p:nvSpPr>
          <p:cNvPr id="223" name="Google Shape;223;p11"/>
          <p:cNvSpPr txBox="1"/>
          <p:nvPr/>
        </p:nvSpPr>
        <p:spPr>
          <a:xfrm>
            <a:off x="3931920" y="5513832"/>
            <a:ext cx="7726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i="1" lang="en-US" sz="1450">
                <a:solidFill>
                  <a:srgbClr val="1F2A33"/>
                </a:solidFill>
                <a:latin typeface="Calibri"/>
                <a:ea typeface="Calibri"/>
                <a:cs typeface="Calibri"/>
                <a:sym typeface="Calibri"/>
              </a:rPr>
              <a:t>Neither names Jonas or Eva. Both rebuild a prompt of this kind (a name-only question) and answer that.</a:t>
            </a:r>
            <a:endParaRPr sz="1450">
              <a:solidFill>
                <a:schemeClr val="dk1"/>
              </a:solidFill>
              <a:latin typeface="Calibri"/>
              <a:ea typeface="Calibri"/>
              <a:cs typeface="Calibri"/>
              <a:sym typeface="Calibri"/>
            </a:endParaRPr>
          </a:p>
        </p:txBody>
      </p:sp>
      <p:sp>
        <p:nvSpPr>
          <p:cNvPr id="224" name="Google Shape;224;p11"/>
          <p:cNvSpPr/>
          <p:nvPr/>
        </p:nvSpPr>
        <p:spPr>
          <a:xfrm>
            <a:off x="548640" y="5532120"/>
            <a:ext cx="1097400" cy="255900"/>
          </a:xfrm>
          <a:prstGeom prst="roundRect">
            <a:avLst>
              <a:gd fmla="val 57143" name="adj"/>
            </a:avLst>
          </a:prstGeom>
          <a:solidFill>
            <a:srgbClr val="E4DFD5"/>
          </a:solidFill>
          <a:ln cap="flat" cmpd="sng" w="9525">
            <a:solidFill>
              <a:srgbClr val="E4DF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1"/>
          <p:cNvSpPr txBox="1"/>
          <p:nvPr/>
        </p:nvSpPr>
        <p:spPr>
          <a:xfrm>
            <a:off x="548640" y="5532120"/>
            <a:ext cx="10974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b="1" lang="en-US" sz="1100">
                <a:solidFill>
                  <a:srgbClr val="56606B"/>
                </a:solidFill>
                <a:latin typeface="Calibri"/>
                <a:ea typeface="Calibri"/>
                <a:cs typeface="Calibri"/>
                <a:sym typeface="Calibri"/>
              </a:rPr>
              <a:t>own-02A</a:t>
            </a:r>
            <a:endParaRPr sz="1100">
              <a:solidFill>
                <a:schemeClr val="dk1"/>
              </a:solidFill>
              <a:latin typeface="Calibri"/>
              <a:ea typeface="Calibri"/>
              <a:cs typeface="Calibri"/>
              <a:sym typeface="Calibri"/>
            </a:endParaRPr>
          </a:p>
        </p:txBody>
      </p:sp>
      <p:sp>
        <p:nvSpPr>
          <p:cNvPr id="226" name="Google Shape;226;p11"/>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230" name="Shape 230"/>
        <p:cNvGrpSpPr/>
        <p:nvPr/>
      </p:nvGrpSpPr>
      <p:grpSpPr>
        <a:xfrm>
          <a:off x="0" y="0"/>
          <a:ext cx="0" cy="0"/>
          <a:chOff x="0" y="0"/>
          <a:chExt cx="0" cy="0"/>
        </a:xfrm>
      </p:grpSpPr>
      <p:sp>
        <p:nvSpPr>
          <p:cNvPr id="231" name="Google Shape;231;p12"/>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GATES · CHECKED BEFORE ANY READER RESULT</a:t>
            </a:r>
            <a:endParaRPr b="1" sz="1500">
              <a:solidFill>
                <a:srgbClr val="8A8478"/>
              </a:solidFill>
              <a:latin typeface="Source Sans 3"/>
              <a:ea typeface="Source Sans 3"/>
              <a:cs typeface="Source Sans 3"/>
              <a:sym typeface="Source Sans 3"/>
            </a:endParaRPr>
          </a:p>
        </p:txBody>
      </p:sp>
      <p:sp>
        <p:nvSpPr>
          <p:cNvPr id="232" name="Google Shape;232;p12"/>
          <p:cNvSpPr txBox="1"/>
          <p:nvPr/>
        </p:nvSpPr>
        <p:spPr>
          <a:xfrm>
            <a:off x="609600" y="609600"/>
            <a:ext cx="10972800" cy="1300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Check the readers first → they work as published</a:t>
            </a:r>
            <a:endParaRPr b="1" sz="3500">
              <a:solidFill>
                <a:srgbClr val="1D232A"/>
              </a:solidFill>
              <a:latin typeface="Lora"/>
              <a:ea typeface="Lora"/>
              <a:cs typeface="Lora"/>
              <a:sym typeface="Lora"/>
            </a:endParaRPr>
          </a:p>
        </p:txBody>
      </p:sp>
      <p:sp>
        <p:nvSpPr>
          <p:cNvPr id="233" name="Google Shape;233;p12"/>
          <p:cNvSpPr txBox="1"/>
          <p:nvPr/>
        </p:nvSpPr>
        <p:spPr>
          <a:xfrm>
            <a:off x="609600" y="200761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Reconstruction from text (FVE, 64 activations)</a:t>
            </a:r>
            <a:endParaRPr b="1" sz="1900">
              <a:solidFill>
                <a:srgbClr val="1D232A"/>
              </a:solidFill>
              <a:latin typeface="Source Sans 3"/>
              <a:ea typeface="Source Sans 3"/>
              <a:cs typeface="Source Sans 3"/>
              <a:sym typeface="Source Sans 3"/>
            </a:endParaRPr>
          </a:p>
        </p:txBody>
      </p:sp>
      <p:sp>
        <p:nvSpPr>
          <p:cNvPr id="234" name="Google Shape;234;p12"/>
          <p:cNvSpPr txBox="1"/>
          <p:nvPr/>
        </p:nvSpPr>
        <p:spPr>
          <a:xfrm>
            <a:off x="609600" y="2428240"/>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(shipped)</a:t>
            </a:r>
            <a:endParaRPr sz="1900">
              <a:solidFill>
                <a:srgbClr val="1D232A"/>
              </a:solidFill>
              <a:latin typeface="Source Sans 3"/>
              <a:ea typeface="Source Sans 3"/>
              <a:cs typeface="Source Sans 3"/>
              <a:sym typeface="Source Sans 3"/>
            </a:endParaRPr>
          </a:p>
        </p:txBody>
      </p:sp>
      <p:sp>
        <p:nvSpPr>
          <p:cNvPr id="235" name="Google Shape;235;p12"/>
          <p:cNvSpPr/>
          <p:nvPr/>
        </p:nvSpPr>
        <p:spPr>
          <a:xfrm>
            <a:off x="3194304" y="2568488"/>
            <a:ext cx="17868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36" name="Google Shape;236;p12"/>
          <p:cNvSpPr/>
          <p:nvPr/>
        </p:nvSpPr>
        <p:spPr>
          <a:xfrm>
            <a:off x="3194304" y="2568488"/>
            <a:ext cx="135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37" name="Google Shape;237;p12"/>
          <p:cNvSpPr txBox="1"/>
          <p:nvPr/>
        </p:nvSpPr>
        <p:spPr>
          <a:xfrm>
            <a:off x="5054261" y="2403856"/>
            <a:ext cx="24441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0.76</a:t>
            </a:r>
            <a:r>
              <a:rPr lang="en-US" sz="1900">
                <a:solidFill>
                  <a:srgbClr val="6F6A60"/>
                </a:solidFill>
                <a:latin typeface="Source Sans 3"/>
                <a:ea typeface="Source Sans 3"/>
                <a:cs typeface="Source Sans 3"/>
                <a:sym typeface="Source Sans 3"/>
              </a:rPr>
              <a:t>  card 0.766</a:t>
            </a:r>
            <a:endParaRPr sz="1900">
              <a:solidFill>
                <a:srgbClr val="6F6A60"/>
              </a:solidFill>
              <a:latin typeface="Source Sans 3"/>
              <a:ea typeface="Source Sans 3"/>
              <a:cs typeface="Source Sans 3"/>
              <a:sym typeface="Source Sans 3"/>
            </a:endParaRPr>
          </a:p>
        </p:txBody>
      </p:sp>
      <p:sp>
        <p:nvSpPr>
          <p:cNvPr id="238" name="Google Shape;238;p12"/>
          <p:cNvSpPr txBox="1"/>
          <p:nvPr/>
        </p:nvSpPr>
        <p:spPr>
          <a:xfrm>
            <a:off x="609600" y="286715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Text model</a:t>
            </a:r>
            <a:endParaRPr sz="1900">
              <a:solidFill>
                <a:srgbClr val="1D232A"/>
              </a:solidFill>
              <a:latin typeface="Source Sans 3"/>
              <a:ea typeface="Source Sans 3"/>
              <a:cs typeface="Source Sans 3"/>
              <a:sym typeface="Source Sans 3"/>
            </a:endParaRPr>
          </a:p>
        </p:txBody>
      </p:sp>
      <p:sp>
        <p:nvSpPr>
          <p:cNvPr id="239" name="Google Shape;239;p12"/>
          <p:cNvSpPr/>
          <p:nvPr/>
        </p:nvSpPr>
        <p:spPr>
          <a:xfrm>
            <a:off x="3194304" y="3007400"/>
            <a:ext cx="17868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0" name="Google Shape;240;p12"/>
          <p:cNvSpPr/>
          <p:nvPr/>
        </p:nvSpPr>
        <p:spPr>
          <a:xfrm>
            <a:off x="3194304" y="3007400"/>
            <a:ext cx="4932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1" name="Google Shape;241;p12"/>
          <p:cNvSpPr txBox="1"/>
          <p:nvPr/>
        </p:nvSpPr>
        <p:spPr>
          <a:xfrm>
            <a:off x="5054261" y="2842768"/>
            <a:ext cx="24441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0.28</a:t>
            </a:r>
            <a:endParaRPr b="1" sz="2100">
              <a:solidFill>
                <a:srgbClr val="1D232A"/>
              </a:solidFill>
              <a:latin typeface="Source Sans 3"/>
              <a:ea typeface="Source Sans 3"/>
              <a:cs typeface="Source Sans 3"/>
              <a:sym typeface="Source Sans 3"/>
            </a:endParaRPr>
          </a:p>
        </p:txBody>
      </p:sp>
      <p:sp>
        <p:nvSpPr>
          <p:cNvPr id="242" name="Google Shape;242;p12"/>
          <p:cNvSpPr txBox="1"/>
          <p:nvPr/>
        </p:nvSpPr>
        <p:spPr>
          <a:xfrm>
            <a:off x="609600" y="347065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WorkspaceBench, regex pass (400 items, layer 42)</a:t>
            </a:r>
            <a:endParaRPr b="1" sz="1900">
              <a:solidFill>
                <a:srgbClr val="1D232A"/>
              </a:solidFill>
              <a:latin typeface="Source Sans 3"/>
              <a:ea typeface="Source Sans 3"/>
              <a:cs typeface="Source Sans 3"/>
              <a:sym typeface="Source Sans 3"/>
            </a:endParaRPr>
          </a:p>
        </p:txBody>
      </p:sp>
      <p:sp>
        <p:nvSpPr>
          <p:cNvPr id="243" name="Google Shape;243;p12"/>
          <p:cNvSpPr txBox="1"/>
          <p:nvPr/>
        </p:nvSpPr>
        <p:spPr>
          <a:xfrm>
            <a:off x="609600" y="3891280"/>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layer 42</a:t>
            </a:r>
            <a:endParaRPr sz="1900">
              <a:solidFill>
                <a:srgbClr val="1D232A"/>
              </a:solidFill>
              <a:latin typeface="Source Sans 3"/>
              <a:ea typeface="Source Sans 3"/>
              <a:cs typeface="Source Sans 3"/>
              <a:sym typeface="Source Sans 3"/>
            </a:endParaRPr>
          </a:p>
        </p:txBody>
      </p:sp>
      <p:sp>
        <p:nvSpPr>
          <p:cNvPr id="244" name="Google Shape;244;p12"/>
          <p:cNvSpPr/>
          <p:nvPr/>
        </p:nvSpPr>
        <p:spPr>
          <a:xfrm>
            <a:off x="3194304" y="4031528"/>
            <a:ext cx="2142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5" name="Google Shape;245;p12"/>
          <p:cNvSpPr/>
          <p:nvPr/>
        </p:nvSpPr>
        <p:spPr>
          <a:xfrm>
            <a:off x="3194304" y="4031528"/>
            <a:ext cx="10017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6" name="Google Shape;246;p12"/>
          <p:cNvSpPr/>
          <p:nvPr/>
        </p:nvSpPr>
        <p:spPr>
          <a:xfrm>
            <a:off x="4092245" y="4138819"/>
            <a:ext cx="208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7" name="Google Shape;247;p12"/>
          <p:cNvSpPr txBox="1"/>
          <p:nvPr/>
        </p:nvSpPr>
        <p:spPr>
          <a:xfrm>
            <a:off x="5409861" y="3866896"/>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0.47</a:t>
            </a:r>
            <a:r>
              <a:rPr lang="en-US" sz="1900">
                <a:solidFill>
                  <a:srgbClr val="6F6A60"/>
                </a:solidFill>
                <a:latin typeface="Source Sans 3"/>
                <a:ea typeface="Source Sans 3"/>
                <a:cs typeface="Source Sans 3"/>
                <a:sym typeface="Source Sans 3"/>
              </a:rPr>
              <a:t>  187/400</a:t>
            </a:r>
            <a:endParaRPr sz="1900">
              <a:solidFill>
                <a:srgbClr val="6F6A60"/>
              </a:solidFill>
              <a:latin typeface="Source Sans 3"/>
              <a:ea typeface="Source Sans 3"/>
              <a:cs typeface="Source Sans 3"/>
              <a:sym typeface="Source Sans 3"/>
            </a:endParaRPr>
          </a:p>
        </p:txBody>
      </p:sp>
      <p:sp>
        <p:nvSpPr>
          <p:cNvPr id="248" name="Google Shape;248;p12"/>
          <p:cNvSpPr txBox="1"/>
          <p:nvPr/>
        </p:nvSpPr>
        <p:spPr>
          <a:xfrm>
            <a:off x="609600" y="433019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OL, layer 42</a:t>
            </a:r>
            <a:endParaRPr sz="1900">
              <a:solidFill>
                <a:srgbClr val="1D232A"/>
              </a:solidFill>
              <a:latin typeface="Source Sans 3"/>
              <a:ea typeface="Source Sans 3"/>
              <a:cs typeface="Source Sans 3"/>
              <a:sym typeface="Source Sans 3"/>
            </a:endParaRPr>
          </a:p>
        </p:txBody>
      </p:sp>
      <p:sp>
        <p:nvSpPr>
          <p:cNvPr id="249" name="Google Shape;249;p12"/>
          <p:cNvSpPr/>
          <p:nvPr/>
        </p:nvSpPr>
        <p:spPr>
          <a:xfrm>
            <a:off x="3194304" y="4470440"/>
            <a:ext cx="2142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0" name="Google Shape;250;p12"/>
          <p:cNvSpPr/>
          <p:nvPr/>
        </p:nvSpPr>
        <p:spPr>
          <a:xfrm>
            <a:off x="3194304" y="4470440"/>
            <a:ext cx="8517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1" name="Google Shape;251;p12"/>
          <p:cNvSpPr/>
          <p:nvPr/>
        </p:nvSpPr>
        <p:spPr>
          <a:xfrm>
            <a:off x="3945697" y="4577731"/>
            <a:ext cx="204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2" name="Google Shape;252;p12"/>
          <p:cNvSpPr txBox="1"/>
          <p:nvPr/>
        </p:nvSpPr>
        <p:spPr>
          <a:xfrm>
            <a:off x="5409861" y="4305808"/>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0.40</a:t>
            </a:r>
            <a:r>
              <a:rPr lang="en-US" sz="1900">
                <a:solidFill>
                  <a:srgbClr val="6F6A60"/>
                </a:solidFill>
                <a:latin typeface="Source Sans 3"/>
                <a:ea typeface="Source Sans 3"/>
                <a:cs typeface="Source Sans 3"/>
                <a:sym typeface="Source Sans 3"/>
              </a:rPr>
              <a:t>  159/400</a:t>
            </a:r>
            <a:endParaRPr sz="1900">
              <a:solidFill>
                <a:srgbClr val="6F6A60"/>
              </a:solidFill>
              <a:latin typeface="Source Sans 3"/>
              <a:ea typeface="Source Sans 3"/>
              <a:cs typeface="Source Sans 3"/>
              <a:sym typeface="Source Sans 3"/>
            </a:endParaRPr>
          </a:p>
        </p:txBody>
      </p:sp>
      <p:sp>
        <p:nvSpPr>
          <p:cNvPr id="253" name="Google Shape;253;p12"/>
          <p:cNvSpPr txBox="1"/>
          <p:nvPr/>
        </p:nvSpPr>
        <p:spPr>
          <a:xfrm>
            <a:off x="609600" y="4769104"/>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OL, best layer</a:t>
            </a:r>
            <a:endParaRPr sz="1900">
              <a:solidFill>
                <a:srgbClr val="1D232A"/>
              </a:solidFill>
              <a:latin typeface="Source Sans 3"/>
              <a:ea typeface="Source Sans 3"/>
              <a:cs typeface="Source Sans 3"/>
              <a:sym typeface="Source Sans 3"/>
            </a:endParaRPr>
          </a:p>
        </p:txBody>
      </p:sp>
      <p:sp>
        <p:nvSpPr>
          <p:cNvPr id="254" name="Google Shape;254;p12"/>
          <p:cNvSpPr/>
          <p:nvPr/>
        </p:nvSpPr>
        <p:spPr>
          <a:xfrm>
            <a:off x="3194304" y="4909352"/>
            <a:ext cx="2142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5" name="Google Shape;255;p12"/>
          <p:cNvSpPr/>
          <p:nvPr/>
        </p:nvSpPr>
        <p:spPr>
          <a:xfrm>
            <a:off x="3194304" y="4909352"/>
            <a:ext cx="10764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6" name="Google Shape;256;p12"/>
          <p:cNvSpPr/>
          <p:nvPr/>
        </p:nvSpPr>
        <p:spPr>
          <a:xfrm>
            <a:off x="4166372" y="5016643"/>
            <a:ext cx="2088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7" name="Google Shape;257;p12"/>
          <p:cNvSpPr txBox="1"/>
          <p:nvPr/>
        </p:nvSpPr>
        <p:spPr>
          <a:xfrm>
            <a:off x="5409861" y="474472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0.50</a:t>
            </a:r>
            <a:r>
              <a:rPr lang="en-US" sz="1900">
                <a:solidFill>
                  <a:srgbClr val="6F6A60"/>
                </a:solidFill>
                <a:latin typeface="Source Sans 3"/>
                <a:ea typeface="Source Sans 3"/>
                <a:cs typeface="Source Sans 3"/>
                <a:sym typeface="Source Sans 3"/>
              </a:rPr>
              <a:t>  201/400</a:t>
            </a:r>
            <a:endParaRPr sz="1900">
              <a:solidFill>
                <a:srgbClr val="6F6A60"/>
              </a:solidFill>
              <a:latin typeface="Source Sans 3"/>
              <a:ea typeface="Source Sans 3"/>
              <a:cs typeface="Source Sans 3"/>
              <a:sym typeface="Source Sans 3"/>
            </a:endParaRPr>
          </a:p>
        </p:txBody>
      </p:sp>
      <p:sp>
        <p:nvSpPr>
          <p:cNvPr id="258" name="Google Shape;258;p12"/>
          <p:cNvSpPr txBox="1"/>
          <p:nvPr/>
        </p:nvSpPr>
        <p:spPr>
          <a:xfrm>
            <a:off x="609600" y="5208016"/>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OL, any of 11</a:t>
            </a:r>
            <a:endParaRPr sz="1900">
              <a:solidFill>
                <a:srgbClr val="1D232A"/>
              </a:solidFill>
              <a:latin typeface="Source Sans 3"/>
              <a:ea typeface="Source Sans 3"/>
              <a:cs typeface="Source Sans 3"/>
              <a:sym typeface="Source Sans 3"/>
            </a:endParaRPr>
          </a:p>
        </p:txBody>
      </p:sp>
      <p:sp>
        <p:nvSpPr>
          <p:cNvPr id="259" name="Google Shape;259;p12"/>
          <p:cNvSpPr/>
          <p:nvPr/>
        </p:nvSpPr>
        <p:spPr>
          <a:xfrm>
            <a:off x="3194304" y="5348264"/>
            <a:ext cx="2142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0" name="Google Shape;260;p12"/>
          <p:cNvSpPr/>
          <p:nvPr/>
        </p:nvSpPr>
        <p:spPr>
          <a:xfrm>
            <a:off x="3194304" y="5348264"/>
            <a:ext cx="13821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1" name="Google Shape;261;p12"/>
          <p:cNvSpPr/>
          <p:nvPr/>
        </p:nvSpPr>
        <p:spPr>
          <a:xfrm>
            <a:off x="4473123" y="5455555"/>
            <a:ext cx="200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2" name="Google Shape;262;p12"/>
          <p:cNvSpPr txBox="1"/>
          <p:nvPr/>
        </p:nvSpPr>
        <p:spPr>
          <a:xfrm>
            <a:off x="5409861" y="5183632"/>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0.65</a:t>
            </a:r>
            <a:r>
              <a:rPr lang="en-US" sz="1900">
                <a:solidFill>
                  <a:srgbClr val="6F6A60"/>
                </a:solidFill>
                <a:latin typeface="Source Sans 3"/>
                <a:ea typeface="Source Sans 3"/>
                <a:cs typeface="Source Sans 3"/>
                <a:sym typeface="Source Sans 3"/>
              </a:rPr>
              <a:t>  258/400</a:t>
            </a:r>
            <a:endParaRPr sz="1900">
              <a:solidFill>
                <a:srgbClr val="6F6A60"/>
              </a:solidFill>
              <a:latin typeface="Source Sans 3"/>
              <a:ea typeface="Source Sans 3"/>
              <a:cs typeface="Source Sans 3"/>
              <a:sym typeface="Source Sans 3"/>
            </a:endParaRPr>
          </a:p>
        </p:txBody>
      </p:sp>
      <p:sp>
        <p:nvSpPr>
          <p:cNvPr id="263" name="Google Shape;263;p12"/>
          <p:cNvSpPr/>
          <p:nvPr/>
        </p:nvSpPr>
        <p:spPr>
          <a:xfrm>
            <a:off x="7802880" y="2032040"/>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4" name="Google Shape;264;p12"/>
          <p:cNvSpPr/>
          <p:nvPr/>
        </p:nvSpPr>
        <p:spPr>
          <a:xfrm>
            <a:off x="7802880" y="2032040"/>
            <a:ext cx="60900" cy="1454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5" name="Google Shape;265;p12"/>
          <p:cNvSpPr txBox="1"/>
          <p:nvPr/>
        </p:nvSpPr>
        <p:spPr>
          <a:xfrm>
            <a:off x="7936992" y="2056384"/>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Gate 1 · the NLA works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Reproduces its published reconstruction: 0.761 vs the card's 0.766.</a:t>
            </a:r>
            <a:endParaRPr sz="1900">
              <a:solidFill>
                <a:srgbClr val="1D232A"/>
              </a:solidFill>
              <a:latin typeface="Source Sans 3"/>
              <a:ea typeface="Source Sans 3"/>
              <a:cs typeface="Source Sans 3"/>
              <a:sym typeface="Source Sans 3"/>
            </a:endParaRPr>
          </a:p>
        </p:txBody>
      </p:sp>
      <p:sp>
        <p:nvSpPr>
          <p:cNvPr id="266" name="Google Shape;266;p12"/>
          <p:cNvSpPr/>
          <p:nvPr/>
        </p:nvSpPr>
        <p:spPr>
          <a:xfrm>
            <a:off x="7802880" y="3608832"/>
            <a:ext cx="3779700" cy="1739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7" name="Google Shape;267;p12"/>
          <p:cNvSpPr/>
          <p:nvPr/>
        </p:nvSpPr>
        <p:spPr>
          <a:xfrm>
            <a:off x="7802880" y="3608832"/>
            <a:ext cx="60900" cy="1739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8" name="Google Shape;268;p12"/>
          <p:cNvSpPr txBox="1"/>
          <p:nvPr/>
        </p:nvSpPr>
        <p:spPr>
          <a:xfrm>
            <a:off x="7936992" y="3633216"/>
            <a:ext cx="35967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Gate 2 · Oracle Lens's lead</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Published score: an item passes if any of 11 layers does. At one matched layer the NLA leads.</a:t>
            </a:r>
            <a:endParaRPr sz="1900">
              <a:solidFill>
                <a:srgbClr val="1D232A"/>
              </a:solidFill>
              <a:latin typeface="Source Sans 3"/>
              <a:ea typeface="Source Sans 3"/>
              <a:cs typeface="Source Sans 3"/>
              <a:sym typeface="Source Sans 3"/>
            </a:endParaRPr>
          </a:p>
        </p:txBody>
      </p:sp>
      <p:sp>
        <p:nvSpPr>
          <p:cNvPr id="269" name="Google Shape;269;p12"/>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70" name="Google Shape;270;p12"/>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Method: the readers reproduce, so later gaps are about reading, not broken tools.</a:t>
            </a:r>
            <a:endParaRPr sz="1900">
              <a:solidFill>
                <a:srgbClr val="1D232A"/>
              </a:solidFill>
              <a:latin typeface="Source Sans 3"/>
              <a:ea typeface="Source Sans 3"/>
              <a:cs typeface="Source Sans 3"/>
              <a:sym typeface="Source Sans 3"/>
            </a:endParaRPr>
          </a:p>
        </p:txBody>
      </p:sp>
      <p:sp>
        <p:nvSpPr>
          <p:cNvPr id="271" name="Google Shape;271;p12"/>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Wilson 95%. Any-of-11 adds +0.08 to +0.22 over the best single layer and is partly a best-of-11-samples bonus.</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FVE: 95% bootstrap over 64 activations; the critic favours the NLA's own register. </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A STANDARD READER BENCHMARK</a:t>
            </a:r>
            <a:endParaRPr sz="1100"/>
          </a:p>
        </p:txBody>
      </p:sp>
      <p:sp>
        <p:nvSpPr>
          <p:cNvPr id="278" name="Google Shape;278;p13"/>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On WorkspaceBench, the NLA scores what a text-only copy of Qwen scores</a:t>
            </a:r>
            <a:endParaRPr sz="2700"/>
          </a:p>
        </p:txBody>
      </p:sp>
      <p:sp>
        <p:nvSpPr>
          <p:cNvPr id="279" name="Google Shape;279;p13"/>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3"/>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281" name="Google Shape;281;p13"/>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3"/>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283" name="Google Shape;283;p13"/>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3"/>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285" name="Google Shape;285;p13"/>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the reader ignores the activation (at this layer the activation encodes the prompt), or equivalence: p = 0.75 is a failure to find a difference</a:t>
            </a:r>
            <a:r>
              <a:rPr lang="en-US"/>
              <a:t>.</a:t>
            </a:r>
            <a:endParaRPr sz="1200"/>
          </a:p>
        </p:txBody>
      </p:sp>
      <p:sp>
        <p:nvSpPr>
          <p:cNvPr id="286" name="Google Shape;286;p13"/>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Suraj exp 06</a:t>
            </a:r>
            <a:r>
              <a:rPr lang="en-US"/>
              <a:t>, </a:t>
            </a:r>
            <a:r>
              <a:rPr lang="en-US" sz="1100">
                <a:solidFill>
                  <a:schemeClr val="dk2"/>
                </a:solidFill>
              </a:rPr>
              <a:t> 400 items, four multi-token families, item-bootstrap 95% CIs, McNemar on 80 vs 75 discordant items</a:t>
            </a:r>
            <a:endParaRPr sz="1100"/>
          </a:p>
        </p:txBody>
      </p:sp>
      <p:pic>
        <p:nvPicPr>
          <p:cNvPr id="287" name="Google Shape;287;p13"/>
          <p:cNvPicPr preferRelativeResize="0"/>
          <p:nvPr/>
        </p:nvPicPr>
        <p:blipFill rotWithShape="1">
          <a:blip r:embed="rId3">
            <a:alphaModFix/>
          </a:blip>
          <a:srcRect b="0" l="0" r="0" t="0"/>
          <a:stretch/>
        </p:blipFill>
        <p:spPr>
          <a:xfrm>
            <a:off x="548640" y="1645920"/>
            <a:ext cx="6766500" cy="3291900"/>
          </a:xfrm>
          <a:prstGeom prst="rect">
            <a:avLst/>
          </a:prstGeom>
          <a:noFill/>
          <a:ln>
            <a:noFill/>
          </a:ln>
        </p:spPr>
      </p:pic>
      <p:sp>
        <p:nvSpPr>
          <p:cNvPr id="288" name="Google Shape;288;p13"/>
          <p:cNvSpPr txBox="1"/>
          <p:nvPr/>
        </p:nvSpPr>
        <p:spPr>
          <a:xfrm>
            <a:off x="685800" y="4937760"/>
            <a:ext cx="65838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b="1" lang="en-US" sz="1300">
                <a:solidFill>
                  <a:srgbClr val="56606B"/>
                </a:solidFill>
                <a:latin typeface="Calibri"/>
                <a:ea typeface="Calibri"/>
                <a:cs typeface="Calibri"/>
                <a:sym typeface="Calibri"/>
              </a:rPr>
              <a:t>95% CIs   </a:t>
            </a:r>
            <a:r>
              <a:rPr lang="en-US" sz="1300">
                <a:solidFill>
                  <a:srgbClr val="1F2A33"/>
                </a:solidFill>
                <a:latin typeface="Calibri"/>
                <a:ea typeface="Calibri"/>
                <a:cs typeface="Calibri"/>
                <a:sym typeface="Calibri"/>
              </a:rPr>
              <a:t>NLA 0.42–0.52  ·  text-only 0.41–0.51  ·  Oracle 0.35–0.45   † off the Oracle's trained grid (0.37 / 0.39 at 40 / 44)</a:t>
            </a:r>
            <a:endParaRPr sz="1300">
              <a:solidFill>
                <a:schemeClr val="dk1"/>
              </a:solidFill>
              <a:latin typeface="Calibri"/>
              <a:ea typeface="Calibri"/>
              <a:cs typeface="Calibri"/>
              <a:sym typeface="Calibri"/>
            </a:endParaRPr>
          </a:p>
        </p:txBody>
      </p:sp>
      <p:sp>
        <p:nvSpPr>
          <p:cNvPr id="289" name="Google Shape;289;p13"/>
          <p:cNvSpPr/>
          <p:nvPr/>
        </p:nvSpPr>
        <p:spPr>
          <a:xfrm>
            <a:off x="685800" y="5468112"/>
            <a:ext cx="6492300" cy="402300"/>
          </a:xfrm>
          <a:prstGeom prst="roundRect">
            <a:avLst>
              <a:gd fmla="val 13636" name="adj"/>
            </a:avLst>
          </a:prstGeom>
          <a:solidFill>
            <a:srgbClr val="F3DCE4"/>
          </a:solidFill>
          <a:ln cap="flat" cmpd="sng" w="9525">
            <a:solidFill>
              <a:srgbClr val="F3DC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3"/>
          <p:cNvSpPr txBox="1"/>
          <p:nvPr/>
        </p:nvSpPr>
        <p:spPr>
          <a:xfrm>
            <a:off x="822960" y="5468112"/>
            <a:ext cx="63093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500"/>
              <a:buFont typeface="Calibri"/>
              <a:buNone/>
            </a:pPr>
            <a:r>
              <a:rPr b="1" lang="en-US" sz="1500">
                <a:solidFill>
                  <a:srgbClr val="B03060"/>
                </a:solidFill>
                <a:latin typeface="Calibri"/>
                <a:ea typeface="Calibri"/>
                <a:cs typeface="Calibri"/>
                <a:sym typeface="Calibri"/>
              </a:rPr>
              <a:t>NLA vs text-only: McNemar p = 0.75 (80 vs 75 discordant items)</a:t>
            </a:r>
            <a:endParaRPr sz="1500">
              <a:solidFill>
                <a:schemeClr val="dk1"/>
              </a:solidFill>
              <a:latin typeface="Calibri"/>
              <a:ea typeface="Calibri"/>
              <a:cs typeface="Calibri"/>
              <a:sym typeface="Calibri"/>
            </a:endParaRPr>
          </a:p>
        </p:txBody>
      </p:sp>
      <p:sp>
        <p:nvSpPr>
          <p:cNvPr id="291" name="Google Shape;291;p13"/>
          <p:cNvSpPr/>
          <p:nvPr/>
        </p:nvSpPr>
        <p:spPr>
          <a:xfrm>
            <a:off x="7635240" y="1645920"/>
            <a:ext cx="4023300" cy="4160400"/>
          </a:xfrm>
          <a:prstGeom prst="roundRect">
            <a:avLst>
              <a:gd fmla="val 1364" name="adj"/>
            </a:avLst>
          </a:prstGeom>
          <a:solidFill>
            <a:srgbClr val="E4DFD5"/>
          </a:solidFill>
          <a:ln cap="flat" cmpd="sng" w="9525">
            <a:solidFill>
              <a:srgbClr val="9A948A"/>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3"/>
          <p:cNvSpPr txBox="1"/>
          <p:nvPr/>
        </p:nvSpPr>
        <p:spPr>
          <a:xfrm>
            <a:off x="7863840" y="1828800"/>
            <a:ext cx="3566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200"/>
              <a:buFont typeface="Calibri"/>
              <a:buNone/>
            </a:pPr>
            <a:r>
              <a:rPr b="1" lang="en-US" spc="100" sz="1200">
                <a:solidFill>
                  <a:srgbClr val="56606B"/>
                </a:solidFill>
                <a:latin typeface="Calibri"/>
                <a:ea typeface="Calibri"/>
                <a:cs typeface="Calibri"/>
                <a:sym typeface="Calibri"/>
              </a:rPr>
              <a:t>NOT COMPUTE-MATCHED</a:t>
            </a:r>
            <a:endParaRPr sz="1200">
              <a:solidFill>
                <a:schemeClr val="dk1"/>
              </a:solidFill>
              <a:latin typeface="Calibri"/>
              <a:ea typeface="Calibri"/>
              <a:cs typeface="Calibri"/>
              <a:sym typeface="Calibri"/>
            </a:endParaRPr>
          </a:p>
        </p:txBody>
      </p:sp>
      <p:sp>
        <p:nvSpPr>
          <p:cNvPr id="293" name="Google Shape;293;p13"/>
          <p:cNvSpPr txBox="1"/>
          <p:nvPr/>
        </p:nvSpPr>
        <p:spPr>
          <a:xfrm>
            <a:off x="7863840" y="2121408"/>
            <a:ext cx="35661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Best-of-N scores, for reference</a:t>
            </a:r>
            <a:endParaRPr sz="1500">
              <a:solidFill>
                <a:schemeClr val="dk1"/>
              </a:solidFill>
              <a:latin typeface="Calibri"/>
              <a:ea typeface="Calibri"/>
              <a:cs typeface="Calibri"/>
              <a:sym typeface="Calibri"/>
            </a:endParaRPr>
          </a:p>
        </p:txBody>
      </p:sp>
      <p:sp>
        <p:nvSpPr>
          <p:cNvPr id="294" name="Google Shape;294;p13"/>
          <p:cNvSpPr txBox="1"/>
          <p:nvPr/>
        </p:nvSpPr>
        <p:spPr>
          <a:xfrm>
            <a:off x="7863840" y="2560320"/>
            <a:ext cx="1051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2800"/>
              <a:buFont typeface="Cambria"/>
              <a:buNone/>
            </a:pPr>
            <a:r>
              <a:rPr b="1" lang="en-US" sz="2800">
                <a:solidFill>
                  <a:srgbClr val="56606B"/>
                </a:solidFill>
                <a:latin typeface="Cambria"/>
                <a:ea typeface="Cambria"/>
                <a:cs typeface="Cambria"/>
                <a:sym typeface="Cambria"/>
              </a:rPr>
              <a:t>0.65</a:t>
            </a:r>
            <a:endParaRPr sz="2800">
              <a:solidFill>
                <a:schemeClr val="dk1"/>
              </a:solidFill>
              <a:latin typeface="Calibri"/>
              <a:ea typeface="Calibri"/>
              <a:cs typeface="Calibri"/>
              <a:sym typeface="Calibri"/>
            </a:endParaRPr>
          </a:p>
        </p:txBody>
      </p:sp>
      <p:sp>
        <p:nvSpPr>
          <p:cNvPr id="295" name="Google Shape;295;p13"/>
          <p:cNvSpPr txBox="1"/>
          <p:nvPr/>
        </p:nvSpPr>
        <p:spPr>
          <a:xfrm>
            <a:off x="8915400" y="2560320"/>
            <a:ext cx="2606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350"/>
              <a:buFont typeface="Calibri"/>
              <a:buNone/>
            </a:pPr>
            <a:r>
              <a:rPr lang="en-US" sz="1350">
                <a:solidFill>
                  <a:srgbClr val="1F2A33"/>
                </a:solidFill>
                <a:latin typeface="Calibri"/>
                <a:ea typeface="Calibri"/>
                <a:cs typeface="Calibri"/>
                <a:sym typeface="Calibri"/>
              </a:rPr>
              <a:t>Oracle, published protocol: any of 11 layers (20–60) passes</a:t>
            </a:r>
            <a:endParaRPr sz="1350">
              <a:solidFill>
                <a:schemeClr val="dk1"/>
              </a:solidFill>
              <a:latin typeface="Calibri"/>
              <a:ea typeface="Calibri"/>
              <a:cs typeface="Calibri"/>
              <a:sym typeface="Calibri"/>
            </a:endParaRPr>
          </a:p>
        </p:txBody>
      </p:sp>
      <p:sp>
        <p:nvSpPr>
          <p:cNvPr id="296" name="Google Shape;296;p13"/>
          <p:cNvSpPr txBox="1"/>
          <p:nvPr/>
        </p:nvSpPr>
        <p:spPr>
          <a:xfrm>
            <a:off x="7863840" y="3273552"/>
            <a:ext cx="1051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2800"/>
              <a:buFont typeface="Cambria"/>
              <a:buNone/>
            </a:pPr>
            <a:r>
              <a:rPr b="1" lang="en-US" sz="2800">
                <a:solidFill>
                  <a:srgbClr val="56606B"/>
                </a:solidFill>
                <a:latin typeface="Cambria"/>
                <a:ea typeface="Cambria"/>
                <a:cs typeface="Cambria"/>
                <a:sym typeface="Cambria"/>
              </a:rPr>
              <a:t>0.69</a:t>
            </a:r>
            <a:endParaRPr sz="2800">
              <a:solidFill>
                <a:schemeClr val="dk1"/>
              </a:solidFill>
              <a:latin typeface="Calibri"/>
              <a:ea typeface="Calibri"/>
              <a:cs typeface="Calibri"/>
              <a:sym typeface="Calibri"/>
            </a:endParaRPr>
          </a:p>
        </p:txBody>
      </p:sp>
      <p:sp>
        <p:nvSpPr>
          <p:cNvPr id="297" name="Google Shape;297;p13"/>
          <p:cNvSpPr txBox="1"/>
          <p:nvPr/>
        </p:nvSpPr>
        <p:spPr>
          <a:xfrm>
            <a:off x="8915400" y="3273552"/>
            <a:ext cx="2606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350"/>
              <a:buFont typeface="Calibri"/>
              <a:buNone/>
            </a:pPr>
            <a:r>
              <a:rPr lang="en-US" sz="1350">
                <a:solidFill>
                  <a:srgbClr val="1F2A33"/>
                </a:solidFill>
                <a:latin typeface="Calibri"/>
                <a:ea typeface="Calibri"/>
                <a:cs typeface="Calibri"/>
                <a:sym typeface="Calibri"/>
              </a:rPr>
              <a:t>text-only Qwen, best of 3 samples</a:t>
            </a:r>
            <a:endParaRPr sz="1350">
              <a:solidFill>
                <a:schemeClr val="dk1"/>
              </a:solidFill>
              <a:latin typeface="Calibri"/>
              <a:ea typeface="Calibri"/>
              <a:cs typeface="Calibri"/>
              <a:sym typeface="Calibri"/>
            </a:endParaRPr>
          </a:p>
        </p:txBody>
      </p:sp>
      <p:sp>
        <p:nvSpPr>
          <p:cNvPr id="298" name="Google Shape;298;p13"/>
          <p:cNvSpPr txBox="1"/>
          <p:nvPr/>
        </p:nvSpPr>
        <p:spPr>
          <a:xfrm>
            <a:off x="7863840" y="3986784"/>
            <a:ext cx="1051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06B"/>
              </a:buClr>
              <a:buSzPts val="2800"/>
              <a:buFont typeface="Cambria"/>
              <a:buNone/>
            </a:pPr>
            <a:r>
              <a:rPr b="1" lang="en-US" sz="2800">
                <a:solidFill>
                  <a:srgbClr val="56606B"/>
                </a:solidFill>
                <a:latin typeface="Cambria"/>
                <a:ea typeface="Cambria"/>
                <a:cs typeface="Cambria"/>
                <a:sym typeface="Cambria"/>
              </a:rPr>
              <a:t>0.96</a:t>
            </a:r>
            <a:endParaRPr sz="2800">
              <a:solidFill>
                <a:schemeClr val="dk1"/>
              </a:solidFill>
              <a:latin typeface="Calibri"/>
              <a:ea typeface="Calibri"/>
              <a:cs typeface="Calibri"/>
              <a:sym typeface="Calibri"/>
            </a:endParaRPr>
          </a:p>
        </p:txBody>
      </p:sp>
      <p:sp>
        <p:nvSpPr>
          <p:cNvPr id="299" name="Google Shape;299;p13"/>
          <p:cNvSpPr txBox="1"/>
          <p:nvPr/>
        </p:nvSpPr>
        <p:spPr>
          <a:xfrm>
            <a:off x="8915400" y="3986784"/>
            <a:ext cx="2606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350"/>
              <a:buFont typeface="Calibri"/>
              <a:buNone/>
            </a:pPr>
            <a:r>
              <a:rPr lang="en-US" sz="1350">
                <a:solidFill>
                  <a:srgbClr val="1F2A33"/>
                </a:solidFill>
                <a:latin typeface="Calibri"/>
                <a:ea typeface="Calibri"/>
                <a:cs typeface="Calibri"/>
                <a:sym typeface="Calibri"/>
              </a:rPr>
              <a:t>any of 8 text-only samples (2 models × 2 templates)</a:t>
            </a:r>
            <a:endParaRPr sz="1350">
              <a:solidFill>
                <a:schemeClr val="dk1"/>
              </a:solidFill>
              <a:latin typeface="Calibri"/>
              <a:ea typeface="Calibri"/>
              <a:cs typeface="Calibri"/>
              <a:sym typeface="Calibri"/>
            </a:endParaRPr>
          </a:p>
        </p:txBody>
      </p:sp>
      <p:sp>
        <p:nvSpPr>
          <p:cNvPr id="300" name="Google Shape;300;p13"/>
          <p:cNvSpPr txBox="1"/>
          <p:nvPr/>
        </p:nvSpPr>
        <p:spPr>
          <a:xfrm>
            <a:off x="7863840" y="4800600"/>
            <a:ext cx="36120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2000"/>
              <a:buFont typeface="Calibri"/>
              <a:buNone/>
            </a:pPr>
            <a:r>
              <a:rPr b="1" lang="en-US" sz="2000">
                <a:solidFill>
                  <a:srgbClr val="B03060"/>
                </a:solidFill>
                <a:latin typeface="Calibri"/>
                <a:ea typeface="Calibri"/>
                <a:cs typeface="Calibri"/>
                <a:sym typeface="Calibri"/>
              </a:rPr>
              <a:t>0 of 187 </a:t>
            </a:r>
            <a:r>
              <a:rPr lang="en-US" sz="1350">
                <a:solidFill>
                  <a:srgbClr val="1F2A33"/>
                </a:solidFill>
                <a:latin typeface="Calibri"/>
                <a:ea typeface="Calibri"/>
                <a:cs typeface="Calibri"/>
                <a:sym typeface="Calibri"/>
              </a:rPr>
              <a:t>NLA hits that every text-only sample missed</a:t>
            </a:r>
            <a:endParaRPr sz="1600">
              <a:solidFill>
                <a:schemeClr val="dk1"/>
              </a:solidFill>
              <a:latin typeface="Calibri"/>
              <a:ea typeface="Calibri"/>
              <a:cs typeface="Calibri"/>
              <a:sym typeface="Calibri"/>
            </a:endParaRPr>
          </a:p>
        </p:txBody>
      </p:sp>
      <p:sp>
        <p:nvSpPr>
          <p:cNvPr id="301" name="Google Shape;301;p13"/>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6</a:t>
            </a:r>
            <a:endParaRPr/>
          </a:p>
        </p:txBody>
      </p:sp>
      <p:sp>
        <p:nvSpPr>
          <p:cNvPr id="302" name="Google Shape;302;p13"/>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4"/>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A NATURAL TEST · SAME FACT, BUT </a:t>
            </a:r>
            <a:r>
              <a:rPr lang="en-US"/>
              <a:t>CHANGE THE</a:t>
            </a:r>
            <a:r>
              <a:rPr b="1" lang="en-US" spc="150" sz="1100">
                <a:solidFill>
                  <a:schemeClr val="dk2"/>
                </a:solidFill>
              </a:rPr>
              <a:t> WORDINGS</a:t>
            </a:r>
            <a:endParaRPr sz="1100"/>
          </a:p>
        </p:txBody>
      </p:sp>
      <p:sp>
        <p:nvSpPr>
          <p:cNvPr id="309" name="Google Shape;309;p14"/>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When Qwen's own answer changes with the wording, the reader rarely follows i</a:t>
            </a:r>
            <a:r>
              <a:rPr lang="en-US" sz="2700">
                <a:solidFill>
                  <a:schemeClr val="dk1"/>
                </a:solidFill>
                <a:latin typeface="Cambria"/>
                <a:ea typeface="Cambria"/>
                <a:cs typeface="Cambria"/>
                <a:sym typeface="Cambria"/>
              </a:rPr>
              <a:t>t</a:t>
            </a:r>
            <a:endParaRPr sz="2700"/>
          </a:p>
        </p:txBody>
      </p:sp>
      <p:sp>
        <p:nvSpPr>
          <p:cNvPr id="310" name="Google Shape;310;p14"/>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4"/>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312" name="Google Shape;312;p14"/>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4"/>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314" name="Google Shape;314;p14"/>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4"/>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316" name="Google Shape;316;p14"/>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the reader re-solves in general: rates are conditional on 12 of 58 pairs (7/116 readouts missing, 15 state several values). Paraphrases also move text-only models; a small natural difference may be below what the reader registers.</a:t>
            </a:r>
            <a:endParaRPr sz="1200"/>
          </a:p>
        </p:txBody>
      </p:sp>
      <p:sp>
        <p:nvSpPr>
          <p:cNvPr id="317" name="Google Shape;317;p14"/>
          <p:cNvSpPr txBox="1"/>
          <p:nvPr/>
        </p:nvSpPr>
        <p:spPr>
          <a:xfrm>
            <a:off x="548640" y="1645920"/>
            <a:ext cx="4755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The test · template shown, realised pairs are private</a:t>
            </a:r>
            <a:endParaRPr sz="1400">
              <a:solidFill>
                <a:schemeClr val="dk1"/>
              </a:solidFill>
              <a:latin typeface="Calibri"/>
              <a:ea typeface="Calibri"/>
              <a:cs typeface="Calibri"/>
              <a:sym typeface="Calibri"/>
            </a:endParaRPr>
          </a:p>
        </p:txBody>
      </p:sp>
      <p:sp>
        <p:nvSpPr>
          <p:cNvPr id="318" name="Google Shape;318;p14"/>
          <p:cNvSpPr/>
          <p:nvPr/>
        </p:nvSpPr>
        <p:spPr>
          <a:xfrm>
            <a:off x="548640" y="1965960"/>
            <a:ext cx="4755000" cy="868800"/>
          </a:xfrm>
          <a:prstGeom prst="roundRect">
            <a:avLst>
              <a:gd fmla="val 6316"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4"/>
          <p:cNvSpPr txBox="1"/>
          <p:nvPr/>
        </p:nvSpPr>
        <p:spPr>
          <a:xfrm>
            <a:off x="694944" y="2075688"/>
            <a:ext cx="4462200" cy="66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50"/>
              <a:buFont typeface="Courier New"/>
              <a:buNone/>
            </a:pPr>
            <a:r>
              <a:rPr lang="en-US" sz="1350">
                <a:solidFill>
                  <a:srgbClr val="1F2A33"/>
                </a:solidFill>
                <a:latin typeface="Courier New"/>
                <a:ea typeface="Courier New"/>
                <a:cs typeface="Courier New"/>
                <a:sym typeface="Courier New"/>
              </a:rPr>
              <a:t>What is the capital city of {entity}?</a:t>
            </a:r>
            <a:endParaRPr sz="1350">
              <a:solidFill>
                <a:schemeClr val="dk1"/>
              </a:solidFill>
              <a:latin typeface="Calibri"/>
              <a:ea typeface="Calibri"/>
              <a:cs typeface="Calibri"/>
              <a:sym typeface="Calibri"/>
            </a:endParaRPr>
          </a:p>
        </p:txBody>
      </p:sp>
      <p:sp>
        <p:nvSpPr>
          <p:cNvPr id="320" name="Google Shape;320;p14"/>
          <p:cNvSpPr txBox="1"/>
          <p:nvPr/>
        </p:nvSpPr>
        <p:spPr>
          <a:xfrm>
            <a:off x="548640" y="2880360"/>
            <a:ext cx="47550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 Qwen answers X</a:t>
            </a:r>
            <a:endParaRPr sz="1500">
              <a:solidFill>
                <a:schemeClr val="dk1"/>
              </a:solidFill>
              <a:latin typeface="Calibri"/>
              <a:ea typeface="Calibri"/>
              <a:cs typeface="Calibri"/>
              <a:sym typeface="Calibri"/>
            </a:endParaRPr>
          </a:p>
        </p:txBody>
      </p:sp>
      <p:sp>
        <p:nvSpPr>
          <p:cNvPr id="321" name="Google Shape;321;p14"/>
          <p:cNvSpPr/>
          <p:nvPr/>
        </p:nvSpPr>
        <p:spPr>
          <a:xfrm>
            <a:off x="548640" y="3291840"/>
            <a:ext cx="4755000" cy="868800"/>
          </a:xfrm>
          <a:prstGeom prst="roundRect">
            <a:avLst>
              <a:gd fmla="val 6316" name="adj"/>
            </a:avLst>
          </a:prstGeom>
          <a:solidFill>
            <a:srgbClr val="E9E3F2"/>
          </a:solidFill>
          <a:ln cap="flat" cmpd="sng" w="9525">
            <a:solidFill>
              <a:srgbClr val="E9E3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4"/>
          <p:cNvSpPr txBox="1"/>
          <p:nvPr/>
        </p:nvSpPr>
        <p:spPr>
          <a:xfrm>
            <a:off x="694944" y="3401568"/>
            <a:ext cx="4462200" cy="66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50"/>
              <a:buFont typeface="Courier New"/>
              <a:buNone/>
            </a:pPr>
            <a:r>
              <a:rPr lang="en-US" sz="1350">
                <a:solidFill>
                  <a:srgbClr val="1F2A33"/>
                </a:solidFill>
                <a:latin typeface="Courier New"/>
                <a:ea typeface="Courier New"/>
                <a:cs typeface="Courier New"/>
                <a:sym typeface="Courier New"/>
              </a:rPr>
              <a:t>Which city is {entity}'s capital?</a:t>
            </a:r>
            <a:endParaRPr sz="1350">
              <a:solidFill>
                <a:schemeClr val="dk1"/>
              </a:solidFill>
              <a:latin typeface="Calibri"/>
              <a:ea typeface="Calibri"/>
              <a:cs typeface="Calibri"/>
              <a:sym typeface="Calibri"/>
            </a:endParaRPr>
          </a:p>
        </p:txBody>
      </p:sp>
      <p:sp>
        <p:nvSpPr>
          <p:cNvPr id="323" name="Google Shape;323;p14"/>
          <p:cNvSpPr txBox="1"/>
          <p:nvPr/>
        </p:nvSpPr>
        <p:spPr>
          <a:xfrm>
            <a:off x="548640" y="4206240"/>
            <a:ext cx="47550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 Qwen answers Y  (≠ X, by selection)</a:t>
            </a:r>
            <a:endParaRPr sz="1500">
              <a:solidFill>
                <a:schemeClr val="dk1"/>
              </a:solidFill>
              <a:latin typeface="Calibri"/>
              <a:ea typeface="Calibri"/>
              <a:cs typeface="Calibri"/>
              <a:sym typeface="Calibri"/>
            </a:endParaRPr>
          </a:p>
        </p:txBody>
      </p:sp>
      <p:sp>
        <p:nvSpPr>
          <p:cNvPr id="324" name="Google Shape;324;p14"/>
          <p:cNvSpPr/>
          <p:nvPr/>
        </p:nvSpPr>
        <p:spPr>
          <a:xfrm>
            <a:off x="548640" y="4663440"/>
            <a:ext cx="4755000" cy="1097400"/>
          </a:xfrm>
          <a:prstGeom prst="roundRect">
            <a:avLst>
              <a:gd fmla="val 5000" name="adj"/>
            </a:avLst>
          </a:prstGeom>
          <a:solidFill>
            <a:srgbClr val="F3DCE4"/>
          </a:solidFill>
          <a:ln cap="flat" cmpd="sng" w="9525">
            <a:solidFill>
              <a:srgbClr val="F3DCE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4"/>
          <p:cNvSpPr txBox="1"/>
          <p:nvPr/>
        </p:nvSpPr>
        <p:spPr>
          <a:xfrm>
            <a:off x="713232" y="4709160"/>
            <a:ext cx="44805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Read both at block 60. Tracking: reader says X on wording A and Y on wording B. Same answer: one value for both.</a:t>
            </a:r>
            <a:endParaRPr sz="1450">
              <a:solidFill>
                <a:schemeClr val="dk1"/>
              </a:solidFill>
              <a:latin typeface="Calibri"/>
              <a:ea typeface="Calibri"/>
              <a:cs typeface="Calibri"/>
              <a:sym typeface="Calibri"/>
            </a:endParaRPr>
          </a:p>
        </p:txBody>
      </p:sp>
      <p:sp>
        <p:nvSpPr>
          <p:cNvPr id="326" name="Google Shape;326;p14"/>
          <p:cNvSpPr txBox="1"/>
          <p:nvPr/>
        </p:nvSpPr>
        <p:spPr>
          <a:xfrm>
            <a:off x="5715000" y="1645920"/>
            <a:ext cx="5852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Eligibility funnel · reader at block 60</a:t>
            </a:r>
            <a:endParaRPr sz="1400">
              <a:solidFill>
                <a:schemeClr val="dk1"/>
              </a:solidFill>
              <a:latin typeface="Calibri"/>
              <a:ea typeface="Calibri"/>
              <a:cs typeface="Calibri"/>
              <a:sym typeface="Calibri"/>
            </a:endParaRPr>
          </a:p>
        </p:txBody>
      </p:sp>
      <p:sp>
        <p:nvSpPr>
          <p:cNvPr id="327" name="Google Shape;327;p14"/>
          <p:cNvSpPr/>
          <p:nvPr/>
        </p:nvSpPr>
        <p:spPr>
          <a:xfrm>
            <a:off x="5715000" y="2011680"/>
            <a:ext cx="3108900" cy="567000"/>
          </a:xfrm>
          <a:prstGeom prst="roundRect">
            <a:avLst>
              <a:gd fmla="val 6452" name="adj"/>
            </a:avLst>
          </a:prstGeom>
          <a:solidFill>
            <a:srgbClr val="E4DFD5"/>
          </a:solidFill>
          <a:ln cap="flat" cmpd="sng" w="9525">
            <a:solidFill>
              <a:srgbClr val="E4DF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4"/>
          <p:cNvSpPr txBox="1"/>
          <p:nvPr/>
        </p:nvSpPr>
        <p:spPr>
          <a:xfrm>
            <a:off x="5806440" y="2011680"/>
            <a:ext cx="8229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2200"/>
              <a:buFont typeface="Cambria"/>
              <a:buNone/>
            </a:pPr>
            <a:r>
              <a:rPr b="1" lang="en-US" sz="2200">
                <a:solidFill>
                  <a:srgbClr val="1F2A33"/>
                </a:solidFill>
                <a:latin typeface="Cambria"/>
                <a:ea typeface="Cambria"/>
                <a:cs typeface="Cambria"/>
                <a:sym typeface="Cambria"/>
              </a:rPr>
              <a:t>300</a:t>
            </a:r>
            <a:endParaRPr sz="2200">
              <a:solidFill>
                <a:schemeClr val="dk1"/>
              </a:solidFill>
              <a:latin typeface="Calibri"/>
              <a:ea typeface="Calibri"/>
              <a:cs typeface="Calibri"/>
              <a:sym typeface="Calibri"/>
            </a:endParaRPr>
          </a:p>
        </p:txBody>
      </p:sp>
      <p:sp>
        <p:nvSpPr>
          <p:cNvPr id="329" name="Google Shape;329;p14"/>
          <p:cNvSpPr txBox="1"/>
          <p:nvPr/>
        </p:nvSpPr>
        <p:spPr>
          <a:xfrm>
            <a:off x="9006840" y="2011680"/>
            <a:ext cx="26517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pairs screened (first 300 of 600; time cap)</a:t>
            </a:r>
            <a:endParaRPr sz="1400">
              <a:solidFill>
                <a:schemeClr val="dk1"/>
              </a:solidFill>
              <a:latin typeface="Calibri"/>
              <a:ea typeface="Calibri"/>
              <a:cs typeface="Calibri"/>
              <a:sym typeface="Calibri"/>
            </a:endParaRPr>
          </a:p>
        </p:txBody>
      </p:sp>
      <p:sp>
        <p:nvSpPr>
          <p:cNvPr id="330" name="Google Shape;330;p14"/>
          <p:cNvSpPr/>
          <p:nvPr/>
        </p:nvSpPr>
        <p:spPr>
          <a:xfrm>
            <a:off x="5715000" y="2798064"/>
            <a:ext cx="1367100" cy="567000"/>
          </a:xfrm>
          <a:prstGeom prst="roundRect">
            <a:avLst>
              <a:gd fmla="val 6452" name="adj"/>
            </a:avLst>
          </a:prstGeom>
          <a:solidFill>
            <a:srgbClr val="9A948A"/>
          </a:solidFill>
          <a:ln cap="flat" cmpd="sng" w="9525">
            <a:solidFill>
              <a:srgbClr val="9A94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4"/>
          <p:cNvSpPr txBox="1"/>
          <p:nvPr/>
        </p:nvSpPr>
        <p:spPr>
          <a:xfrm>
            <a:off x="5806440" y="2798064"/>
            <a:ext cx="8229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2200"/>
              <a:buFont typeface="Cambria"/>
              <a:buNone/>
            </a:pPr>
            <a:r>
              <a:rPr b="1" lang="en-US" sz="2200">
                <a:solidFill>
                  <a:srgbClr val="1F2A33"/>
                </a:solidFill>
                <a:latin typeface="Cambria"/>
                <a:ea typeface="Cambria"/>
                <a:cs typeface="Cambria"/>
                <a:sym typeface="Cambria"/>
              </a:rPr>
              <a:t>58</a:t>
            </a:r>
            <a:endParaRPr sz="2200">
              <a:solidFill>
                <a:schemeClr val="dk1"/>
              </a:solidFill>
              <a:latin typeface="Calibri"/>
              <a:ea typeface="Calibri"/>
              <a:cs typeface="Calibri"/>
              <a:sym typeface="Calibri"/>
            </a:endParaRPr>
          </a:p>
        </p:txBody>
      </p:sp>
      <p:sp>
        <p:nvSpPr>
          <p:cNvPr id="332" name="Google Shape;332;p14"/>
          <p:cNvSpPr txBox="1"/>
          <p:nvPr/>
        </p:nvSpPr>
        <p:spPr>
          <a:xfrm>
            <a:off x="9006840" y="2798064"/>
            <a:ext cx="26517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Qwen's two answers differ (X ≠ Y)</a:t>
            </a:r>
            <a:endParaRPr sz="1400">
              <a:solidFill>
                <a:schemeClr val="dk1"/>
              </a:solidFill>
              <a:latin typeface="Calibri"/>
              <a:ea typeface="Calibri"/>
              <a:cs typeface="Calibri"/>
              <a:sym typeface="Calibri"/>
            </a:endParaRPr>
          </a:p>
        </p:txBody>
      </p:sp>
      <p:sp>
        <p:nvSpPr>
          <p:cNvPr id="333" name="Google Shape;333;p14"/>
          <p:cNvSpPr/>
          <p:nvPr/>
        </p:nvSpPr>
        <p:spPr>
          <a:xfrm>
            <a:off x="5715000" y="3584448"/>
            <a:ext cx="621900" cy="567000"/>
          </a:xfrm>
          <a:prstGeom prst="roundRect">
            <a:avLst>
              <a:gd fmla="val 6452" name="adj"/>
            </a:avLst>
          </a:prstGeom>
          <a:solidFill>
            <a:srgbClr val="E2A3B8"/>
          </a:solidFill>
          <a:ln cap="flat" cmpd="sng" w="9525">
            <a:solidFill>
              <a:srgbClr val="E2A3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4"/>
          <p:cNvSpPr txBox="1"/>
          <p:nvPr/>
        </p:nvSpPr>
        <p:spPr>
          <a:xfrm>
            <a:off x="5806440" y="3584448"/>
            <a:ext cx="8229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2200"/>
              <a:buFont typeface="Cambria"/>
              <a:buNone/>
            </a:pPr>
            <a:r>
              <a:rPr b="1" lang="en-US" sz="2200">
                <a:solidFill>
                  <a:srgbClr val="1F2A33"/>
                </a:solidFill>
                <a:latin typeface="Cambria"/>
                <a:ea typeface="Cambria"/>
                <a:cs typeface="Cambria"/>
                <a:sym typeface="Cambria"/>
              </a:rPr>
              <a:t>12</a:t>
            </a:r>
            <a:endParaRPr sz="2200">
              <a:solidFill>
                <a:schemeClr val="dk1"/>
              </a:solidFill>
              <a:latin typeface="Calibri"/>
              <a:ea typeface="Calibri"/>
              <a:cs typeface="Calibri"/>
              <a:sym typeface="Calibri"/>
            </a:endParaRPr>
          </a:p>
        </p:txBody>
      </p:sp>
      <p:sp>
        <p:nvSpPr>
          <p:cNvPr id="335" name="Google Shape;335;p14"/>
          <p:cNvSpPr txBox="1"/>
          <p:nvPr/>
        </p:nvSpPr>
        <p:spPr>
          <a:xfrm>
            <a:off x="9006840" y="3584448"/>
            <a:ext cx="26517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evaluable at block 60: each readout states exactly one value</a:t>
            </a:r>
            <a:endParaRPr sz="1400">
              <a:solidFill>
                <a:schemeClr val="dk1"/>
              </a:solidFill>
              <a:latin typeface="Calibri"/>
              <a:ea typeface="Calibri"/>
              <a:cs typeface="Calibri"/>
              <a:sym typeface="Calibri"/>
            </a:endParaRPr>
          </a:p>
        </p:txBody>
      </p:sp>
      <p:sp>
        <p:nvSpPr>
          <p:cNvPr id="336" name="Google Shape;336;p14"/>
          <p:cNvSpPr txBox="1"/>
          <p:nvPr/>
        </p:nvSpPr>
        <p:spPr>
          <a:xfrm>
            <a:off x="5715000" y="4416552"/>
            <a:ext cx="59436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500"/>
              <a:buFont typeface="Calibri"/>
              <a:buNone/>
            </a:pPr>
            <a:r>
              <a:rPr b="1" lang="en-US" sz="1500">
                <a:solidFill>
                  <a:srgbClr val="B03060"/>
                </a:solidFill>
                <a:latin typeface="Calibri"/>
                <a:ea typeface="Calibri"/>
                <a:cs typeface="Calibri"/>
                <a:sym typeface="Calibri"/>
              </a:rPr>
              <a:t>Of 12 questions: 1 follows Qwen, 0.08  · 11 give one answer for both, 0.92 </a:t>
            </a:r>
            <a:endParaRPr sz="1500">
              <a:solidFill>
                <a:schemeClr val="dk1"/>
              </a:solidFill>
              <a:latin typeface="Calibri"/>
              <a:ea typeface="Calibri"/>
              <a:cs typeface="Calibri"/>
              <a:sym typeface="Calibri"/>
            </a:endParaRPr>
          </a:p>
        </p:txBody>
      </p:sp>
      <p:sp>
        <p:nvSpPr>
          <p:cNvPr id="337" name="Google Shape;337;p14"/>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7</a:t>
            </a:r>
            <a:endParaRPr/>
          </a:p>
        </p:txBody>
      </p:sp>
      <p:sp>
        <p:nvSpPr>
          <p:cNvPr id="338" name="Google Shape;338;p14"/>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5"/>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SWAP IN ANOTHER ITEM'S WHOLE ACTIVATION</a:t>
            </a:r>
            <a:endParaRPr sz="1100"/>
          </a:p>
        </p:txBody>
      </p:sp>
      <p:sp>
        <p:nvSpPr>
          <p:cNvPr id="345" name="Google Shape;345;p15"/>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After a whole-activation swap, content transfers readily; structural reporting is sparse</a:t>
            </a:r>
            <a:endParaRPr sz="2700"/>
          </a:p>
        </p:txBody>
      </p:sp>
      <p:sp>
        <p:nvSpPr>
          <p:cNvPr id="346" name="Google Shape;346;p15"/>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5"/>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348" name="Google Shape;348;p15"/>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5"/>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350" name="Google Shape;350;p15"/>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5"/>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352" name="Google Shape;352;p15"/>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the reader cannot see structure: probes read these rows at AUROC 1.00 (next slide). A transplant moves everything at once; the category census is post hoc.</a:t>
            </a:r>
            <a:endParaRPr sz="1200"/>
          </a:p>
        </p:txBody>
      </p:sp>
      <p:sp>
        <p:nvSpPr>
          <p:cNvPr id="353" name="Google Shape;353;p15"/>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E</a:t>
            </a:r>
            <a:r>
              <a:rPr lang="en-US"/>
              <a:t>xperiment E</a:t>
            </a:r>
            <a:r>
              <a:rPr lang="en-US" sz="1100">
                <a:solidFill>
                  <a:schemeClr val="dk2"/>
                </a:solidFill>
              </a:rPr>
              <a:t>100</a:t>
            </a:r>
            <a:endParaRPr sz="1100"/>
          </a:p>
        </p:txBody>
      </p:sp>
      <p:sp>
        <p:nvSpPr>
          <p:cNvPr id="354" name="Google Shape;354;p15"/>
          <p:cNvSpPr txBox="1"/>
          <p:nvPr/>
        </p:nvSpPr>
        <p:spPr>
          <a:xfrm>
            <a:off x="548640" y="1645920"/>
            <a:ext cx="457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The intervention · Oracle Lens, block 44</a:t>
            </a:r>
            <a:endParaRPr sz="1400">
              <a:solidFill>
                <a:schemeClr val="dk1"/>
              </a:solidFill>
              <a:latin typeface="Calibri"/>
              <a:ea typeface="Calibri"/>
              <a:cs typeface="Calibri"/>
              <a:sym typeface="Calibri"/>
            </a:endParaRPr>
          </a:p>
        </p:txBody>
      </p:sp>
      <p:sp>
        <p:nvSpPr>
          <p:cNvPr id="355" name="Google Shape;355;p15"/>
          <p:cNvSpPr/>
          <p:nvPr/>
        </p:nvSpPr>
        <p:spPr>
          <a:xfrm>
            <a:off x="548640" y="2011680"/>
            <a:ext cx="2194500" cy="548700"/>
          </a:xfrm>
          <a:prstGeom prst="roundRect">
            <a:avLst>
              <a:gd fmla="val 10000"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5"/>
          <p:cNvSpPr txBox="1"/>
          <p:nvPr/>
        </p:nvSpPr>
        <p:spPr>
          <a:xfrm>
            <a:off x="548640" y="2011680"/>
            <a:ext cx="21945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recipient prompt</a:t>
            </a:r>
            <a:endParaRPr sz="1400">
              <a:solidFill>
                <a:schemeClr val="dk1"/>
              </a:solidFill>
              <a:latin typeface="Calibri"/>
              <a:ea typeface="Calibri"/>
              <a:cs typeface="Calibri"/>
              <a:sym typeface="Calibri"/>
            </a:endParaRPr>
          </a:p>
        </p:txBody>
      </p:sp>
      <p:sp>
        <p:nvSpPr>
          <p:cNvPr id="357" name="Google Shape;357;p15"/>
          <p:cNvSpPr/>
          <p:nvPr/>
        </p:nvSpPr>
        <p:spPr>
          <a:xfrm>
            <a:off x="548640" y="2788920"/>
            <a:ext cx="2194500" cy="548700"/>
          </a:xfrm>
          <a:prstGeom prst="roundRect">
            <a:avLst>
              <a:gd fmla="val 10000" name="adj"/>
            </a:avLst>
          </a:prstGeom>
          <a:solidFill>
            <a:srgbClr val="E9E3F2"/>
          </a:solidFill>
          <a:ln cap="flat" cmpd="sng" w="9525">
            <a:solidFill>
              <a:srgbClr val="E9E3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5"/>
          <p:cNvSpPr txBox="1"/>
          <p:nvPr/>
        </p:nvSpPr>
        <p:spPr>
          <a:xfrm>
            <a:off x="548640" y="2788920"/>
            <a:ext cx="21945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4C9C"/>
              </a:buClr>
              <a:buSzPts val="1400"/>
              <a:buFont typeface="Calibri"/>
              <a:buNone/>
            </a:pPr>
            <a:r>
              <a:rPr b="1" lang="en-US" sz="1400">
                <a:solidFill>
                  <a:srgbClr val="6A4C9C"/>
                </a:solidFill>
                <a:latin typeface="Calibri"/>
                <a:ea typeface="Calibri"/>
                <a:cs typeface="Calibri"/>
                <a:sym typeface="Calibri"/>
              </a:rPr>
              <a:t>donor prompt</a:t>
            </a:r>
            <a:endParaRPr sz="1400">
              <a:solidFill>
                <a:schemeClr val="dk1"/>
              </a:solidFill>
              <a:latin typeface="Calibri"/>
              <a:ea typeface="Calibri"/>
              <a:cs typeface="Calibri"/>
              <a:sym typeface="Calibri"/>
            </a:endParaRPr>
          </a:p>
        </p:txBody>
      </p:sp>
      <p:sp>
        <p:nvSpPr>
          <p:cNvPr id="359" name="Google Shape;359;p15"/>
          <p:cNvSpPr/>
          <p:nvPr/>
        </p:nvSpPr>
        <p:spPr>
          <a:xfrm>
            <a:off x="2971800" y="2011680"/>
            <a:ext cx="137100" cy="1233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5"/>
          <p:cNvSpPr/>
          <p:nvPr/>
        </p:nvSpPr>
        <p:spPr>
          <a:xfrm>
            <a:off x="2971800" y="2148840"/>
            <a:ext cx="137100" cy="1233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5"/>
          <p:cNvSpPr/>
          <p:nvPr/>
        </p:nvSpPr>
        <p:spPr>
          <a:xfrm>
            <a:off x="2971800" y="2286000"/>
            <a:ext cx="137100" cy="1233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5"/>
          <p:cNvSpPr/>
          <p:nvPr/>
        </p:nvSpPr>
        <p:spPr>
          <a:xfrm>
            <a:off x="2971800" y="2423160"/>
            <a:ext cx="137100" cy="1233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5"/>
          <p:cNvSpPr/>
          <p:nvPr/>
        </p:nvSpPr>
        <p:spPr>
          <a:xfrm>
            <a:off x="2971800" y="2788920"/>
            <a:ext cx="137100" cy="1233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5"/>
          <p:cNvSpPr/>
          <p:nvPr/>
        </p:nvSpPr>
        <p:spPr>
          <a:xfrm>
            <a:off x="2971800" y="2926080"/>
            <a:ext cx="137100" cy="1233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5"/>
          <p:cNvSpPr/>
          <p:nvPr/>
        </p:nvSpPr>
        <p:spPr>
          <a:xfrm>
            <a:off x="2971800" y="3063240"/>
            <a:ext cx="137100" cy="1233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5"/>
          <p:cNvSpPr/>
          <p:nvPr/>
        </p:nvSpPr>
        <p:spPr>
          <a:xfrm>
            <a:off x="2971800" y="3200400"/>
            <a:ext cx="137100" cy="1233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67" name="Google Shape;367;p15"/>
          <p:cNvCxnSpPr/>
          <p:nvPr/>
        </p:nvCxnSpPr>
        <p:spPr>
          <a:xfrm flipH="1" rot="10800000">
            <a:off x="3200400" y="2377320"/>
            <a:ext cx="457200" cy="640200"/>
          </a:xfrm>
          <a:prstGeom prst="straightConnector1">
            <a:avLst/>
          </a:prstGeom>
          <a:noFill/>
          <a:ln cap="flat" cmpd="sng" w="25400">
            <a:solidFill>
              <a:srgbClr val="6A4C9C"/>
            </a:solidFill>
            <a:prstDash val="solid"/>
            <a:round/>
            <a:headEnd len="sm" w="sm" type="none"/>
            <a:tailEnd len="med" w="med" type="triangle"/>
          </a:ln>
        </p:spPr>
      </p:cxnSp>
      <p:sp>
        <p:nvSpPr>
          <p:cNvPr id="368" name="Google Shape;368;p15"/>
          <p:cNvSpPr txBox="1"/>
          <p:nvPr/>
        </p:nvSpPr>
        <p:spPr>
          <a:xfrm>
            <a:off x="3703320" y="2057400"/>
            <a:ext cx="2194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4C9C"/>
              </a:buClr>
              <a:buSzPts val="1400"/>
              <a:buFont typeface="Cambria Math"/>
              <a:buNone/>
            </a:pPr>
            <a:r>
              <a:rPr b="1" lang="en-US" sz="1400">
                <a:solidFill>
                  <a:srgbClr val="6A4C9C"/>
                </a:solidFill>
                <a:latin typeface="Cambria Math"/>
                <a:ea typeface="Cambria Math"/>
                <a:cs typeface="Cambria Math"/>
                <a:sym typeface="Cambria Math"/>
              </a:rPr>
              <a:t>h₄₄(recipient) ← h₄₄(donor)</a:t>
            </a:r>
            <a:endParaRPr sz="1400">
              <a:solidFill>
                <a:schemeClr val="dk1"/>
              </a:solidFill>
              <a:latin typeface="Calibri"/>
              <a:ea typeface="Calibri"/>
              <a:cs typeface="Calibri"/>
              <a:sym typeface="Calibri"/>
            </a:endParaRPr>
          </a:p>
        </p:txBody>
      </p:sp>
      <p:sp>
        <p:nvSpPr>
          <p:cNvPr id="369" name="Google Shape;369;p15"/>
          <p:cNvSpPr txBox="1"/>
          <p:nvPr/>
        </p:nvSpPr>
        <p:spPr>
          <a:xfrm>
            <a:off x="3703320" y="2468880"/>
            <a:ext cx="21030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350"/>
              <a:buFont typeface="Calibri"/>
              <a:buNone/>
            </a:pPr>
            <a:r>
              <a:rPr lang="en-US" sz="1350">
                <a:solidFill>
                  <a:srgbClr val="B03060"/>
                </a:solidFill>
                <a:latin typeface="Calibri"/>
                <a:ea typeface="Calibri"/>
                <a:cs typeface="Calibri"/>
                <a:sym typeface="Calibri"/>
              </a:rPr>
              <a:t>→ reader writes text → judge: whose value does it state?</a:t>
            </a:r>
            <a:endParaRPr sz="1350">
              <a:solidFill>
                <a:schemeClr val="dk1"/>
              </a:solidFill>
              <a:latin typeface="Calibri"/>
              <a:ea typeface="Calibri"/>
              <a:cs typeface="Calibri"/>
              <a:sym typeface="Calibri"/>
            </a:endParaRPr>
          </a:p>
        </p:txBody>
      </p:sp>
      <p:sp>
        <p:nvSpPr>
          <p:cNvPr id="370" name="Google Shape;370;p15"/>
          <p:cNvSpPr/>
          <p:nvPr/>
        </p:nvSpPr>
        <p:spPr>
          <a:xfrm>
            <a:off x="548640" y="3611880"/>
            <a:ext cx="5303400" cy="548700"/>
          </a:xfrm>
          <a:prstGeom prst="roundRect">
            <a:avLst>
              <a:gd fmla="val 10000"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5"/>
          <p:cNvSpPr txBox="1"/>
          <p:nvPr/>
        </p:nvSpPr>
        <p:spPr>
          <a:xfrm>
            <a:off x="713232" y="3666744"/>
            <a:ext cx="4974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S = (#donor-only − #recipient-only) / #kept</a:t>
            </a:r>
            <a:endParaRPr sz="1600">
              <a:solidFill>
                <a:schemeClr val="dk1"/>
              </a:solidFill>
              <a:latin typeface="Calibri"/>
              <a:ea typeface="Calibri"/>
              <a:cs typeface="Calibri"/>
              <a:sym typeface="Calibri"/>
            </a:endParaRPr>
          </a:p>
        </p:txBody>
      </p:sp>
      <p:sp>
        <p:nvSpPr>
          <p:cNvPr id="372" name="Google Shape;372;p15"/>
          <p:cNvSpPr txBox="1"/>
          <p:nvPr/>
        </p:nvSpPr>
        <p:spPr>
          <a:xfrm>
            <a:off x="548640" y="4297680"/>
            <a:ext cx="5303400" cy="141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Content rows follow the donor. On nesting and indent, S ≈ 0 because the readout states no value at all (64 and 78 of 84). On the page digit it is partly cancellation: 10 donor, 10 recipient, 7 both.</a:t>
            </a:r>
            <a:endParaRPr sz="1400">
              <a:solidFill>
                <a:schemeClr val="dk1"/>
              </a:solidFill>
              <a:latin typeface="Calibri"/>
              <a:ea typeface="Calibri"/>
              <a:cs typeface="Calibri"/>
              <a:sym typeface="Calibri"/>
            </a:endParaRPr>
          </a:p>
        </p:txBody>
      </p:sp>
      <p:pic>
        <p:nvPicPr>
          <p:cNvPr id="373" name="Google Shape;373;p15"/>
          <p:cNvPicPr preferRelativeResize="0"/>
          <p:nvPr/>
        </p:nvPicPr>
        <p:blipFill rotWithShape="1">
          <a:blip r:embed="rId3">
            <a:alphaModFix/>
          </a:blip>
          <a:srcRect b="0" l="0" r="0" t="0"/>
          <a:stretch/>
        </p:blipFill>
        <p:spPr>
          <a:xfrm>
            <a:off x="6035040" y="1600200"/>
            <a:ext cx="5669400" cy="4206300"/>
          </a:xfrm>
          <a:prstGeom prst="rect">
            <a:avLst/>
          </a:prstGeom>
          <a:noFill/>
          <a:ln>
            <a:noFill/>
          </a:ln>
        </p:spPr>
      </p:pic>
      <p:sp>
        <p:nvSpPr>
          <p:cNvPr id="374" name="Google Shape;374;p15"/>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8</a:t>
            </a:r>
            <a:endParaRPr/>
          </a:p>
        </p:txBody>
      </p:sp>
      <p:sp>
        <p:nvSpPr>
          <p:cNvPr id="375" name="Google Shape;375;p15"/>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6"/>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A PROBE INSIDE THE READER</a:t>
            </a:r>
            <a:endParaRPr sz="1100"/>
          </a:p>
        </p:txBody>
      </p:sp>
      <p:sp>
        <p:nvSpPr>
          <p:cNvPr id="382" name="Google Shape;382;p16"/>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Inside the reader the structural state is perfectly decodable, but seldom stated</a:t>
            </a:r>
            <a:endParaRPr sz="2700"/>
          </a:p>
        </p:txBody>
      </p:sp>
      <p:sp>
        <p:nvSpPr>
          <p:cNvPr id="383" name="Google Shape;383;p16"/>
          <p:cNvSpPr/>
          <p:nvPr/>
        </p:nvSpPr>
        <p:spPr>
          <a:xfrm>
            <a:off x="9930384" y="310896"/>
            <a:ext cx="183000" cy="183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6"/>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385" name="Google Shape;385;p16"/>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6"/>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387" name="Google Shape;387;p16"/>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6"/>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389" name="Google Shape;389;p16"/>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the reader uses the state: at the injected marker the vector is its own input, so 1.00 there is trivial; the first-token probe shows the state reaches generation positions, not that it drives words.</a:t>
            </a:r>
            <a:endParaRPr sz="1200"/>
          </a:p>
        </p:txBody>
      </p:sp>
      <p:sp>
        <p:nvSpPr>
          <p:cNvPr id="390" name="Google Shape;390;p16"/>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E</a:t>
            </a:r>
            <a:r>
              <a:rPr lang="en-US"/>
              <a:t>xperiment: E113</a:t>
            </a:r>
            <a:endParaRPr sz="1100"/>
          </a:p>
        </p:txBody>
      </p:sp>
      <p:sp>
        <p:nvSpPr>
          <p:cNvPr id="391" name="Google Shape;391;p16"/>
          <p:cNvSpPr txBox="1"/>
          <p:nvPr/>
        </p:nvSpPr>
        <p:spPr>
          <a:xfrm>
            <a:off x="548640" y="1645920"/>
            <a:ext cx="457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Where the probe reads</a:t>
            </a:r>
            <a:endParaRPr sz="1400">
              <a:solidFill>
                <a:schemeClr val="dk1"/>
              </a:solidFill>
              <a:latin typeface="Calibri"/>
              <a:ea typeface="Calibri"/>
              <a:cs typeface="Calibri"/>
              <a:sym typeface="Calibri"/>
            </a:endParaRPr>
          </a:p>
        </p:txBody>
      </p:sp>
      <p:sp>
        <p:nvSpPr>
          <p:cNvPr id="392" name="Google Shape;392;p16"/>
          <p:cNvSpPr/>
          <p:nvPr/>
        </p:nvSpPr>
        <p:spPr>
          <a:xfrm>
            <a:off x="822960" y="2057400"/>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6"/>
          <p:cNvSpPr/>
          <p:nvPr/>
        </p:nvSpPr>
        <p:spPr>
          <a:xfrm>
            <a:off x="2148840" y="2057400"/>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6"/>
          <p:cNvSpPr/>
          <p:nvPr/>
        </p:nvSpPr>
        <p:spPr>
          <a:xfrm>
            <a:off x="3474720" y="2057400"/>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6"/>
          <p:cNvSpPr/>
          <p:nvPr/>
        </p:nvSpPr>
        <p:spPr>
          <a:xfrm>
            <a:off x="822960" y="2441448"/>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6"/>
          <p:cNvSpPr/>
          <p:nvPr/>
        </p:nvSpPr>
        <p:spPr>
          <a:xfrm>
            <a:off x="2148840" y="2441448"/>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6"/>
          <p:cNvSpPr/>
          <p:nvPr/>
        </p:nvSpPr>
        <p:spPr>
          <a:xfrm>
            <a:off x="3474720" y="2441448"/>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6"/>
          <p:cNvSpPr/>
          <p:nvPr/>
        </p:nvSpPr>
        <p:spPr>
          <a:xfrm>
            <a:off x="822960" y="2825496"/>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6"/>
          <p:cNvSpPr/>
          <p:nvPr/>
        </p:nvSpPr>
        <p:spPr>
          <a:xfrm>
            <a:off x="2148840" y="2825496"/>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6"/>
          <p:cNvSpPr/>
          <p:nvPr/>
        </p:nvSpPr>
        <p:spPr>
          <a:xfrm>
            <a:off x="3474720" y="2825496"/>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6"/>
          <p:cNvSpPr/>
          <p:nvPr/>
        </p:nvSpPr>
        <p:spPr>
          <a:xfrm>
            <a:off x="822960" y="3209544"/>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6"/>
          <p:cNvSpPr/>
          <p:nvPr/>
        </p:nvSpPr>
        <p:spPr>
          <a:xfrm>
            <a:off x="2148840" y="3209544"/>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6"/>
          <p:cNvSpPr/>
          <p:nvPr/>
        </p:nvSpPr>
        <p:spPr>
          <a:xfrm>
            <a:off x="3474720" y="3209544"/>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6"/>
          <p:cNvSpPr/>
          <p:nvPr/>
        </p:nvSpPr>
        <p:spPr>
          <a:xfrm>
            <a:off x="822960" y="3593592"/>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6"/>
          <p:cNvSpPr/>
          <p:nvPr/>
        </p:nvSpPr>
        <p:spPr>
          <a:xfrm>
            <a:off x="2148840" y="3593592"/>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6"/>
          <p:cNvSpPr/>
          <p:nvPr/>
        </p:nvSpPr>
        <p:spPr>
          <a:xfrm>
            <a:off x="3474720" y="3593592"/>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6"/>
          <p:cNvSpPr/>
          <p:nvPr/>
        </p:nvSpPr>
        <p:spPr>
          <a:xfrm>
            <a:off x="822960" y="3977640"/>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6"/>
          <p:cNvSpPr/>
          <p:nvPr/>
        </p:nvSpPr>
        <p:spPr>
          <a:xfrm>
            <a:off x="2148840" y="3977640"/>
            <a:ext cx="1188600" cy="329100"/>
          </a:xfrm>
          <a:prstGeom prst="rect">
            <a:avLst/>
          </a:prstGeom>
          <a:solidFill>
            <a:srgbClr val="E9E3F2"/>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6"/>
          <p:cNvSpPr/>
          <p:nvPr/>
        </p:nvSpPr>
        <p:spPr>
          <a:xfrm>
            <a:off x="3474720" y="3977640"/>
            <a:ext cx="1188600" cy="329100"/>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6"/>
          <p:cNvSpPr txBox="1"/>
          <p:nvPr/>
        </p:nvSpPr>
        <p:spPr>
          <a:xfrm>
            <a:off x="777240" y="4434840"/>
            <a:ext cx="1326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 reader prompt</a:t>
            </a:r>
            <a:endParaRPr sz="1300">
              <a:solidFill>
                <a:schemeClr val="dk1"/>
              </a:solidFill>
              <a:latin typeface="Calibri"/>
              <a:ea typeface="Calibri"/>
              <a:cs typeface="Calibri"/>
              <a:sym typeface="Calibri"/>
            </a:endParaRPr>
          </a:p>
        </p:txBody>
      </p:sp>
      <p:sp>
        <p:nvSpPr>
          <p:cNvPr id="411" name="Google Shape;411;p16"/>
          <p:cNvSpPr txBox="1"/>
          <p:nvPr/>
        </p:nvSpPr>
        <p:spPr>
          <a:xfrm>
            <a:off x="2103120" y="4434840"/>
            <a:ext cx="1326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A4C9C"/>
              </a:buClr>
              <a:buSzPts val="1300"/>
              <a:buFont typeface="Calibri"/>
              <a:buNone/>
            </a:pPr>
            <a:r>
              <a:rPr b="1" lang="en-US" sz="1300">
                <a:solidFill>
                  <a:srgbClr val="6A4C9C"/>
                </a:solidFill>
                <a:latin typeface="Calibri"/>
                <a:ea typeface="Calibri"/>
                <a:cs typeface="Calibri"/>
                <a:sym typeface="Calibri"/>
              </a:rPr>
              <a:t>marker = h</a:t>
            </a:r>
            <a:endParaRPr sz="1300">
              <a:solidFill>
                <a:schemeClr val="dk1"/>
              </a:solidFill>
              <a:latin typeface="Calibri"/>
              <a:ea typeface="Calibri"/>
              <a:cs typeface="Calibri"/>
              <a:sym typeface="Calibri"/>
            </a:endParaRPr>
          </a:p>
        </p:txBody>
      </p:sp>
      <p:sp>
        <p:nvSpPr>
          <p:cNvPr id="412" name="Google Shape;412;p16"/>
          <p:cNvSpPr txBox="1"/>
          <p:nvPr/>
        </p:nvSpPr>
        <p:spPr>
          <a:xfrm>
            <a:off x="3429000" y="4434840"/>
            <a:ext cx="1326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first generated</a:t>
            </a:r>
            <a:endParaRPr sz="1300">
              <a:solidFill>
                <a:schemeClr val="dk1"/>
              </a:solidFill>
              <a:latin typeface="Calibri"/>
              <a:ea typeface="Calibri"/>
              <a:cs typeface="Calibri"/>
              <a:sym typeface="Calibri"/>
            </a:endParaRPr>
          </a:p>
        </p:txBody>
      </p:sp>
      <p:sp>
        <p:nvSpPr>
          <p:cNvPr id="413" name="Google Shape;413;p16"/>
          <p:cNvSpPr txBox="1"/>
          <p:nvPr/>
        </p:nvSpPr>
        <p:spPr>
          <a:xfrm>
            <a:off x="182880" y="2057400"/>
            <a:ext cx="640200" cy="219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200"/>
              <a:buFont typeface="Calibri"/>
              <a:buNone/>
            </a:pPr>
            <a:r>
              <a:rPr lang="en-US" sz="1200">
                <a:solidFill>
                  <a:srgbClr val="56606B"/>
                </a:solidFill>
                <a:latin typeface="Calibri"/>
                <a:ea typeface="Calibri"/>
                <a:cs typeface="Calibri"/>
                <a:sym typeface="Calibri"/>
              </a:rPr>
              <a:t>reader layers ↓</a:t>
            </a:r>
            <a:endParaRPr sz="1200">
              <a:solidFill>
                <a:schemeClr val="dk1"/>
              </a:solidFill>
              <a:latin typeface="Calibri"/>
              <a:ea typeface="Calibri"/>
              <a:cs typeface="Calibri"/>
              <a:sym typeface="Calibri"/>
            </a:endParaRPr>
          </a:p>
        </p:txBody>
      </p:sp>
      <p:sp>
        <p:nvSpPr>
          <p:cNvPr id="414" name="Google Shape;414;p16"/>
          <p:cNvSpPr txBox="1"/>
          <p:nvPr/>
        </p:nvSpPr>
        <p:spPr>
          <a:xfrm>
            <a:off x="548640" y="4892040"/>
            <a:ext cx="47550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Probe every reader block (0–63) at two positions: the injected marker and the first generated token. 84 dev / 84 test items per row; dev-only model selection. The first generated token is always the same token (ID 12), so token identity cannot explain it.</a:t>
            </a:r>
            <a:endParaRPr sz="1400">
              <a:solidFill>
                <a:schemeClr val="dk1"/>
              </a:solidFill>
              <a:latin typeface="Calibri"/>
              <a:ea typeface="Calibri"/>
              <a:cs typeface="Calibri"/>
              <a:sym typeface="Calibri"/>
            </a:endParaRPr>
          </a:p>
        </p:txBody>
      </p:sp>
      <p:pic>
        <p:nvPicPr>
          <p:cNvPr id="415" name="Google Shape;415;p16"/>
          <p:cNvPicPr preferRelativeResize="0"/>
          <p:nvPr/>
        </p:nvPicPr>
        <p:blipFill rotWithShape="1">
          <a:blip r:embed="rId3">
            <a:alphaModFix/>
          </a:blip>
          <a:srcRect b="0" l="0" r="0" t="0"/>
          <a:stretch/>
        </p:blipFill>
        <p:spPr>
          <a:xfrm>
            <a:off x="5577840" y="1600200"/>
            <a:ext cx="6126600" cy="2651700"/>
          </a:xfrm>
          <a:prstGeom prst="rect">
            <a:avLst/>
          </a:prstGeom>
          <a:noFill/>
          <a:ln>
            <a:noFill/>
          </a:ln>
        </p:spPr>
      </p:pic>
      <p:sp>
        <p:nvSpPr>
          <p:cNvPr id="416" name="Google Shape;416;p16"/>
          <p:cNvSpPr txBox="1"/>
          <p:nvPr/>
        </p:nvSpPr>
        <p:spPr>
          <a:xfrm>
            <a:off x="5715000" y="4389120"/>
            <a:ext cx="5943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400"/>
              <a:buFont typeface="Calibri"/>
              <a:buNone/>
            </a:pPr>
            <a:r>
              <a:rPr b="1" lang="en-US" sz="1400">
                <a:solidFill>
                  <a:srgbClr val="B03060"/>
                </a:solidFill>
                <a:latin typeface="Calibri"/>
                <a:ea typeface="Calibri"/>
                <a:cs typeface="Calibri"/>
                <a:sym typeface="Calibri"/>
              </a:rPr>
              <a:t>Stated · in E100's readouts, the Oracle states any value of</a:t>
            </a:r>
            <a:endParaRPr sz="1400">
              <a:solidFill>
                <a:schemeClr val="dk1"/>
              </a:solidFill>
              <a:latin typeface="Calibri"/>
              <a:ea typeface="Calibri"/>
              <a:cs typeface="Calibri"/>
              <a:sym typeface="Calibri"/>
            </a:endParaRPr>
          </a:p>
        </p:txBody>
      </p:sp>
      <p:sp>
        <p:nvSpPr>
          <p:cNvPr id="417" name="Google Shape;417;p16"/>
          <p:cNvSpPr txBox="1"/>
          <p:nvPr/>
        </p:nvSpPr>
        <p:spPr>
          <a:xfrm>
            <a:off x="5715000" y="4700016"/>
            <a:ext cx="21030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nesting depth</a:t>
            </a:r>
            <a:endParaRPr sz="1450">
              <a:solidFill>
                <a:schemeClr val="dk1"/>
              </a:solidFill>
              <a:latin typeface="Calibri"/>
              <a:ea typeface="Calibri"/>
              <a:cs typeface="Calibri"/>
              <a:sym typeface="Calibri"/>
            </a:endParaRPr>
          </a:p>
        </p:txBody>
      </p:sp>
      <p:sp>
        <p:nvSpPr>
          <p:cNvPr id="418" name="Google Shape;418;p16"/>
          <p:cNvSpPr/>
          <p:nvPr/>
        </p:nvSpPr>
        <p:spPr>
          <a:xfrm>
            <a:off x="7982712" y="4754880"/>
            <a:ext cx="2377500" cy="274200"/>
          </a:xfrm>
          <a:prstGeom prst="roundRect">
            <a:avLst>
              <a:gd fmla="val 10000"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6"/>
          <p:cNvSpPr/>
          <p:nvPr/>
        </p:nvSpPr>
        <p:spPr>
          <a:xfrm>
            <a:off x="7982712" y="4754880"/>
            <a:ext cx="141600" cy="274200"/>
          </a:xfrm>
          <a:prstGeom prst="roundRect">
            <a:avLst>
              <a:gd fmla="val 19385" name="adj"/>
            </a:avLst>
          </a:prstGeom>
          <a:solidFill>
            <a:srgbClr val="B03060"/>
          </a:solidFill>
          <a:ln cap="flat" cmpd="sng" w="952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6"/>
          <p:cNvSpPr txBox="1"/>
          <p:nvPr/>
        </p:nvSpPr>
        <p:spPr>
          <a:xfrm>
            <a:off x="10469880" y="4700016"/>
            <a:ext cx="1188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450"/>
              <a:buFont typeface="Calibri"/>
              <a:buNone/>
            </a:pPr>
            <a:r>
              <a:rPr b="1" lang="en-US" sz="1450">
                <a:solidFill>
                  <a:srgbClr val="B03060"/>
                </a:solidFill>
                <a:latin typeface="Calibri"/>
                <a:ea typeface="Calibri"/>
                <a:cs typeface="Calibri"/>
                <a:sym typeface="Calibri"/>
              </a:rPr>
              <a:t>5 / 84</a:t>
            </a:r>
            <a:endParaRPr sz="1450">
              <a:solidFill>
                <a:schemeClr val="dk1"/>
              </a:solidFill>
              <a:latin typeface="Calibri"/>
              <a:ea typeface="Calibri"/>
              <a:cs typeface="Calibri"/>
              <a:sym typeface="Calibri"/>
            </a:endParaRPr>
          </a:p>
        </p:txBody>
      </p:sp>
      <p:sp>
        <p:nvSpPr>
          <p:cNvPr id="421" name="Google Shape;421;p16"/>
          <p:cNvSpPr txBox="1"/>
          <p:nvPr/>
        </p:nvSpPr>
        <p:spPr>
          <a:xfrm>
            <a:off x="5715000" y="5084064"/>
            <a:ext cx="21030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indent level</a:t>
            </a:r>
            <a:endParaRPr sz="1450">
              <a:solidFill>
                <a:schemeClr val="dk1"/>
              </a:solidFill>
              <a:latin typeface="Calibri"/>
              <a:ea typeface="Calibri"/>
              <a:cs typeface="Calibri"/>
              <a:sym typeface="Calibri"/>
            </a:endParaRPr>
          </a:p>
        </p:txBody>
      </p:sp>
      <p:sp>
        <p:nvSpPr>
          <p:cNvPr id="422" name="Google Shape;422;p16"/>
          <p:cNvSpPr/>
          <p:nvPr/>
        </p:nvSpPr>
        <p:spPr>
          <a:xfrm>
            <a:off x="7982712" y="5138928"/>
            <a:ext cx="2377500" cy="274200"/>
          </a:xfrm>
          <a:prstGeom prst="roundRect">
            <a:avLst>
              <a:gd fmla="val 10000"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6"/>
          <p:cNvSpPr/>
          <p:nvPr/>
        </p:nvSpPr>
        <p:spPr>
          <a:xfrm>
            <a:off x="7982712" y="5138928"/>
            <a:ext cx="113100" cy="274200"/>
          </a:xfrm>
          <a:prstGeom prst="roundRect">
            <a:avLst>
              <a:gd fmla="val 24231" name="adj"/>
            </a:avLst>
          </a:prstGeom>
          <a:solidFill>
            <a:srgbClr val="B03060"/>
          </a:solidFill>
          <a:ln cap="flat" cmpd="sng" w="952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6"/>
          <p:cNvSpPr txBox="1"/>
          <p:nvPr/>
        </p:nvSpPr>
        <p:spPr>
          <a:xfrm>
            <a:off x="10469880" y="5084064"/>
            <a:ext cx="1188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450"/>
              <a:buFont typeface="Calibri"/>
              <a:buNone/>
            </a:pPr>
            <a:r>
              <a:rPr b="1" lang="en-US" sz="1450">
                <a:solidFill>
                  <a:srgbClr val="B03060"/>
                </a:solidFill>
                <a:latin typeface="Calibri"/>
                <a:ea typeface="Calibri"/>
                <a:cs typeface="Calibri"/>
                <a:sym typeface="Calibri"/>
              </a:rPr>
              <a:t>4 / 84</a:t>
            </a:r>
            <a:endParaRPr sz="1450">
              <a:solidFill>
                <a:schemeClr val="dk1"/>
              </a:solidFill>
              <a:latin typeface="Calibri"/>
              <a:ea typeface="Calibri"/>
              <a:cs typeface="Calibri"/>
              <a:sym typeface="Calibri"/>
            </a:endParaRPr>
          </a:p>
        </p:txBody>
      </p:sp>
      <p:sp>
        <p:nvSpPr>
          <p:cNvPr id="425" name="Google Shape;425;p16"/>
          <p:cNvSpPr txBox="1"/>
          <p:nvPr/>
        </p:nvSpPr>
        <p:spPr>
          <a:xfrm>
            <a:off x="5715000" y="5468112"/>
            <a:ext cx="21030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page-range digit</a:t>
            </a:r>
            <a:endParaRPr sz="1450">
              <a:solidFill>
                <a:schemeClr val="dk1"/>
              </a:solidFill>
              <a:latin typeface="Calibri"/>
              <a:ea typeface="Calibri"/>
              <a:cs typeface="Calibri"/>
              <a:sym typeface="Calibri"/>
            </a:endParaRPr>
          </a:p>
        </p:txBody>
      </p:sp>
      <p:sp>
        <p:nvSpPr>
          <p:cNvPr id="426" name="Google Shape;426;p16"/>
          <p:cNvSpPr/>
          <p:nvPr/>
        </p:nvSpPr>
        <p:spPr>
          <a:xfrm>
            <a:off x="7982712" y="5522976"/>
            <a:ext cx="2377500" cy="274200"/>
          </a:xfrm>
          <a:prstGeom prst="roundRect">
            <a:avLst>
              <a:gd fmla="val 10000"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6"/>
          <p:cNvSpPr/>
          <p:nvPr/>
        </p:nvSpPr>
        <p:spPr>
          <a:xfrm>
            <a:off x="7982712" y="5522976"/>
            <a:ext cx="764100" cy="274200"/>
          </a:xfrm>
          <a:prstGeom prst="roundRect">
            <a:avLst>
              <a:gd fmla="val 10000" name="adj"/>
            </a:avLst>
          </a:prstGeom>
          <a:solidFill>
            <a:srgbClr val="B03060"/>
          </a:solidFill>
          <a:ln cap="flat" cmpd="sng" w="952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6"/>
          <p:cNvSpPr txBox="1"/>
          <p:nvPr/>
        </p:nvSpPr>
        <p:spPr>
          <a:xfrm>
            <a:off x="10469880" y="5468112"/>
            <a:ext cx="1188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60"/>
              </a:buClr>
              <a:buSzPts val="1450"/>
              <a:buFont typeface="Calibri"/>
              <a:buNone/>
            </a:pPr>
            <a:r>
              <a:rPr b="1" lang="en-US" sz="1450">
                <a:solidFill>
                  <a:srgbClr val="B03060"/>
                </a:solidFill>
                <a:latin typeface="Calibri"/>
                <a:ea typeface="Calibri"/>
                <a:cs typeface="Calibri"/>
                <a:sym typeface="Calibri"/>
              </a:rPr>
              <a:t>27 / 84</a:t>
            </a:r>
            <a:endParaRPr sz="14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432" name="Shape 432"/>
        <p:cNvGrpSpPr/>
        <p:nvPr/>
      </p:nvGrpSpPr>
      <p:grpSpPr>
        <a:xfrm>
          <a:off x="0" y="0"/>
          <a:ext cx="0" cy="0"/>
          <a:chOff x="0" y="0"/>
          <a:chExt cx="0" cy="0"/>
        </a:xfrm>
      </p:grpSpPr>
      <p:sp>
        <p:nvSpPr>
          <p:cNvPr id="433" name="Google Shape;433;p17"/>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WORKSPACEBENCH · 400 ITEMS · ONE JUDGE ANSWERS FROM DIFFERENT INPUTS</a:t>
            </a:r>
            <a:endParaRPr b="1" sz="1500">
              <a:solidFill>
                <a:srgbClr val="8A8478"/>
              </a:solidFill>
              <a:latin typeface="Source Sans 3"/>
              <a:ea typeface="Source Sans 3"/>
              <a:cs typeface="Source Sans 3"/>
              <a:sym typeface="Source Sans 3"/>
            </a:endParaRPr>
          </a:p>
        </p:txBody>
      </p:sp>
      <p:sp>
        <p:nvSpPr>
          <p:cNvPr id="434" name="Google Shape;434;p17"/>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Readout added to the prompt → no gain</a:t>
            </a:r>
            <a:endParaRPr b="1" sz="3500">
              <a:solidFill>
                <a:srgbClr val="1D232A"/>
              </a:solidFill>
              <a:latin typeface="Lora"/>
              <a:ea typeface="Lora"/>
              <a:cs typeface="Lora"/>
              <a:sym typeface="Lora"/>
            </a:endParaRPr>
          </a:p>
        </p:txBody>
      </p:sp>
      <p:sp>
        <p:nvSpPr>
          <p:cNvPr id="435" name="Google Shape;435;p17"/>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Judge answers correctly (share of 400 items)</a:t>
            </a:r>
            <a:endParaRPr b="1" sz="1900">
              <a:solidFill>
                <a:srgbClr val="1D232A"/>
              </a:solidFill>
              <a:latin typeface="Source Sans 3"/>
              <a:ea typeface="Source Sans 3"/>
              <a:cs typeface="Source Sans 3"/>
              <a:sym typeface="Source Sans 3"/>
            </a:endParaRPr>
          </a:p>
        </p:txBody>
      </p:sp>
      <p:sp>
        <p:nvSpPr>
          <p:cNvPr id="436" name="Google Shape;436;p17"/>
          <p:cNvSpPr txBox="1"/>
          <p:nvPr/>
        </p:nvSpPr>
        <p:spPr>
          <a:xfrm>
            <a:off x="609600" y="192430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Prompt only</a:t>
            </a:r>
            <a:endParaRPr sz="1900">
              <a:solidFill>
                <a:srgbClr val="1D232A"/>
              </a:solidFill>
              <a:latin typeface="Source Sans 3"/>
              <a:ea typeface="Source Sans 3"/>
              <a:cs typeface="Source Sans 3"/>
              <a:sym typeface="Source Sans 3"/>
            </a:endParaRPr>
          </a:p>
        </p:txBody>
      </p:sp>
      <p:sp>
        <p:nvSpPr>
          <p:cNvPr id="437" name="Google Shape;437;p17"/>
          <p:cNvSpPr/>
          <p:nvPr/>
        </p:nvSpPr>
        <p:spPr>
          <a:xfrm>
            <a:off x="3742944" y="2064472"/>
            <a:ext cx="1593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38" name="Google Shape;438;p17"/>
          <p:cNvSpPr/>
          <p:nvPr/>
        </p:nvSpPr>
        <p:spPr>
          <a:xfrm>
            <a:off x="3742944" y="2064472"/>
            <a:ext cx="14223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39" name="Google Shape;439;p17"/>
          <p:cNvSpPr/>
          <p:nvPr/>
        </p:nvSpPr>
        <p:spPr>
          <a:xfrm>
            <a:off x="5110887" y="2171761"/>
            <a:ext cx="97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0" name="Google Shape;440;p17"/>
          <p:cNvSpPr txBox="1"/>
          <p:nvPr/>
        </p:nvSpPr>
        <p:spPr>
          <a:xfrm>
            <a:off x="5409861" y="189992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0.89</a:t>
            </a:r>
            <a:r>
              <a:rPr lang="en-US" sz="1900">
                <a:solidFill>
                  <a:srgbClr val="6F6A60"/>
                </a:solidFill>
                <a:latin typeface="Source Sans 3"/>
                <a:ea typeface="Source Sans 3"/>
                <a:cs typeface="Source Sans 3"/>
                <a:sym typeface="Source Sans 3"/>
              </a:rPr>
              <a:t>  357/400</a:t>
            </a:r>
            <a:endParaRPr sz="1900">
              <a:solidFill>
                <a:srgbClr val="6F6A60"/>
              </a:solidFill>
              <a:latin typeface="Source Sans 3"/>
              <a:ea typeface="Source Sans 3"/>
              <a:cs typeface="Source Sans 3"/>
              <a:sym typeface="Source Sans 3"/>
            </a:endParaRPr>
          </a:p>
        </p:txBody>
      </p:sp>
      <p:sp>
        <p:nvSpPr>
          <p:cNvPr id="441" name="Google Shape;441;p17"/>
          <p:cNvSpPr txBox="1"/>
          <p:nvPr/>
        </p:nvSpPr>
        <p:spPr>
          <a:xfrm>
            <a:off x="609600" y="241198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readout only</a:t>
            </a:r>
            <a:endParaRPr sz="1900">
              <a:solidFill>
                <a:srgbClr val="1D232A"/>
              </a:solidFill>
              <a:latin typeface="Source Sans 3"/>
              <a:ea typeface="Source Sans 3"/>
              <a:cs typeface="Source Sans 3"/>
              <a:sym typeface="Source Sans 3"/>
            </a:endParaRPr>
          </a:p>
        </p:txBody>
      </p:sp>
      <p:sp>
        <p:nvSpPr>
          <p:cNvPr id="442" name="Google Shape;442;p17"/>
          <p:cNvSpPr/>
          <p:nvPr/>
        </p:nvSpPr>
        <p:spPr>
          <a:xfrm>
            <a:off x="3742944" y="2552152"/>
            <a:ext cx="1593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3" name="Google Shape;443;p17"/>
          <p:cNvSpPr/>
          <p:nvPr/>
        </p:nvSpPr>
        <p:spPr>
          <a:xfrm>
            <a:off x="3742944" y="2552152"/>
            <a:ext cx="9564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4" name="Google Shape;444;p17"/>
          <p:cNvSpPr/>
          <p:nvPr/>
        </p:nvSpPr>
        <p:spPr>
          <a:xfrm>
            <a:off x="4621500" y="2659441"/>
            <a:ext cx="152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5" name="Google Shape;445;p17"/>
          <p:cNvSpPr txBox="1"/>
          <p:nvPr/>
        </p:nvSpPr>
        <p:spPr>
          <a:xfrm>
            <a:off x="5409861" y="238760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0.60</a:t>
            </a:r>
            <a:r>
              <a:rPr lang="en-US" sz="1900">
                <a:solidFill>
                  <a:srgbClr val="6F6A60"/>
                </a:solidFill>
                <a:latin typeface="Source Sans 3"/>
                <a:ea typeface="Source Sans 3"/>
                <a:cs typeface="Source Sans 3"/>
                <a:sym typeface="Source Sans 3"/>
              </a:rPr>
              <a:t>  240/400</a:t>
            </a:r>
            <a:endParaRPr sz="1900">
              <a:solidFill>
                <a:srgbClr val="6F6A60"/>
              </a:solidFill>
              <a:latin typeface="Source Sans 3"/>
              <a:ea typeface="Source Sans 3"/>
              <a:cs typeface="Source Sans 3"/>
              <a:sym typeface="Source Sans 3"/>
            </a:endParaRPr>
          </a:p>
        </p:txBody>
      </p:sp>
      <p:sp>
        <p:nvSpPr>
          <p:cNvPr id="446" name="Google Shape;446;p17"/>
          <p:cNvSpPr txBox="1"/>
          <p:nvPr/>
        </p:nvSpPr>
        <p:spPr>
          <a:xfrm>
            <a:off x="609600" y="289966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Oracle Lens readout only</a:t>
            </a:r>
            <a:endParaRPr sz="1900">
              <a:solidFill>
                <a:srgbClr val="1D232A"/>
              </a:solidFill>
              <a:latin typeface="Source Sans 3"/>
              <a:ea typeface="Source Sans 3"/>
              <a:cs typeface="Source Sans 3"/>
              <a:sym typeface="Source Sans 3"/>
            </a:endParaRPr>
          </a:p>
        </p:txBody>
      </p:sp>
      <p:sp>
        <p:nvSpPr>
          <p:cNvPr id="447" name="Google Shape;447;p17"/>
          <p:cNvSpPr/>
          <p:nvPr/>
        </p:nvSpPr>
        <p:spPr>
          <a:xfrm>
            <a:off x="3742944" y="3039832"/>
            <a:ext cx="1593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8" name="Google Shape;448;p17"/>
          <p:cNvSpPr/>
          <p:nvPr/>
        </p:nvSpPr>
        <p:spPr>
          <a:xfrm>
            <a:off x="3742944" y="3039832"/>
            <a:ext cx="8925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49" name="Google Shape;449;p17"/>
          <p:cNvSpPr/>
          <p:nvPr/>
        </p:nvSpPr>
        <p:spPr>
          <a:xfrm>
            <a:off x="4557369" y="3147121"/>
            <a:ext cx="154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0" name="Google Shape;450;p17"/>
          <p:cNvSpPr txBox="1"/>
          <p:nvPr/>
        </p:nvSpPr>
        <p:spPr>
          <a:xfrm>
            <a:off x="5409861" y="287528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0.56</a:t>
            </a:r>
            <a:r>
              <a:rPr lang="en-US" sz="1900">
                <a:solidFill>
                  <a:srgbClr val="6F6A60"/>
                </a:solidFill>
                <a:latin typeface="Source Sans 3"/>
                <a:ea typeface="Source Sans 3"/>
                <a:cs typeface="Source Sans 3"/>
                <a:sym typeface="Source Sans 3"/>
              </a:rPr>
              <a:t>  224/400</a:t>
            </a:r>
            <a:endParaRPr sz="1900">
              <a:solidFill>
                <a:srgbClr val="6F6A60"/>
              </a:solidFill>
              <a:latin typeface="Source Sans 3"/>
              <a:ea typeface="Source Sans 3"/>
              <a:cs typeface="Source Sans 3"/>
              <a:sym typeface="Source Sans 3"/>
            </a:endParaRPr>
          </a:p>
        </p:txBody>
      </p:sp>
      <p:sp>
        <p:nvSpPr>
          <p:cNvPr id="451" name="Google Shape;451;p17"/>
          <p:cNvSpPr txBox="1"/>
          <p:nvPr/>
        </p:nvSpPr>
        <p:spPr>
          <a:xfrm>
            <a:off x="609600" y="338734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Prompt + NLA</a:t>
            </a:r>
            <a:endParaRPr sz="1900">
              <a:solidFill>
                <a:srgbClr val="1D232A"/>
              </a:solidFill>
              <a:latin typeface="Source Sans 3"/>
              <a:ea typeface="Source Sans 3"/>
              <a:cs typeface="Source Sans 3"/>
              <a:sym typeface="Source Sans 3"/>
            </a:endParaRPr>
          </a:p>
        </p:txBody>
      </p:sp>
      <p:sp>
        <p:nvSpPr>
          <p:cNvPr id="452" name="Google Shape;452;p17"/>
          <p:cNvSpPr/>
          <p:nvPr/>
        </p:nvSpPr>
        <p:spPr>
          <a:xfrm>
            <a:off x="3742944" y="3527512"/>
            <a:ext cx="1593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3" name="Google Shape;453;p17"/>
          <p:cNvSpPr/>
          <p:nvPr/>
        </p:nvSpPr>
        <p:spPr>
          <a:xfrm>
            <a:off x="3742944" y="3527512"/>
            <a:ext cx="1398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4" name="Google Shape;454;p17"/>
          <p:cNvSpPr/>
          <p:nvPr/>
        </p:nvSpPr>
        <p:spPr>
          <a:xfrm>
            <a:off x="5084429" y="3634801"/>
            <a:ext cx="102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5" name="Google Shape;455;p17"/>
          <p:cNvSpPr txBox="1"/>
          <p:nvPr/>
        </p:nvSpPr>
        <p:spPr>
          <a:xfrm>
            <a:off x="5409861" y="336296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0.88</a:t>
            </a:r>
            <a:r>
              <a:rPr lang="en-US" sz="1900">
                <a:solidFill>
                  <a:srgbClr val="6F6A60"/>
                </a:solidFill>
                <a:latin typeface="Source Sans 3"/>
                <a:ea typeface="Source Sans 3"/>
                <a:cs typeface="Source Sans 3"/>
                <a:sym typeface="Source Sans 3"/>
              </a:rPr>
              <a:t>  351/400</a:t>
            </a:r>
            <a:endParaRPr sz="1900">
              <a:solidFill>
                <a:srgbClr val="6F6A60"/>
              </a:solidFill>
              <a:latin typeface="Source Sans 3"/>
              <a:ea typeface="Source Sans 3"/>
              <a:cs typeface="Source Sans 3"/>
              <a:sym typeface="Source Sans 3"/>
            </a:endParaRPr>
          </a:p>
        </p:txBody>
      </p:sp>
      <p:sp>
        <p:nvSpPr>
          <p:cNvPr id="456" name="Google Shape;456;p17"/>
          <p:cNvSpPr txBox="1"/>
          <p:nvPr/>
        </p:nvSpPr>
        <p:spPr>
          <a:xfrm>
            <a:off x="609600" y="387502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Prompt + Oracle Lens</a:t>
            </a:r>
            <a:endParaRPr sz="1900">
              <a:solidFill>
                <a:srgbClr val="1D232A"/>
              </a:solidFill>
              <a:latin typeface="Source Sans 3"/>
              <a:ea typeface="Source Sans 3"/>
              <a:cs typeface="Source Sans 3"/>
              <a:sym typeface="Source Sans 3"/>
            </a:endParaRPr>
          </a:p>
        </p:txBody>
      </p:sp>
      <p:sp>
        <p:nvSpPr>
          <p:cNvPr id="457" name="Google Shape;457;p17"/>
          <p:cNvSpPr/>
          <p:nvPr/>
        </p:nvSpPr>
        <p:spPr>
          <a:xfrm>
            <a:off x="3742944" y="4015192"/>
            <a:ext cx="1593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8" name="Google Shape;458;p17"/>
          <p:cNvSpPr/>
          <p:nvPr/>
        </p:nvSpPr>
        <p:spPr>
          <a:xfrm>
            <a:off x="3742944" y="4015192"/>
            <a:ext cx="14025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9" name="Google Shape;459;p17"/>
          <p:cNvSpPr/>
          <p:nvPr/>
        </p:nvSpPr>
        <p:spPr>
          <a:xfrm>
            <a:off x="5088819" y="4122481"/>
            <a:ext cx="101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0" name="Google Shape;460;p17"/>
          <p:cNvSpPr txBox="1"/>
          <p:nvPr/>
        </p:nvSpPr>
        <p:spPr>
          <a:xfrm>
            <a:off x="5409861" y="3850640"/>
            <a:ext cx="2088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0.88</a:t>
            </a:r>
            <a:r>
              <a:rPr lang="en-US" sz="1900">
                <a:solidFill>
                  <a:srgbClr val="6F6A60"/>
                </a:solidFill>
                <a:latin typeface="Source Sans 3"/>
                <a:ea typeface="Source Sans 3"/>
                <a:cs typeface="Source Sans 3"/>
                <a:sym typeface="Source Sans 3"/>
              </a:rPr>
              <a:t>  352/400</a:t>
            </a:r>
            <a:endParaRPr sz="1900">
              <a:solidFill>
                <a:srgbClr val="6F6A60"/>
              </a:solidFill>
              <a:latin typeface="Source Sans 3"/>
              <a:ea typeface="Source Sans 3"/>
              <a:cs typeface="Source Sans 3"/>
              <a:sym typeface="Source Sans 3"/>
            </a:endParaRPr>
          </a:p>
        </p:txBody>
      </p:sp>
      <p:sp>
        <p:nvSpPr>
          <p:cNvPr id="461" name="Google Shape;461;p17"/>
          <p:cNvSpPr/>
          <p:nvPr/>
        </p:nvSpPr>
        <p:spPr>
          <a:xfrm>
            <a:off x="7802880" y="1503640"/>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2" name="Google Shape;462;p17"/>
          <p:cNvSpPr/>
          <p:nvPr/>
        </p:nvSpPr>
        <p:spPr>
          <a:xfrm>
            <a:off x="7802880" y="1503640"/>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3" name="Google Shape;463;p17"/>
          <p:cNvSpPr txBox="1"/>
          <p:nvPr/>
        </p:nvSpPr>
        <p:spPr>
          <a:xfrm>
            <a:off x="7936992" y="1528064"/>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Prompt (typo item)</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…as in Cage's Music of Changes, is called aleotoric▌</a:t>
            </a:r>
            <a:endParaRPr sz="1900">
              <a:solidFill>
                <a:srgbClr val="1D232A"/>
              </a:solidFill>
              <a:latin typeface="Source Sans 3"/>
              <a:ea typeface="Source Sans 3"/>
              <a:cs typeface="Source Sans 3"/>
              <a:sym typeface="Source Sans 3"/>
            </a:endParaRPr>
          </a:p>
        </p:txBody>
      </p:sp>
      <p:sp>
        <p:nvSpPr>
          <p:cNvPr id="464" name="Google Shape;464;p17"/>
          <p:cNvSpPr/>
          <p:nvPr/>
        </p:nvSpPr>
        <p:spPr>
          <a:xfrm>
            <a:off x="7802880" y="2795992"/>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5" name="Google Shape;465;p17"/>
          <p:cNvSpPr/>
          <p:nvPr/>
        </p:nvSpPr>
        <p:spPr>
          <a:xfrm>
            <a:off x="7802880" y="2795992"/>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6" name="Google Shape;466;p17"/>
          <p:cNvSpPr txBox="1"/>
          <p:nvPr/>
        </p:nvSpPr>
        <p:spPr>
          <a:xfrm>
            <a:off x="7936992" y="2820416"/>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from the activation</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is building toward naming the concept/term …</a:t>
            </a:r>
            <a:endParaRPr i="1" sz="1900">
              <a:solidFill>
                <a:srgbClr val="1D232A"/>
              </a:solidFill>
              <a:latin typeface="Lora"/>
              <a:ea typeface="Lora"/>
              <a:cs typeface="Lora"/>
              <a:sym typeface="Lora"/>
            </a:endParaRPr>
          </a:p>
        </p:txBody>
      </p:sp>
      <p:sp>
        <p:nvSpPr>
          <p:cNvPr id="467" name="Google Shape;467;p17"/>
          <p:cNvSpPr/>
          <p:nvPr/>
        </p:nvSpPr>
        <p:spPr>
          <a:xfrm>
            <a:off x="7802880" y="4088344"/>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8" name="Google Shape;468;p17"/>
          <p:cNvSpPr/>
          <p:nvPr/>
        </p:nvSpPr>
        <p:spPr>
          <a:xfrm>
            <a:off x="7802880" y="4088344"/>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69" name="Google Shape;469;p17"/>
          <p:cNvSpPr txBox="1"/>
          <p:nvPr/>
        </p:nvSpPr>
        <p:spPr>
          <a:xfrm>
            <a:off x="7936992" y="4112768"/>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Same model, prompt only</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demands the standard term "aleatoric music" …</a:t>
            </a:r>
            <a:endParaRPr i="1" sz="1900">
              <a:solidFill>
                <a:srgbClr val="1D232A"/>
              </a:solidFill>
              <a:latin typeface="Lora"/>
              <a:ea typeface="Lora"/>
              <a:cs typeface="Lora"/>
              <a:sym typeface="Lora"/>
            </a:endParaRPr>
          </a:p>
        </p:txBody>
      </p:sp>
      <p:sp>
        <p:nvSpPr>
          <p:cNvPr id="470" name="Google Shape;470;p17"/>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71" name="Google Shape;471;p17"/>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Method: 0/187 NLA passes are out of reach of prompt-only text → hold text fixed.</a:t>
            </a:r>
            <a:endParaRPr sz="1900">
              <a:solidFill>
                <a:srgbClr val="1D232A"/>
              </a:solidFill>
              <a:latin typeface="Source Sans 3"/>
              <a:ea typeface="Source Sans 3"/>
              <a:cs typeface="Source Sans 3"/>
              <a:sym typeface="Source Sans 3"/>
            </a:endParaRPr>
          </a:p>
        </p:txBody>
      </p:sp>
      <p:sp>
        <p:nvSpPr>
          <p:cNvPr id="472" name="Google Shape;472;p17"/>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≈11% of items are left where reading could show. Prompt + readout − prompt: NLA −0.015 [−0.043, +0.013].</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Wilson 95%. 0/187 is vs best-of-8 prompt-only texts. Card: first item passed by both. Exps 01, 06.</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476" name="Shape 476"/>
        <p:cNvGrpSpPr/>
        <p:nvPr/>
      </p:nvGrpSpPr>
      <p:grpSpPr>
        <a:xfrm>
          <a:off x="0" y="0"/>
          <a:ext cx="0" cy="0"/>
          <a:chOff x="0" y="0"/>
          <a:chExt cx="0" cy="0"/>
        </a:xfrm>
      </p:grpSpPr>
      <p:sp>
        <p:nvSpPr>
          <p:cNvPr id="477" name="Google Shape;477;p18"/>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14 CONCEPTS · 160 ITEMS PER CELL</a:t>
            </a:r>
            <a:endParaRPr b="1" sz="1500">
              <a:solidFill>
                <a:srgbClr val="8A8478"/>
              </a:solidFill>
              <a:latin typeface="Source Sans 3"/>
              <a:ea typeface="Source Sans 3"/>
              <a:cs typeface="Source Sans 3"/>
              <a:sym typeface="Source Sans 3"/>
            </a:endParaRPr>
          </a:p>
        </p:txBody>
      </p:sp>
      <p:sp>
        <p:nvSpPr>
          <p:cNvPr id="478" name="Google Shape;478;p18"/>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Asked vs unprompted → Oracle Lens is silent</a:t>
            </a:r>
            <a:endParaRPr b="1" sz="3500">
              <a:solidFill>
                <a:srgbClr val="1D232A"/>
              </a:solidFill>
              <a:latin typeface="Lora"/>
              <a:ea typeface="Lora"/>
              <a:cs typeface="Lora"/>
              <a:sym typeface="Lora"/>
            </a:endParaRPr>
          </a:p>
        </p:txBody>
      </p:sp>
      <p:sp>
        <p:nvSpPr>
          <p:cNvPr id="479" name="Google Shape;479;p18"/>
          <p:cNvSpPr/>
          <p:nvPr/>
        </p:nvSpPr>
        <p:spPr>
          <a:xfrm>
            <a:off x="609600" y="1479256"/>
            <a:ext cx="8515200" cy="408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0" name="Google Shape;480;p18"/>
          <p:cNvSpPr/>
          <p:nvPr/>
        </p:nvSpPr>
        <p:spPr>
          <a:xfrm>
            <a:off x="9368820" y="1479256"/>
            <a:ext cx="2213700" cy="23085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1" name="Google Shape;481;p18"/>
          <p:cNvSpPr/>
          <p:nvPr/>
        </p:nvSpPr>
        <p:spPr>
          <a:xfrm>
            <a:off x="9368820" y="1479256"/>
            <a:ext cx="60900" cy="23085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2" name="Google Shape;482;p18"/>
          <p:cNvSpPr txBox="1"/>
          <p:nvPr/>
        </p:nvSpPr>
        <p:spPr>
          <a:xfrm>
            <a:off x="9502949" y="1503680"/>
            <a:ext cx="2030700" cy="225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Asked (prompted AUROC ≥ 0.80)</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NLA on 10 of 14 concepts, Oracle Lens 9, J-lens 3.</a:t>
            </a:r>
            <a:endParaRPr sz="1900">
              <a:solidFill>
                <a:srgbClr val="1D232A"/>
              </a:solidFill>
              <a:latin typeface="Source Sans 3"/>
              <a:ea typeface="Source Sans 3"/>
              <a:cs typeface="Source Sans 3"/>
              <a:sym typeface="Source Sans 3"/>
            </a:endParaRPr>
          </a:p>
        </p:txBody>
      </p:sp>
      <p:sp>
        <p:nvSpPr>
          <p:cNvPr id="483" name="Google Shape;483;p18"/>
          <p:cNvSpPr/>
          <p:nvPr/>
        </p:nvSpPr>
        <p:spPr>
          <a:xfrm>
            <a:off x="9368820" y="3909608"/>
            <a:ext cx="2213700" cy="2877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4" name="Google Shape;484;p18"/>
          <p:cNvSpPr/>
          <p:nvPr/>
        </p:nvSpPr>
        <p:spPr>
          <a:xfrm>
            <a:off x="9368820" y="3909608"/>
            <a:ext cx="60900" cy="28773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5" name="Google Shape;485;p18"/>
          <p:cNvSpPr txBox="1"/>
          <p:nvPr/>
        </p:nvSpPr>
        <p:spPr>
          <a:xfrm>
            <a:off x="9502949" y="3933952"/>
            <a:ext cx="2030700" cy="2828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Unprompted (judge)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Oracle Lens states a concept in 1 of 4,480 readouts; it writes in language, code, caps and tense instead.</a:t>
            </a:r>
            <a:endParaRPr sz="1900">
              <a:solidFill>
                <a:srgbClr val="1D232A"/>
              </a:solidFill>
              <a:latin typeface="Source Sans 3"/>
              <a:ea typeface="Source Sans 3"/>
              <a:cs typeface="Source Sans 3"/>
              <a:sym typeface="Source Sans 3"/>
            </a:endParaRPr>
          </a:p>
        </p:txBody>
      </p:sp>
      <p:sp>
        <p:nvSpPr>
          <p:cNvPr id="486" name="Google Shape;486;p18"/>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87" name="Google Shape;487;p18"/>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Method: position in text is readable, detected, rarely stated: the test family.</a:t>
            </a:r>
            <a:endParaRPr sz="1900">
              <a:solidFill>
                <a:srgbClr val="1D232A"/>
              </a:solidFill>
              <a:latin typeface="Source Sans 3"/>
              <a:ea typeface="Source Sans 3"/>
              <a:cs typeface="Source Sans 3"/>
              <a:sym typeface="Source Sans 3"/>
            </a:endParaRPr>
          </a:p>
        </p:txBody>
      </p:sp>
      <p:sp>
        <p:nvSpPr>
          <p:cNvPr id="488" name="Google Shape;488;p18"/>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Unprompted: judge on 320 free readouts per concept. One judge (Gemini 3.8 Flash); intervals in backup. </a:t>
            </a:r>
            <a:endParaRPr sz="1300">
              <a:solidFill>
                <a:srgbClr val="6F6A60"/>
              </a:solidFill>
              <a:latin typeface="Source Sans 3"/>
              <a:ea typeface="Source Sans 3"/>
              <a:cs typeface="Source Sans 3"/>
              <a:sym typeface="Source Sans 3"/>
            </a:endParaRPr>
          </a:p>
        </p:txBody>
      </p:sp>
      <p:pic>
        <p:nvPicPr>
          <p:cNvPr id="489" name="Google Shape;489;p18"/>
          <p:cNvPicPr preferRelativeResize="0"/>
          <p:nvPr/>
        </p:nvPicPr>
        <p:blipFill>
          <a:blip r:embed="rId3">
            <a:alphaModFix/>
          </a:blip>
          <a:stretch>
            <a:fillRect/>
          </a:stretch>
        </p:blipFill>
        <p:spPr>
          <a:xfrm>
            <a:off x="707137" y="1576832"/>
            <a:ext cx="8320323" cy="38851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9"/>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700">
                <a:solidFill>
                  <a:schemeClr val="dk1"/>
                </a:solidFill>
                <a:latin typeface="Arial"/>
                <a:ea typeface="Arial"/>
                <a:cs typeface="Arial"/>
                <a:sym typeface="Arial"/>
              </a:rPr>
              <a:t>Readers' text often carries structural state that is rarely stated</a:t>
            </a:r>
            <a:endParaRPr b="1" sz="2700">
              <a:latin typeface="Arial"/>
              <a:ea typeface="Arial"/>
              <a:cs typeface="Arial"/>
              <a:sym typeface="Arial"/>
            </a:endParaRPr>
          </a:p>
        </p:txBody>
      </p:sp>
      <p:sp>
        <p:nvSpPr>
          <p:cNvPr id="496" name="Google Shape;496;p19"/>
          <p:cNvSpPr/>
          <p:nvPr/>
        </p:nvSpPr>
        <p:spPr>
          <a:xfrm>
            <a:off x="9930384" y="310896"/>
            <a:ext cx="183000" cy="183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9"/>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498" name="Google Shape;498;p19"/>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9"/>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500" name="Google Shape;500;p19"/>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9"/>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502" name="Google Shape;502;p19"/>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the readers use the state, or that the Oracle carries less: its readouts are rebuilt by the NLA's critic, which is out of distribution for them. Carry and stated rates come from different splits of the same bank.</a:t>
            </a:r>
            <a:endParaRPr sz="1200"/>
          </a:p>
        </p:txBody>
      </p:sp>
      <p:pic>
        <p:nvPicPr>
          <p:cNvPr id="503" name="Google Shape;503;p19"/>
          <p:cNvPicPr preferRelativeResize="0"/>
          <p:nvPr/>
        </p:nvPicPr>
        <p:blipFill rotWithShape="1">
          <a:blip r:embed="rId3">
            <a:alphaModFix/>
          </a:blip>
          <a:srcRect b="0" l="0" r="0" t="0"/>
          <a:stretch/>
        </p:blipFill>
        <p:spPr>
          <a:xfrm>
            <a:off x="548640" y="1600200"/>
            <a:ext cx="6035100" cy="4206300"/>
          </a:xfrm>
          <a:prstGeom prst="rect">
            <a:avLst/>
          </a:prstGeom>
          <a:noFill/>
          <a:ln>
            <a:noFill/>
          </a:ln>
        </p:spPr>
      </p:pic>
      <p:graphicFrame>
        <p:nvGraphicFramePr>
          <p:cNvPr id="504" name="Google Shape;504;p19"/>
          <p:cNvGraphicFramePr/>
          <p:nvPr/>
        </p:nvGraphicFramePr>
        <p:xfrm>
          <a:off x="6812280" y="1600200"/>
          <a:ext cx="3000000" cy="3000000"/>
        </p:xfrm>
        <a:graphic>
          <a:graphicData uri="http://schemas.openxmlformats.org/drawingml/2006/table">
            <a:tbl>
              <a:tblPr>
                <a:noFill/>
                <a:tableStyleId>{82B5109F-639B-4A67-95FE-57FE99D5622F}</a:tableStyleId>
              </a:tblPr>
              <a:tblGrid>
                <a:gridCol w="1920250"/>
                <a:gridCol w="1463050"/>
                <a:gridCol w="1463050"/>
              </a:tblGrid>
              <a:tr h="365750">
                <a:tc>
                  <a:txBody>
                    <a:bodyPr/>
                    <a:lstStyle/>
                    <a:p>
                      <a:pPr indent="0" lvl="0" marL="0" marR="0" rtl="0" algn="l">
                        <a:spcBef>
                          <a:spcPts val="0"/>
                        </a:spcBef>
                        <a:spcAft>
                          <a:spcPts val="0"/>
                        </a:spcAft>
                        <a:buClr>
                          <a:srgbClr val="56606B"/>
                        </a:buClr>
                        <a:buSzPts val="1250"/>
                        <a:buFont typeface="Calibri"/>
                        <a:buNone/>
                      </a:pPr>
                      <a:r>
                        <a:rPr b="1" lang="en-US" sz="1250">
                          <a:solidFill>
                            <a:srgbClr val="56606B"/>
                          </a:solidFill>
                          <a:latin typeface="Calibri"/>
                          <a:ea typeface="Calibri"/>
                          <a:cs typeface="Calibri"/>
                          <a:sym typeface="Calibri"/>
                        </a:rPr>
                        <a:t>TestCase</a:t>
                      </a:r>
                      <a:endParaRPr sz="125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250"/>
                        <a:buFont typeface="Calibri"/>
                        <a:buNone/>
                      </a:pPr>
                      <a:r>
                        <a:rPr b="1" lang="en-US" sz="1250" u="none" cap="none" strike="noStrike">
                          <a:solidFill>
                            <a:srgbClr val="56606B"/>
                          </a:solidFill>
                          <a:latin typeface="Calibri"/>
                          <a:ea typeface="Calibri"/>
                          <a:cs typeface="Calibri"/>
                          <a:sym typeface="Calibri"/>
                        </a:rPr>
                        <a:t>Carries · Oracle / NLA</a:t>
                      </a:r>
                      <a:endParaRPr sz="125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250"/>
                        <a:buFont typeface="Calibri"/>
                        <a:buNone/>
                      </a:pPr>
                      <a:r>
                        <a:rPr b="1" lang="en-US" sz="1250" u="none" cap="none" strike="noStrike">
                          <a:solidFill>
                            <a:srgbClr val="56606B"/>
                          </a:solidFill>
                          <a:latin typeface="Calibri"/>
                          <a:ea typeface="Calibri"/>
                          <a:cs typeface="Calibri"/>
                          <a:sym typeface="Calibri"/>
                        </a:rPr>
                        <a:t>States · Oracle / NLA</a:t>
                      </a:r>
                      <a:endParaRPr sz="125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Python string</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0.86 / 0.99</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0.12</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JS string</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0.84 / 0.97</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0.14</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LaTeX math</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0.87 / 1.00</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0.09</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Call argument</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0.51 / 0.93</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0.02</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JSON depth</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0.97 / 0.99</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0.01 / 0.25</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MD heading</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0.65 / 0.70</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0.04</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MD list</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0.48 / 0.49</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0.01</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000000"/>
                        </a:buClr>
                        <a:buSzPts val="1300"/>
                        <a:buFont typeface="Calibri"/>
                        <a:buNone/>
                      </a:pPr>
                      <a:r>
                        <a:rPr b="1" lang="en-US" sz="1300" u="none" cap="none" strike="noStrike">
                          <a:solidFill>
                            <a:srgbClr val="000000"/>
                          </a:solidFill>
                          <a:latin typeface="Calibri"/>
                          <a:ea typeface="Calibri"/>
                          <a:cs typeface="Calibri"/>
                          <a:sym typeface="Calibri"/>
                        </a:rPr>
                        <a:t>Code language (control)</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A4C9C"/>
                        </a:buClr>
                        <a:buSzPts val="1300"/>
                        <a:buFont typeface="Calibri"/>
                        <a:buNone/>
                      </a:pPr>
                      <a:r>
                        <a:rPr lang="en-US" sz="1300" u="none" cap="none" strike="noStrike">
                          <a:solidFill>
                            <a:srgbClr val="6A4C9C"/>
                          </a:solidFill>
                          <a:latin typeface="Calibri"/>
                          <a:ea typeface="Calibri"/>
                          <a:cs typeface="Calibri"/>
                          <a:sym typeface="Calibri"/>
                        </a:rPr>
                        <a:t>0.98 / 0.98</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lang="en-US" sz="1300" u="none" cap="none" strike="noStrike">
                          <a:solidFill>
                            <a:srgbClr val="B03060"/>
                          </a:solidFill>
                          <a:latin typeface="Calibri"/>
                          <a:ea typeface="Calibri"/>
                          <a:cs typeface="Calibri"/>
                          <a:sym typeface="Calibri"/>
                        </a:rPr>
                        <a:t>0.00 / 0.70</a:t>
                      </a:r>
                      <a:endParaRPr sz="1300" u="none" cap="none" strike="noStrike">
                        <a:latin typeface="Calibri"/>
                        <a:ea typeface="Calibri"/>
                        <a:cs typeface="Calibri"/>
                        <a:sym typeface="Calibri"/>
                      </a:endParaRPr>
                    </a:p>
                  </a:txBody>
                  <a:tcPr marT="45725" marB="45725" marR="45725" marL="4572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505" name="Google Shape;505;p19"/>
          <p:cNvSpPr txBox="1"/>
          <p:nvPr/>
        </p:nvSpPr>
        <p:spPr>
          <a:xfrm>
            <a:off x="6812280" y="5074920"/>
            <a:ext cx="48462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i="1" lang="en-US" sz="1450">
                <a:solidFill>
                  <a:srgbClr val="1F2A33"/>
                </a:solidFill>
                <a:latin typeface="Calibri"/>
                <a:ea typeface="Calibri"/>
                <a:cs typeface="Calibri"/>
                <a:sym typeface="Calibri"/>
              </a:rPr>
              <a:t>Carried, not stated: the readout reproduces the text that holds the state, and does not name it.</a:t>
            </a:r>
            <a:endParaRPr sz="1450">
              <a:solidFill>
                <a:schemeClr val="dk1"/>
              </a:solidFill>
              <a:latin typeface="Calibri"/>
              <a:ea typeface="Calibri"/>
              <a:cs typeface="Calibri"/>
              <a:sym typeface="Calibri"/>
            </a:endParaRPr>
          </a:p>
        </p:txBody>
      </p:sp>
      <p:sp>
        <p:nvSpPr>
          <p:cNvPr id="506" name="Google Shape;506;p19"/>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10</a:t>
            </a:r>
            <a:endParaRPr/>
          </a:p>
        </p:txBody>
      </p:sp>
      <p:sp>
        <p:nvSpPr>
          <p:cNvPr id="507" name="Google Shape;507;p19"/>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12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511" name="Shape 511"/>
        <p:cNvGrpSpPr/>
        <p:nvPr/>
      </p:nvGrpSpPr>
      <p:grpSpPr>
        <a:xfrm>
          <a:off x="0" y="0"/>
          <a:ext cx="0" cy="0"/>
          <a:chOff x="0" y="0"/>
          <a:chExt cx="0" cy="0"/>
        </a:xfrm>
      </p:grpSpPr>
      <p:sp>
        <p:nvSpPr>
          <p:cNvPr id="512" name="Google Shape;512;p20"/>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MECHANISM · EXP 14 · ORACLE LENS'S RECONSTRUCTOR · 200 ITEMS PER ROW</a:t>
            </a:r>
            <a:endParaRPr b="1" sz="1500">
              <a:solidFill>
                <a:srgbClr val="8A8478"/>
              </a:solidFill>
              <a:latin typeface="Source Sans 3"/>
              <a:ea typeface="Source Sans 3"/>
              <a:cs typeface="Source Sans 3"/>
              <a:sym typeface="Source Sans 3"/>
            </a:endParaRPr>
          </a:p>
        </p:txBody>
      </p:sp>
      <p:sp>
        <p:nvSpPr>
          <p:cNvPr id="513" name="Google Shape;513;p20"/>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A statement vs real text → only text rebuilds</a:t>
            </a:r>
            <a:endParaRPr b="1" sz="3500">
              <a:solidFill>
                <a:srgbClr val="1D232A"/>
              </a:solidFill>
              <a:latin typeface="Lora"/>
              <a:ea typeface="Lora"/>
              <a:cs typeface="Lora"/>
              <a:sym typeface="Lora"/>
            </a:endParaRPr>
          </a:p>
        </p:txBody>
      </p:sp>
      <p:sp>
        <p:nvSpPr>
          <p:cNvPr id="514" name="Google Shape;514;p20"/>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Rebuilt from the true 32 tokens (probe AUROC)</a:t>
            </a:r>
            <a:endParaRPr b="1" sz="1900">
              <a:solidFill>
                <a:srgbClr val="1D232A"/>
              </a:solidFill>
              <a:latin typeface="Source Sans 3"/>
              <a:ea typeface="Source Sans 3"/>
              <a:cs typeface="Source Sans 3"/>
              <a:sym typeface="Source Sans 3"/>
            </a:endParaRPr>
          </a:p>
        </p:txBody>
      </p:sp>
      <p:sp>
        <p:nvSpPr>
          <p:cNvPr id="515" name="Google Shape;515;p20"/>
          <p:cNvSpPr txBox="1"/>
          <p:nvPr/>
        </p:nvSpPr>
        <p:spPr>
          <a:xfrm>
            <a:off x="609600" y="1924304"/>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Table column</a:t>
            </a:r>
            <a:endParaRPr sz="1900">
              <a:solidFill>
                <a:srgbClr val="1D232A"/>
              </a:solidFill>
              <a:latin typeface="Source Sans 3"/>
              <a:ea typeface="Source Sans 3"/>
              <a:cs typeface="Source Sans 3"/>
              <a:sym typeface="Source Sans 3"/>
            </a:endParaRPr>
          </a:p>
        </p:txBody>
      </p:sp>
      <p:sp>
        <p:nvSpPr>
          <p:cNvPr id="516" name="Google Shape;516;p20"/>
          <p:cNvSpPr/>
          <p:nvPr/>
        </p:nvSpPr>
        <p:spPr>
          <a:xfrm>
            <a:off x="3316224" y="2064472"/>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17" name="Google Shape;517;p20"/>
          <p:cNvSpPr/>
          <p:nvPr/>
        </p:nvSpPr>
        <p:spPr>
          <a:xfrm>
            <a:off x="3316224" y="2064472"/>
            <a:ext cx="3087300" cy="243900"/>
          </a:xfrm>
          <a:prstGeom prst="roundRect">
            <a:avLst>
              <a:gd fmla="val 16667" name="adj"/>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18" name="Google Shape;518;p20"/>
          <p:cNvSpPr txBox="1"/>
          <p:nvPr/>
        </p:nvSpPr>
        <p:spPr>
          <a:xfrm>
            <a:off x="6476661" y="189992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1.00</a:t>
            </a:r>
            <a:endParaRPr b="1" sz="2100">
              <a:solidFill>
                <a:srgbClr val="1D232A"/>
              </a:solidFill>
              <a:latin typeface="Source Sans 3"/>
              <a:ea typeface="Source Sans 3"/>
              <a:cs typeface="Source Sans 3"/>
              <a:sym typeface="Source Sans 3"/>
            </a:endParaRPr>
          </a:p>
        </p:txBody>
      </p:sp>
      <p:sp>
        <p:nvSpPr>
          <p:cNvPr id="519" name="Google Shape;519;p20"/>
          <p:cNvSpPr txBox="1"/>
          <p:nvPr/>
        </p:nvSpPr>
        <p:spPr>
          <a:xfrm>
            <a:off x="609600" y="2411984"/>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Inside parentheses</a:t>
            </a:r>
            <a:endParaRPr sz="1900">
              <a:solidFill>
                <a:srgbClr val="1D232A"/>
              </a:solidFill>
              <a:latin typeface="Source Sans 3"/>
              <a:ea typeface="Source Sans 3"/>
              <a:cs typeface="Source Sans 3"/>
              <a:sym typeface="Source Sans 3"/>
            </a:endParaRPr>
          </a:p>
        </p:txBody>
      </p:sp>
      <p:sp>
        <p:nvSpPr>
          <p:cNvPr id="520" name="Google Shape;520;p20"/>
          <p:cNvSpPr/>
          <p:nvPr/>
        </p:nvSpPr>
        <p:spPr>
          <a:xfrm>
            <a:off x="3316224" y="2552152"/>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21" name="Google Shape;521;p20"/>
          <p:cNvSpPr/>
          <p:nvPr/>
        </p:nvSpPr>
        <p:spPr>
          <a:xfrm>
            <a:off x="3316224" y="2552152"/>
            <a:ext cx="2871300" cy="243900"/>
          </a:xfrm>
          <a:prstGeom prst="roundRect">
            <a:avLst>
              <a:gd fmla="val 16667" name="adj"/>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22" name="Google Shape;522;p20"/>
          <p:cNvSpPr txBox="1"/>
          <p:nvPr/>
        </p:nvSpPr>
        <p:spPr>
          <a:xfrm>
            <a:off x="6476661" y="238760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0.93</a:t>
            </a:r>
            <a:endParaRPr b="1" sz="2100">
              <a:solidFill>
                <a:srgbClr val="1D232A"/>
              </a:solidFill>
              <a:latin typeface="Source Sans 3"/>
              <a:ea typeface="Source Sans 3"/>
              <a:cs typeface="Source Sans 3"/>
              <a:sym typeface="Source Sans 3"/>
            </a:endParaRPr>
          </a:p>
        </p:txBody>
      </p:sp>
      <p:sp>
        <p:nvSpPr>
          <p:cNvPr id="523" name="Google Shape;523;p20"/>
          <p:cNvSpPr txBox="1"/>
          <p:nvPr/>
        </p:nvSpPr>
        <p:spPr>
          <a:xfrm>
            <a:off x="609600" y="3039872"/>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Moved by a one-line statement (share of class gap)</a:t>
            </a:r>
            <a:endParaRPr b="1" sz="1900">
              <a:solidFill>
                <a:srgbClr val="1D232A"/>
              </a:solidFill>
              <a:latin typeface="Source Sans 3"/>
              <a:ea typeface="Source Sans 3"/>
              <a:cs typeface="Source Sans 3"/>
              <a:sym typeface="Source Sans 3"/>
            </a:endParaRPr>
          </a:p>
        </p:txBody>
      </p:sp>
      <p:sp>
        <p:nvSpPr>
          <p:cNvPr id="524" name="Google Shape;524;p20"/>
          <p:cNvSpPr txBox="1"/>
          <p:nvPr/>
        </p:nvSpPr>
        <p:spPr>
          <a:xfrm>
            <a:off x="609600" y="3484880"/>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Table column</a:t>
            </a:r>
            <a:endParaRPr sz="1900">
              <a:solidFill>
                <a:srgbClr val="1D232A"/>
              </a:solidFill>
              <a:latin typeface="Source Sans 3"/>
              <a:ea typeface="Source Sans 3"/>
              <a:cs typeface="Source Sans 3"/>
              <a:sym typeface="Source Sans 3"/>
            </a:endParaRPr>
          </a:p>
        </p:txBody>
      </p:sp>
      <p:sp>
        <p:nvSpPr>
          <p:cNvPr id="525" name="Google Shape;525;p20"/>
          <p:cNvSpPr/>
          <p:nvPr/>
        </p:nvSpPr>
        <p:spPr>
          <a:xfrm>
            <a:off x="3316224" y="3625048"/>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26" name="Google Shape;526;p20"/>
          <p:cNvSpPr/>
          <p:nvPr/>
        </p:nvSpPr>
        <p:spPr>
          <a:xfrm>
            <a:off x="3316224" y="3625048"/>
            <a:ext cx="2196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27" name="Google Shape;527;p20"/>
          <p:cNvSpPr txBox="1"/>
          <p:nvPr/>
        </p:nvSpPr>
        <p:spPr>
          <a:xfrm>
            <a:off x="6476661" y="346049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0.03</a:t>
            </a:r>
            <a:endParaRPr b="1" sz="2100">
              <a:solidFill>
                <a:srgbClr val="1D232A"/>
              </a:solidFill>
              <a:latin typeface="Source Sans 3"/>
              <a:ea typeface="Source Sans 3"/>
              <a:cs typeface="Source Sans 3"/>
              <a:sym typeface="Source Sans 3"/>
            </a:endParaRPr>
          </a:p>
        </p:txBody>
      </p:sp>
      <p:sp>
        <p:nvSpPr>
          <p:cNvPr id="528" name="Google Shape;528;p20"/>
          <p:cNvSpPr txBox="1"/>
          <p:nvPr/>
        </p:nvSpPr>
        <p:spPr>
          <a:xfrm>
            <a:off x="609600" y="3972560"/>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Inside parentheses</a:t>
            </a:r>
            <a:endParaRPr sz="1900">
              <a:solidFill>
                <a:srgbClr val="1D232A"/>
              </a:solidFill>
              <a:latin typeface="Source Sans 3"/>
              <a:ea typeface="Source Sans 3"/>
              <a:cs typeface="Source Sans 3"/>
              <a:sym typeface="Source Sans 3"/>
            </a:endParaRPr>
          </a:p>
        </p:txBody>
      </p:sp>
      <p:sp>
        <p:nvSpPr>
          <p:cNvPr id="529" name="Google Shape;529;p20"/>
          <p:cNvSpPr/>
          <p:nvPr/>
        </p:nvSpPr>
        <p:spPr>
          <a:xfrm>
            <a:off x="3316224" y="4112728"/>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0" name="Google Shape;530;p20"/>
          <p:cNvSpPr/>
          <p:nvPr/>
        </p:nvSpPr>
        <p:spPr>
          <a:xfrm>
            <a:off x="3316224" y="4112728"/>
            <a:ext cx="3087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1" name="Google Shape;531;p20"/>
          <p:cNvSpPr txBox="1"/>
          <p:nvPr/>
        </p:nvSpPr>
        <p:spPr>
          <a:xfrm>
            <a:off x="6476661" y="394817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0.10</a:t>
            </a:r>
            <a:endParaRPr b="1" sz="2100">
              <a:solidFill>
                <a:srgbClr val="1D232A"/>
              </a:solidFill>
              <a:latin typeface="Source Sans 3"/>
              <a:ea typeface="Source Sans 3"/>
              <a:cs typeface="Source Sans 3"/>
              <a:sym typeface="Source Sans 3"/>
            </a:endParaRPr>
          </a:p>
        </p:txBody>
      </p:sp>
      <p:sp>
        <p:nvSpPr>
          <p:cNvPr id="532" name="Google Shape;532;p20"/>
          <p:cNvSpPr txBox="1"/>
          <p:nvPr/>
        </p:nvSpPr>
        <p:spPr>
          <a:xfrm>
            <a:off x="609600" y="4460240"/>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'French language'</a:t>
            </a:r>
            <a:endParaRPr sz="1900">
              <a:solidFill>
                <a:srgbClr val="1D232A"/>
              </a:solidFill>
              <a:latin typeface="Source Sans 3"/>
              <a:ea typeface="Source Sans 3"/>
              <a:cs typeface="Source Sans 3"/>
              <a:sym typeface="Source Sans 3"/>
            </a:endParaRPr>
          </a:p>
        </p:txBody>
      </p:sp>
      <p:sp>
        <p:nvSpPr>
          <p:cNvPr id="533" name="Google Shape;533;p20"/>
          <p:cNvSpPr/>
          <p:nvPr/>
        </p:nvSpPr>
        <p:spPr>
          <a:xfrm>
            <a:off x="3316224" y="4600408"/>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4" name="Google Shape;534;p20"/>
          <p:cNvSpPr/>
          <p:nvPr/>
        </p:nvSpPr>
        <p:spPr>
          <a:xfrm>
            <a:off x="3316224" y="4600408"/>
            <a:ext cx="3087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5" name="Google Shape;535;p20"/>
          <p:cNvSpPr txBox="1"/>
          <p:nvPr/>
        </p:nvSpPr>
        <p:spPr>
          <a:xfrm>
            <a:off x="6476661" y="443585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0.10</a:t>
            </a:r>
            <a:endParaRPr b="1" sz="2100">
              <a:solidFill>
                <a:srgbClr val="1D232A"/>
              </a:solidFill>
              <a:latin typeface="Source Sans 3"/>
              <a:ea typeface="Source Sans 3"/>
              <a:cs typeface="Source Sans 3"/>
              <a:sym typeface="Source Sans 3"/>
            </a:endParaRPr>
          </a:p>
        </p:txBody>
      </p:sp>
      <p:sp>
        <p:nvSpPr>
          <p:cNvPr id="536" name="Google Shape;536;p20"/>
          <p:cNvSpPr/>
          <p:nvPr/>
        </p:nvSpPr>
        <p:spPr>
          <a:xfrm>
            <a:off x="7802880" y="1503640"/>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7" name="Google Shape;537;p20"/>
          <p:cNvSpPr/>
          <p:nvPr/>
        </p:nvSpPr>
        <p:spPr>
          <a:xfrm>
            <a:off x="7802880" y="1503640"/>
            <a:ext cx="60900" cy="11703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38" name="Google Shape;538;p20"/>
          <p:cNvSpPr txBox="1"/>
          <p:nvPr/>
        </p:nvSpPr>
        <p:spPr>
          <a:xfrm>
            <a:off x="7936992" y="1528064"/>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The statement pair</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column one"  vs  "- column five"</a:t>
            </a:r>
            <a:endParaRPr i="1" sz="1900">
              <a:solidFill>
                <a:srgbClr val="1D232A"/>
              </a:solidFill>
              <a:latin typeface="Lora"/>
              <a:ea typeface="Lora"/>
              <a:cs typeface="Lora"/>
              <a:sym typeface="Lora"/>
            </a:endParaRPr>
          </a:p>
        </p:txBody>
      </p:sp>
      <p:sp>
        <p:nvSpPr>
          <p:cNvPr id="539" name="Google Shape;539;p20"/>
          <p:cNvSpPr/>
          <p:nvPr/>
        </p:nvSpPr>
        <p:spPr>
          <a:xfrm>
            <a:off x="7802880" y="2795992"/>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40" name="Google Shape;540;p20"/>
          <p:cNvSpPr/>
          <p:nvPr/>
        </p:nvSpPr>
        <p:spPr>
          <a:xfrm>
            <a:off x="7802880" y="2795992"/>
            <a:ext cx="60900" cy="14547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41" name="Google Shape;541;p20"/>
          <p:cNvSpPr txBox="1"/>
          <p:nvPr/>
        </p:nvSpPr>
        <p:spPr>
          <a:xfrm>
            <a:off x="7936992" y="2820416"/>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A true span (end)</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 Iris | Italian | principal |…</a:t>
            </a:r>
            <a:endParaRPr sz="1900">
              <a:solidFill>
                <a:srgbClr val="1D232A"/>
              </a:solidFill>
              <a:latin typeface="Roboto Mono"/>
              <a:ea typeface="Roboto Mono"/>
              <a:cs typeface="Roboto Mono"/>
              <a:sym typeface="Roboto Mono"/>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 Farid▌</a:t>
            </a:r>
            <a:endParaRPr sz="1900">
              <a:solidFill>
                <a:srgbClr val="1D232A"/>
              </a:solidFill>
              <a:latin typeface="Roboto Mono"/>
              <a:ea typeface="Roboto Mono"/>
              <a:cs typeface="Roboto Mono"/>
              <a:sym typeface="Roboto Mono"/>
            </a:endParaRPr>
          </a:p>
        </p:txBody>
      </p:sp>
      <p:sp>
        <p:nvSpPr>
          <p:cNvPr id="542" name="Google Shape;542;p20"/>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43" name="Google Shape;543;p20"/>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1-(b), 2-(a): statements barely move a reconstructor; no reward for stating.</a:t>
            </a:r>
            <a:endParaRPr sz="1900">
              <a:solidFill>
                <a:srgbClr val="1D232A"/>
              </a:solidFill>
              <a:latin typeface="Source Sans 3"/>
              <a:ea typeface="Source Sans 3"/>
              <a:cs typeface="Source Sans 3"/>
              <a:sym typeface="Source Sans 3"/>
            </a:endParaRPr>
          </a:p>
        </p:txBody>
      </p:sp>
      <p:sp>
        <p:nvSpPr>
          <p:cNvPr id="544" name="Google Shape;544;p20"/>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Oracle Lens's reconstructor (layer 44). Aggregates, no intervals. NLA critic, same statements: 0.07, −0.05, language 0.72.</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A bullet written in French moves the rebuild 1.39. Exp 14.</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548" name="Shape 548"/>
        <p:cNvGrpSpPr/>
        <p:nvPr/>
      </p:nvGrpSpPr>
      <p:grpSpPr>
        <a:xfrm>
          <a:off x="0" y="0"/>
          <a:ext cx="0" cy="0"/>
          <a:chOff x="0" y="0"/>
          <a:chExt cx="0" cy="0"/>
        </a:xfrm>
      </p:grpSpPr>
      <p:sp>
        <p:nvSpPr>
          <p:cNvPr id="549" name="Google Shape;549;p21"/>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MECHANISM · EXP 15 · TABLE COLUMN · 200 ITEMS · PUSH 11% OF THE NORM</a:t>
            </a:r>
            <a:endParaRPr b="1" sz="1500">
              <a:solidFill>
                <a:srgbClr val="8A8478"/>
              </a:solidFill>
              <a:latin typeface="Source Sans 3"/>
              <a:ea typeface="Source Sans 3"/>
              <a:cs typeface="Source Sans 3"/>
              <a:sym typeface="Source Sans 3"/>
            </a:endParaRPr>
          </a:p>
        </p:txBody>
      </p:sp>
      <p:sp>
        <p:nvSpPr>
          <p:cNvPr id="550" name="Google Shape;550;p21"/>
          <p:cNvSpPr txBox="1"/>
          <p:nvPr/>
        </p:nvSpPr>
        <p:spPr>
          <a:xfrm>
            <a:off x="609600" y="609600"/>
            <a:ext cx="114984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700">
                <a:solidFill>
                  <a:srgbClr val="1D232A"/>
                </a:solidFill>
              </a:rPr>
              <a:t>Readers respond to a direction that barely affects Qwen’s next-token behavior</a:t>
            </a:r>
            <a:endParaRPr b="1" sz="2700">
              <a:solidFill>
                <a:srgbClr val="1D232A"/>
              </a:solidFill>
            </a:endParaRPr>
          </a:p>
        </p:txBody>
      </p:sp>
      <p:sp>
        <p:nvSpPr>
          <p:cNvPr id="551" name="Google Shape;551;p21"/>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Response to the push (z against 20 random directions)</a:t>
            </a:r>
            <a:endParaRPr b="1" sz="1900">
              <a:solidFill>
                <a:srgbClr val="1D232A"/>
              </a:solidFill>
              <a:latin typeface="Source Sans 3"/>
              <a:ea typeface="Source Sans 3"/>
              <a:cs typeface="Source Sans 3"/>
              <a:sym typeface="Source Sans 3"/>
            </a:endParaRPr>
          </a:p>
        </p:txBody>
      </p:sp>
      <p:sp>
        <p:nvSpPr>
          <p:cNvPr id="552" name="Google Shape;552;p21"/>
          <p:cNvSpPr txBox="1"/>
          <p:nvPr/>
        </p:nvSpPr>
        <p:spPr>
          <a:xfrm>
            <a:off x="609600" y="1924304"/>
            <a:ext cx="2865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Model · class mean</a:t>
            </a:r>
            <a:endParaRPr sz="1900">
              <a:solidFill>
                <a:srgbClr val="1D232A"/>
              </a:solidFill>
              <a:latin typeface="Source Sans 3"/>
              <a:ea typeface="Source Sans 3"/>
              <a:cs typeface="Source Sans 3"/>
              <a:sym typeface="Source Sans 3"/>
            </a:endParaRPr>
          </a:p>
        </p:txBody>
      </p:sp>
      <p:sp>
        <p:nvSpPr>
          <p:cNvPr id="553" name="Google Shape;553;p21"/>
          <p:cNvSpPr/>
          <p:nvPr/>
        </p:nvSpPr>
        <p:spPr>
          <a:xfrm>
            <a:off x="3621024" y="2064472"/>
            <a:ext cx="2630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54" name="Google Shape;554;p21"/>
          <p:cNvSpPr/>
          <p:nvPr/>
        </p:nvSpPr>
        <p:spPr>
          <a:xfrm>
            <a:off x="3621024" y="2064472"/>
            <a:ext cx="1334100" cy="243900"/>
          </a:xfrm>
          <a:prstGeom prst="roundRect">
            <a:avLst>
              <a:gd fmla="val 16667" name="adj"/>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55" name="Google Shape;555;p21"/>
          <p:cNvSpPr txBox="1"/>
          <p:nvPr/>
        </p:nvSpPr>
        <p:spPr>
          <a:xfrm>
            <a:off x="6324939" y="1899920"/>
            <a:ext cx="1173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+7.1</a:t>
            </a:r>
            <a:endParaRPr b="1" sz="2100">
              <a:solidFill>
                <a:srgbClr val="1D232A"/>
              </a:solidFill>
              <a:latin typeface="Source Sans 3"/>
              <a:ea typeface="Source Sans 3"/>
              <a:cs typeface="Source Sans 3"/>
              <a:sym typeface="Source Sans 3"/>
            </a:endParaRPr>
          </a:p>
        </p:txBody>
      </p:sp>
      <p:sp>
        <p:nvSpPr>
          <p:cNvPr id="556" name="Google Shape;556;p21"/>
          <p:cNvSpPr txBox="1"/>
          <p:nvPr/>
        </p:nvSpPr>
        <p:spPr>
          <a:xfrm>
            <a:off x="609600" y="2411984"/>
            <a:ext cx="2865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Model · statement</a:t>
            </a:r>
            <a:endParaRPr sz="1900">
              <a:solidFill>
                <a:srgbClr val="1D232A"/>
              </a:solidFill>
              <a:latin typeface="Source Sans 3"/>
              <a:ea typeface="Source Sans 3"/>
              <a:cs typeface="Source Sans 3"/>
              <a:sym typeface="Source Sans 3"/>
            </a:endParaRPr>
          </a:p>
        </p:txBody>
      </p:sp>
      <p:sp>
        <p:nvSpPr>
          <p:cNvPr id="557" name="Google Shape;557;p21"/>
          <p:cNvSpPr/>
          <p:nvPr/>
        </p:nvSpPr>
        <p:spPr>
          <a:xfrm>
            <a:off x="3621024" y="2552152"/>
            <a:ext cx="2630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58" name="Google Shape;558;p21"/>
          <p:cNvSpPr/>
          <p:nvPr/>
        </p:nvSpPr>
        <p:spPr>
          <a:xfrm>
            <a:off x="3621024" y="2552152"/>
            <a:ext cx="219600" cy="243900"/>
          </a:xfrm>
          <a:prstGeom prst="roundRect">
            <a:avLst>
              <a:gd fmla="val 16667" name="adj"/>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59" name="Google Shape;559;p21"/>
          <p:cNvSpPr/>
          <p:nvPr/>
        </p:nvSpPr>
        <p:spPr>
          <a:xfrm>
            <a:off x="3696248" y="2659441"/>
            <a:ext cx="131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60" name="Google Shape;560;p21"/>
          <p:cNvSpPr txBox="1"/>
          <p:nvPr/>
        </p:nvSpPr>
        <p:spPr>
          <a:xfrm>
            <a:off x="6324939" y="2387600"/>
            <a:ext cx="1173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a:t>
            </a:r>
            <a:endParaRPr b="1" sz="2100">
              <a:solidFill>
                <a:srgbClr val="1D232A"/>
              </a:solidFill>
              <a:latin typeface="Source Sans 3"/>
              <a:ea typeface="Source Sans 3"/>
              <a:cs typeface="Source Sans 3"/>
              <a:sym typeface="Source Sans 3"/>
            </a:endParaRPr>
          </a:p>
        </p:txBody>
      </p:sp>
      <p:sp>
        <p:nvSpPr>
          <p:cNvPr id="561" name="Google Shape;561;p21"/>
          <p:cNvSpPr txBox="1"/>
          <p:nvPr/>
        </p:nvSpPr>
        <p:spPr>
          <a:xfrm>
            <a:off x="609600" y="2899664"/>
            <a:ext cx="2865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Oracle Lens · statement</a:t>
            </a:r>
            <a:endParaRPr sz="1900">
              <a:solidFill>
                <a:srgbClr val="1D232A"/>
              </a:solidFill>
              <a:latin typeface="Source Sans 3"/>
              <a:ea typeface="Source Sans 3"/>
              <a:cs typeface="Source Sans 3"/>
              <a:sym typeface="Source Sans 3"/>
            </a:endParaRPr>
          </a:p>
        </p:txBody>
      </p:sp>
      <p:sp>
        <p:nvSpPr>
          <p:cNvPr id="562" name="Google Shape;562;p21"/>
          <p:cNvSpPr/>
          <p:nvPr/>
        </p:nvSpPr>
        <p:spPr>
          <a:xfrm>
            <a:off x="3621024" y="3039832"/>
            <a:ext cx="2630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63" name="Google Shape;563;p21"/>
          <p:cNvSpPr/>
          <p:nvPr/>
        </p:nvSpPr>
        <p:spPr>
          <a:xfrm>
            <a:off x="3621024" y="3039832"/>
            <a:ext cx="23112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64" name="Google Shape;564;p21"/>
          <p:cNvSpPr txBox="1"/>
          <p:nvPr/>
        </p:nvSpPr>
        <p:spPr>
          <a:xfrm>
            <a:off x="6324939" y="2875280"/>
            <a:ext cx="1173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+12.3</a:t>
            </a:r>
            <a:endParaRPr b="1" sz="2100">
              <a:solidFill>
                <a:srgbClr val="1D232A"/>
              </a:solidFill>
              <a:latin typeface="Source Sans 3"/>
              <a:ea typeface="Source Sans 3"/>
              <a:cs typeface="Source Sans 3"/>
              <a:sym typeface="Source Sans 3"/>
            </a:endParaRPr>
          </a:p>
        </p:txBody>
      </p:sp>
      <p:sp>
        <p:nvSpPr>
          <p:cNvPr id="565" name="Google Shape;565;p21"/>
          <p:cNvSpPr txBox="1"/>
          <p:nvPr/>
        </p:nvSpPr>
        <p:spPr>
          <a:xfrm>
            <a:off x="609600" y="3387344"/>
            <a:ext cx="2865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J-lens · statement</a:t>
            </a:r>
            <a:endParaRPr sz="1900">
              <a:solidFill>
                <a:srgbClr val="1D232A"/>
              </a:solidFill>
              <a:latin typeface="Source Sans 3"/>
              <a:ea typeface="Source Sans 3"/>
              <a:cs typeface="Source Sans 3"/>
              <a:sym typeface="Source Sans 3"/>
            </a:endParaRPr>
          </a:p>
        </p:txBody>
      </p:sp>
      <p:sp>
        <p:nvSpPr>
          <p:cNvPr id="566" name="Google Shape;566;p21"/>
          <p:cNvSpPr/>
          <p:nvPr/>
        </p:nvSpPr>
        <p:spPr>
          <a:xfrm>
            <a:off x="3621024" y="3527512"/>
            <a:ext cx="2630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67" name="Google Shape;567;p21"/>
          <p:cNvSpPr/>
          <p:nvPr/>
        </p:nvSpPr>
        <p:spPr>
          <a:xfrm>
            <a:off x="3621024" y="3527512"/>
            <a:ext cx="1898100" cy="243900"/>
          </a:xfrm>
          <a:prstGeom prst="roundRect">
            <a:avLst>
              <a:gd fmla="val 16667" name="adj"/>
            </a:avLst>
          </a:prstGeom>
          <a:solidFill>
            <a:srgbClr val="2F7A74"/>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68" name="Google Shape;568;p21"/>
          <p:cNvSpPr txBox="1"/>
          <p:nvPr/>
        </p:nvSpPr>
        <p:spPr>
          <a:xfrm>
            <a:off x="6324939" y="3362960"/>
            <a:ext cx="1173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+10.1</a:t>
            </a:r>
            <a:endParaRPr b="1" sz="2100">
              <a:solidFill>
                <a:srgbClr val="1D232A"/>
              </a:solidFill>
              <a:latin typeface="Source Sans 3"/>
              <a:ea typeface="Source Sans 3"/>
              <a:cs typeface="Source Sans 3"/>
              <a:sym typeface="Source Sans 3"/>
            </a:endParaRPr>
          </a:p>
        </p:txBody>
      </p:sp>
      <p:sp>
        <p:nvSpPr>
          <p:cNvPr id="569" name="Google Shape;569;p21"/>
          <p:cNvSpPr/>
          <p:nvPr/>
        </p:nvSpPr>
        <p:spPr>
          <a:xfrm>
            <a:off x="3989588" y="1966936"/>
            <a:ext cx="14700" cy="19020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0" name="Google Shape;570;p21"/>
          <p:cNvSpPr txBox="1"/>
          <p:nvPr/>
        </p:nvSpPr>
        <p:spPr>
          <a:xfrm>
            <a:off x="2899567" y="3747008"/>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|z| = 2</a:t>
            </a:r>
            <a:endParaRPr sz="1900">
              <a:solidFill>
                <a:srgbClr val="6F6A60"/>
              </a:solidFill>
              <a:latin typeface="Source Sans 3"/>
              <a:ea typeface="Source Sans 3"/>
              <a:cs typeface="Source Sans 3"/>
              <a:sym typeface="Source Sans 3"/>
            </a:endParaRPr>
          </a:p>
        </p:txBody>
      </p:sp>
      <p:sp>
        <p:nvSpPr>
          <p:cNvPr id="571" name="Google Shape;571;p21"/>
          <p:cNvSpPr/>
          <p:nvPr/>
        </p:nvSpPr>
        <p:spPr>
          <a:xfrm>
            <a:off x="7802880" y="1503640"/>
            <a:ext cx="3779700" cy="1739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2" name="Google Shape;572;p21"/>
          <p:cNvSpPr/>
          <p:nvPr/>
        </p:nvSpPr>
        <p:spPr>
          <a:xfrm>
            <a:off x="7802880" y="1503640"/>
            <a:ext cx="60900" cy="1739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3" name="Google Shape;573;p21"/>
          <p:cNvSpPr txBox="1"/>
          <p:nvPr/>
        </p:nvSpPr>
        <p:spPr>
          <a:xfrm>
            <a:off x="7936992" y="1528064"/>
            <a:ext cx="35967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Statement pair the direction is built from</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"The current cell is in the first column of the table"  vs  "… fifth column …"</a:t>
            </a:r>
            <a:endParaRPr i="1" sz="1900">
              <a:solidFill>
                <a:srgbClr val="1D232A"/>
              </a:solidFill>
              <a:latin typeface="Lora"/>
              <a:ea typeface="Lora"/>
              <a:cs typeface="Lora"/>
              <a:sym typeface="Lora"/>
            </a:endParaRPr>
          </a:p>
        </p:txBody>
      </p:sp>
      <p:sp>
        <p:nvSpPr>
          <p:cNvPr id="574" name="Google Shape;574;p21"/>
          <p:cNvSpPr/>
          <p:nvPr/>
        </p:nvSpPr>
        <p:spPr>
          <a:xfrm>
            <a:off x="7802880" y="3364992"/>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5" name="Google Shape;575;p21"/>
          <p:cNvSpPr/>
          <p:nvPr/>
        </p:nvSpPr>
        <p:spPr>
          <a:xfrm>
            <a:off x="7802880" y="3364992"/>
            <a:ext cx="60900" cy="14547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6" name="Google Shape;576;p21"/>
          <p:cNvSpPr txBox="1"/>
          <p:nvPr/>
        </p:nvSpPr>
        <p:spPr>
          <a:xfrm>
            <a:off x="7936992" y="3389376"/>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What 'model' means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The shift in the model's own next-token log-odds for a newline.</a:t>
            </a:r>
            <a:endParaRPr sz="1900">
              <a:solidFill>
                <a:srgbClr val="1D232A"/>
              </a:solidFill>
              <a:latin typeface="Source Sans 3"/>
              <a:ea typeface="Source Sans 3"/>
              <a:cs typeface="Source Sans 3"/>
              <a:sym typeface="Source Sans 3"/>
            </a:endParaRPr>
          </a:p>
        </p:txBody>
      </p:sp>
      <p:sp>
        <p:nvSpPr>
          <p:cNvPr id="577" name="Google Shape;577;p21"/>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78" name="Google Shape;578;p21"/>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Why it matters: a reader can follow a direction the model ignores.</a:t>
            </a:r>
            <a:endParaRPr sz="1900">
              <a:solidFill>
                <a:srgbClr val="1D232A"/>
              </a:solidFill>
              <a:latin typeface="Source Sans 3"/>
              <a:ea typeface="Source Sans 3"/>
              <a:cs typeface="Source Sans 3"/>
              <a:sym typeface="Source Sans 3"/>
            </a:endParaRPr>
          </a:p>
        </p:txBody>
      </p:sp>
      <p:sp>
        <p:nvSpPr>
          <p:cNvPr id="579" name="Google Shape;579;p21"/>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Directions built with the NLA's reconstructor, so the NLA's response is partly circular (not shown). Parenthesis:</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model −3.6, Oracle Lens +3.6. Model statement z CI [0.4, 1.1], cluster bootstrap by passage. Exps 15, 17.</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583" name="Shape 583"/>
        <p:cNvGrpSpPr/>
        <p:nvPr/>
      </p:nvGrpSpPr>
      <p:grpSpPr>
        <a:xfrm>
          <a:off x="0" y="0"/>
          <a:ext cx="0" cy="0"/>
          <a:chOff x="0" y="0"/>
          <a:chExt cx="0" cy="0"/>
        </a:xfrm>
      </p:grpSpPr>
      <p:sp>
        <p:nvSpPr>
          <p:cNvPr id="584" name="Google Shape;584;p22"/>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WHY · THE NLA AT TEN POINTS OF ITS TRAINING · PUBLIC BANK</a:t>
            </a:r>
            <a:endParaRPr b="1" sz="1500">
              <a:solidFill>
                <a:srgbClr val="8A8478"/>
              </a:solidFill>
              <a:latin typeface="Source Sans 3"/>
              <a:ea typeface="Source Sans 3"/>
              <a:cs typeface="Source Sans 3"/>
              <a:sym typeface="Source Sans 3"/>
            </a:endParaRPr>
          </a:p>
        </p:txBody>
      </p:sp>
      <p:sp>
        <p:nvSpPr>
          <p:cNvPr id="585" name="Google Shape;585;p22"/>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More RL → better reconstruction, not stating</a:t>
            </a:r>
            <a:endParaRPr b="1" sz="3500">
              <a:solidFill>
                <a:srgbClr val="1D232A"/>
              </a:solidFill>
              <a:latin typeface="Lora"/>
              <a:ea typeface="Lora"/>
              <a:cs typeface="Lora"/>
              <a:sym typeface="Lora"/>
            </a:endParaRPr>
          </a:p>
        </p:txBody>
      </p:sp>
      <p:sp>
        <p:nvSpPr>
          <p:cNvPr id="586" name="Google Shape;586;p22"/>
          <p:cNvSpPr/>
          <p:nvPr/>
        </p:nvSpPr>
        <p:spPr>
          <a:xfrm>
            <a:off x="7376160" y="1503640"/>
            <a:ext cx="42063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87" name="Google Shape;587;p22"/>
          <p:cNvSpPr/>
          <p:nvPr/>
        </p:nvSpPr>
        <p:spPr>
          <a:xfrm>
            <a:off x="7376160" y="1503640"/>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88" name="Google Shape;588;p22"/>
          <p:cNvSpPr txBox="1"/>
          <p:nvPr/>
        </p:nvSpPr>
        <p:spPr>
          <a:xfrm>
            <a:off x="7510272" y="1528064"/>
            <a:ext cx="40233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Input (inside a Python string)</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raise DMBadInputError("Shape of rep does not▌</a:t>
            </a:r>
            <a:endParaRPr sz="1900">
              <a:solidFill>
                <a:srgbClr val="1D232A"/>
              </a:solidFill>
              <a:latin typeface="Roboto Mono"/>
              <a:ea typeface="Roboto Mono"/>
              <a:cs typeface="Roboto Mono"/>
              <a:sym typeface="Roboto Mono"/>
            </a:endParaRPr>
          </a:p>
        </p:txBody>
      </p:sp>
      <p:sp>
        <p:nvSpPr>
          <p:cNvPr id="589" name="Google Shape;589;p22"/>
          <p:cNvSpPr/>
          <p:nvPr/>
        </p:nvSpPr>
        <p:spPr>
          <a:xfrm>
            <a:off x="7376160" y="2795992"/>
            <a:ext cx="42063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0" name="Google Shape;590;p22"/>
          <p:cNvSpPr/>
          <p:nvPr/>
        </p:nvSpPr>
        <p:spPr>
          <a:xfrm>
            <a:off x="7376160" y="2795992"/>
            <a:ext cx="60900" cy="14547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1" name="Google Shape;591;p22"/>
          <p:cNvSpPr txBox="1"/>
          <p:nvPr/>
        </p:nvSpPr>
        <p:spPr>
          <a:xfrm>
            <a:off x="7510272" y="2820416"/>
            <a:ext cx="40233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Text-only warm start (states it)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requires specific error message text …</a:t>
            </a:r>
            <a:endParaRPr i="1" sz="1900">
              <a:solidFill>
                <a:srgbClr val="1D232A"/>
              </a:solidFill>
              <a:latin typeface="Lora"/>
              <a:ea typeface="Lora"/>
              <a:cs typeface="Lora"/>
              <a:sym typeface="Lora"/>
            </a:endParaRPr>
          </a:p>
        </p:txBody>
      </p:sp>
      <p:sp>
        <p:nvSpPr>
          <p:cNvPr id="592" name="Google Shape;592;p22"/>
          <p:cNvSpPr/>
          <p:nvPr/>
        </p:nvSpPr>
        <p:spPr>
          <a:xfrm>
            <a:off x="7376160" y="4372904"/>
            <a:ext cx="42063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3" name="Google Shape;593;p22"/>
          <p:cNvSpPr/>
          <p:nvPr/>
        </p:nvSpPr>
        <p:spPr>
          <a:xfrm>
            <a:off x="7376160" y="4372904"/>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4" name="Google Shape;594;p22"/>
          <p:cNvSpPr txBox="1"/>
          <p:nvPr/>
        </p:nvSpPr>
        <p:spPr>
          <a:xfrm>
            <a:off x="7510272" y="4397248"/>
            <a:ext cx="40233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After 800 RL steps (doesn't)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ends "does not" mid-error-message …</a:t>
            </a:r>
            <a:endParaRPr i="1" sz="1900">
              <a:solidFill>
                <a:srgbClr val="1D232A"/>
              </a:solidFill>
              <a:latin typeface="Lora"/>
              <a:ea typeface="Lora"/>
              <a:cs typeface="Lora"/>
              <a:sym typeface="Lora"/>
            </a:endParaRPr>
          </a:p>
        </p:txBody>
      </p:sp>
      <p:sp>
        <p:nvSpPr>
          <p:cNvPr id="595" name="Google Shape;595;p22"/>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6" name="Google Shape;596;p22"/>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2-(a), 2-(c): RL raised reconstruction; stating stayed at the warm start's level.</a:t>
            </a:r>
            <a:endParaRPr sz="1900">
              <a:solidFill>
                <a:srgbClr val="1D232A"/>
              </a:solidFill>
              <a:latin typeface="Source Sans 3"/>
              <a:ea typeface="Source Sans 3"/>
              <a:cs typeface="Source Sans 3"/>
              <a:sym typeface="Source Sans 3"/>
            </a:endParaRPr>
          </a:p>
        </p:txBody>
      </p:sp>
      <p:sp>
        <p:nvSpPr>
          <p:cNvPr id="597" name="Google Shape;597;p22"/>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Structural rows 0.00–0.29 over RL, no trend (slope −0.001 per 100 steps). One final critic scores every checkpoint.</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In-string readouts: text-only states it 142/160, step 800 59/160 (less often, not rarely). Card: first of 12 such. Exp 29.</a:t>
            </a:r>
            <a:endParaRPr sz="1300">
              <a:solidFill>
                <a:srgbClr val="6F6A60"/>
              </a:solidFill>
              <a:latin typeface="Source Sans 3"/>
              <a:ea typeface="Source Sans 3"/>
              <a:cs typeface="Source Sans 3"/>
              <a:sym typeface="Source Sans 3"/>
            </a:endParaRPr>
          </a:p>
        </p:txBody>
      </p:sp>
      <p:pic>
        <p:nvPicPr>
          <p:cNvPr id="598" name="Google Shape;598;p22"/>
          <p:cNvPicPr preferRelativeResize="0"/>
          <p:nvPr/>
        </p:nvPicPr>
        <p:blipFill>
          <a:blip r:embed="rId3">
            <a:alphaModFix/>
          </a:blip>
          <a:stretch>
            <a:fillRect/>
          </a:stretch>
        </p:blipFill>
        <p:spPr>
          <a:xfrm>
            <a:off x="609600" y="1540256"/>
            <a:ext cx="6461760" cy="324479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602" name="Shape 602"/>
        <p:cNvGrpSpPr/>
        <p:nvPr/>
      </p:nvGrpSpPr>
      <p:grpSpPr>
        <a:xfrm>
          <a:off x="0" y="0"/>
          <a:ext cx="0" cy="0"/>
          <a:chOff x="0" y="0"/>
          <a:chExt cx="0" cy="0"/>
        </a:xfrm>
      </p:grpSpPr>
      <p:sp>
        <p:nvSpPr>
          <p:cNvPr id="603" name="Google Shape;603;p23"/>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WHY · 400-STEP SUPERVISED ADAPTER · 32 HELD-OUT ITEMS PER ROW</a:t>
            </a:r>
            <a:endParaRPr b="1" sz="1500">
              <a:solidFill>
                <a:srgbClr val="8A8478"/>
              </a:solidFill>
              <a:latin typeface="Source Sans 3"/>
              <a:ea typeface="Source Sans 3"/>
              <a:cs typeface="Source Sans 3"/>
              <a:sym typeface="Source Sans 3"/>
            </a:endParaRPr>
          </a:p>
        </p:txBody>
      </p:sp>
      <p:sp>
        <p:nvSpPr>
          <p:cNvPr id="604" name="Google Shape;604;p23"/>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700">
                <a:solidFill>
                  <a:srgbClr val="1D232A"/>
                </a:solidFill>
                <a:latin typeface="Lora"/>
                <a:ea typeface="Lora"/>
                <a:cs typeface="Lora"/>
                <a:sym typeface="Lora"/>
              </a:rPr>
              <a:t>Targeted supervision improves naming on trained properties, but generalization remains weak.</a:t>
            </a:r>
            <a:endParaRPr b="1" sz="2700">
              <a:solidFill>
                <a:srgbClr val="1D232A"/>
              </a:solidFill>
              <a:latin typeface="Lora"/>
              <a:ea typeface="Lora"/>
              <a:cs typeface="Lora"/>
              <a:sym typeface="Lora"/>
            </a:endParaRPr>
          </a:p>
        </p:txBody>
      </p:sp>
      <p:sp>
        <p:nvSpPr>
          <p:cNvPr id="605" name="Google Shape;605;p23"/>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Trained rows: correct when it names</a:t>
            </a:r>
            <a:endParaRPr b="1" sz="1900">
              <a:solidFill>
                <a:srgbClr val="1D232A"/>
              </a:solidFill>
              <a:latin typeface="Source Sans 3"/>
              <a:ea typeface="Source Sans 3"/>
              <a:cs typeface="Source Sans 3"/>
              <a:sym typeface="Source Sans 3"/>
            </a:endParaRPr>
          </a:p>
        </p:txBody>
      </p:sp>
      <p:sp>
        <p:nvSpPr>
          <p:cNvPr id="606" name="Google Shape;606;p23"/>
          <p:cNvSpPr txBox="1"/>
          <p:nvPr/>
        </p:nvSpPr>
        <p:spPr>
          <a:xfrm>
            <a:off x="609600" y="1887728"/>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a:t>
            </a:r>
            <a:endParaRPr sz="1900">
              <a:solidFill>
                <a:srgbClr val="1D232A"/>
              </a:solidFill>
              <a:latin typeface="Source Sans 3"/>
              <a:ea typeface="Source Sans 3"/>
              <a:cs typeface="Source Sans 3"/>
              <a:sym typeface="Source Sans 3"/>
            </a:endParaRPr>
          </a:p>
        </p:txBody>
      </p:sp>
      <p:sp>
        <p:nvSpPr>
          <p:cNvPr id="607" name="Google Shape;607;p23"/>
          <p:cNvSpPr/>
          <p:nvPr/>
        </p:nvSpPr>
        <p:spPr>
          <a:xfrm>
            <a:off x="3194304" y="2027896"/>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08" name="Google Shape;608;p23"/>
          <p:cNvSpPr/>
          <p:nvPr/>
        </p:nvSpPr>
        <p:spPr>
          <a:xfrm>
            <a:off x="3194304" y="2027896"/>
            <a:ext cx="1878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09" name="Google Shape;609;p23"/>
          <p:cNvSpPr/>
          <p:nvPr/>
        </p:nvSpPr>
        <p:spPr>
          <a:xfrm>
            <a:off x="4542617" y="2135185"/>
            <a:ext cx="8289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0" name="Google Shape;610;p23"/>
          <p:cNvSpPr txBox="1"/>
          <p:nvPr/>
        </p:nvSpPr>
        <p:spPr>
          <a:xfrm>
            <a:off x="5646928" y="1863344"/>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0.79</a:t>
            </a:r>
            <a:r>
              <a:rPr lang="en-US" sz="1900">
                <a:solidFill>
                  <a:srgbClr val="6F6A60"/>
                </a:solidFill>
                <a:latin typeface="Source Sans 3"/>
                <a:ea typeface="Source Sans 3"/>
                <a:cs typeface="Source Sans 3"/>
                <a:sym typeface="Source Sans 3"/>
              </a:rPr>
              <a:t>  15/19</a:t>
            </a:r>
            <a:endParaRPr sz="1900">
              <a:solidFill>
                <a:srgbClr val="6F6A60"/>
              </a:solidFill>
              <a:latin typeface="Source Sans 3"/>
              <a:ea typeface="Source Sans 3"/>
              <a:cs typeface="Source Sans 3"/>
              <a:sym typeface="Source Sans 3"/>
            </a:endParaRPr>
          </a:p>
        </p:txBody>
      </p:sp>
      <p:sp>
        <p:nvSpPr>
          <p:cNvPr id="611" name="Google Shape;611;p23"/>
          <p:cNvSpPr txBox="1"/>
          <p:nvPr/>
        </p:nvSpPr>
        <p:spPr>
          <a:xfrm>
            <a:off x="609600" y="2302256"/>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Call argument</a:t>
            </a:r>
            <a:endParaRPr sz="1900">
              <a:solidFill>
                <a:srgbClr val="1D232A"/>
              </a:solidFill>
              <a:latin typeface="Source Sans 3"/>
              <a:ea typeface="Source Sans 3"/>
              <a:cs typeface="Source Sans 3"/>
              <a:sym typeface="Source Sans 3"/>
            </a:endParaRPr>
          </a:p>
        </p:txBody>
      </p:sp>
      <p:sp>
        <p:nvSpPr>
          <p:cNvPr id="612" name="Google Shape;612;p23"/>
          <p:cNvSpPr/>
          <p:nvPr/>
        </p:nvSpPr>
        <p:spPr>
          <a:xfrm>
            <a:off x="3194304" y="2442424"/>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3" name="Google Shape;613;p23"/>
          <p:cNvSpPr/>
          <p:nvPr/>
        </p:nvSpPr>
        <p:spPr>
          <a:xfrm>
            <a:off x="3194304" y="2442424"/>
            <a:ext cx="19332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4" name="Google Shape;614;p23"/>
          <p:cNvSpPr/>
          <p:nvPr/>
        </p:nvSpPr>
        <p:spPr>
          <a:xfrm>
            <a:off x="4550420" y="2549713"/>
            <a:ext cx="866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5" name="Google Shape;615;p23"/>
          <p:cNvSpPr txBox="1"/>
          <p:nvPr/>
        </p:nvSpPr>
        <p:spPr>
          <a:xfrm>
            <a:off x="5646928" y="2277872"/>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0.81</a:t>
            </a:r>
            <a:r>
              <a:rPr lang="en-US" sz="1900">
                <a:solidFill>
                  <a:srgbClr val="6F6A60"/>
                </a:solidFill>
                <a:latin typeface="Source Sans 3"/>
                <a:ea typeface="Source Sans 3"/>
                <a:cs typeface="Source Sans 3"/>
                <a:sym typeface="Source Sans 3"/>
              </a:rPr>
              <a:t>  13/16</a:t>
            </a:r>
            <a:endParaRPr sz="1900">
              <a:solidFill>
                <a:srgbClr val="6F6A60"/>
              </a:solidFill>
              <a:latin typeface="Source Sans 3"/>
              <a:ea typeface="Source Sans 3"/>
              <a:cs typeface="Source Sans 3"/>
              <a:sym typeface="Source Sans 3"/>
            </a:endParaRPr>
          </a:p>
        </p:txBody>
      </p:sp>
      <p:sp>
        <p:nvSpPr>
          <p:cNvPr id="616" name="Google Shape;616;p23"/>
          <p:cNvSpPr txBox="1"/>
          <p:nvPr/>
        </p:nvSpPr>
        <p:spPr>
          <a:xfrm>
            <a:off x="609600" y="2716784"/>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a:t>
            </a:r>
            <a:endParaRPr sz="1900">
              <a:solidFill>
                <a:srgbClr val="1D232A"/>
              </a:solidFill>
              <a:latin typeface="Source Sans 3"/>
              <a:ea typeface="Source Sans 3"/>
              <a:cs typeface="Source Sans 3"/>
              <a:sym typeface="Source Sans 3"/>
            </a:endParaRPr>
          </a:p>
        </p:txBody>
      </p:sp>
      <p:sp>
        <p:nvSpPr>
          <p:cNvPr id="617" name="Google Shape;617;p23"/>
          <p:cNvSpPr/>
          <p:nvPr/>
        </p:nvSpPr>
        <p:spPr>
          <a:xfrm>
            <a:off x="3194304" y="2856952"/>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8" name="Google Shape;618;p23"/>
          <p:cNvSpPr/>
          <p:nvPr/>
        </p:nvSpPr>
        <p:spPr>
          <a:xfrm>
            <a:off x="3194304" y="2856952"/>
            <a:ext cx="22761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9" name="Google Shape;619;p23"/>
          <p:cNvSpPr/>
          <p:nvPr/>
        </p:nvSpPr>
        <p:spPr>
          <a:xfrm>
            <a:off x="5074311" y="2964241"/>
            <a:ext cx="481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0" name="Google Shape;620;p23"/>
          <p:cNvSpPr txBox="1"/>
          <p:nvPr/>
        </p:nvSpPr>
        <p:spPr>
          <a:xfrm>
            <a:off x="5646928" y="2692400"/>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0.96</a:t>
            </a:r>
            <a:r>
              <a:rPr lang="en-US" sz="1900">
                <a:solidFill>
                  <a:srgbClr val="6F6A60"/>
                </a:solidFill>
                <a:latin typeface="Source Sans 3"/>
                <a:ea typeface="Source Sans 3"/>
                <a:cs typeface="Source Sans 3"/>
                <a:sym typeface="Source Sans 3"/>
              </a:rPr>
              <a:t>  22/23</a:t>
            </a:r>
            <a:endParaRPr sz="1900">
              <a:solidFill>
                <a:srgbClr val="6F6A60"/>
              </a:solidFill>
              <a:latin typeface="Source Sans 3"/>
              <a:ea typeface="Source Sans 3"/>
              <a:cs typeface="Source Sans 3"/>
              <a:sym typeface="Source Sans 3"/>
            </a:endParaRPr>
          </a:p>
        </p:txBody>
      </p:sp>
      <p:sp>
        <p:nvSpPr>
          <p:cNvPr id="621" name="Google Shape;621;p23"/>
          <p:cNvSpPr txBox="1"/>
          <p:nvPr/>
        </p:nvSpPr>
        <p:spPr>
          <a:xfrm>
            <a:off x="609600" y="313131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Code language</a:t>
            </a:r>
            <a:endParaRPr sz="1900">
              <a:solidFill>
                <a:srgbClr val="1D232A"/>
              </a:solidFill>
              <a:latin typeface="Source Sans 3"/>
              <a:ea typeface="Source Sans 3"/>
              <a:cs typeface="Source Sans 3"/>
              <a:sym typeface="Source Sans 3"/>
            </a:endParaRPr>
          </a:p>
        </p:txBody>
      </p:sp>
      <p:sp>
        <p:nvSpPr>
          <p:cNvPr id="622" name="Google Shape;622;p23"/>
          <p:cNvSpPr/>
          <p:nvPr/>
        </p:nvSpPr>
        <p:spPr>
          <a:xfrm>
            <a:off x="3194304" y="3271480"/>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3" name="Google Shape;623;p23"/>
          <p:cNvSpPr/>
          <p:nvPr/>
        </p:nvSpPr>
        <p:spPr>
          <a:xfrm>
            <a:off x="3194304" y="3271480"/>
            <a:ext cx="237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4" name="Google Shape;624;p23"/>
          <p:cNvSpPr/>
          <p:nvPr/>
        </p:nvSpPr>
        <p:spPr>
          <a:xfrm>
            <a:off x="4861925" y="3378769"/>
            <a:ext cx="7116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5" name="Google Shape;625;p23"/>
          <p:cNvSpPr txBox="1"/>
          <p:nvPr/>
        </p:nvSpPr>
        <p:spPr>
          <a:xfrm>
            <a:off x="5646928" y="3106928"/>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1.00</a:t>
            </a:r>
            <a:r>
              <a:rPr lang="en-US" sz="1900">
                <a:solidFill>
                  <a:srgbClr val="6F6A60"/>
                </a:solidFill>
                <a:latin typeface="Source Sans 3"/>
                <a:ea typeface="Source Sans 3"/>
                <a:cs typeface="Source Sans 3"/>
                <a:sym typeface="Source Sans 3"/>
              </a:rPr>
              <a:t>  9/9</a:t>
            </a:r>
            <a:endParaRPr sz="1900">
              <a:solidFill>
                <a:srgbClr val="6F6A60"/>
              </a:solidFill>
              <a:latin typeface="Source Sans 3"/>
              <a:ea typeface="Source Sans 3"/>
              <a:cs typeface="Source Sans 3"/>
              <a:sym typeface="Source Sans 3"/>
            </a:endParaRPr>
          </a:p>
        </p:txBody>
      </p:sp>
      <p:sp>
        <p:nvSpPr>
          <p:cNvPr id="626" name="Google Shape;626;p23"/>
          <p:cNvSpPr txBox="1"/>
          <p:nvPr/>
        </p:nvSpPr>
        <p:spPr>
          <a:xfrm>
            <a:off x="609600" y="3545840"/>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Markdown heading</a:t>
            </a:r>
            <a:endParaRPr sz="1900">
              <a:solidFill>
                <a:srgbClr val="1D232A"/>
              </a:solidFill>
              <a:latin typeface="Source Sans 3"/>
              <a:ea typeface="Source Sans 3"/>
              <a:cs typeface="Source Sans 3"/>
              <a:sym typeface="Source Sans 3"/>
            </a:endParaRPr>
          </a:p>
        </p:txBody>
      </p:sp>
      <p:sp>
        <p:nvSpPr>
          <p:cNvPr id="627" name="Google Shape;627;p23"/>
          <p:cNvSpPr/>
          <p:nvPr/>
        </p:nvSpPr>
        <p:spPr>
          <a:xfrm>
            <a:off x="3194304" y="3686008"/>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8" name="Google Shape;628;p23"/>
          <p:cNvSpPr/>
          <p:nvPr/>
        </p:nvSpPr>
        <p:spPr>
          <a:xfrm>
            <a:off x="3194304" y="3686008"/>
            <a:ext cx="13728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29" name="Google Shape;629;p23"/>
          <p:cNvSpPr/>
          <p:nvPr/>
        </p:nvSpPr>
        <p:spPr>
          <a:xfrm>
            <a:off x="4121017" y="3793297"/>
            <a:ext cx="8448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30" name="Google Shape;630;p23"/>
          <p:cNvSpPr txBox="1"/>
          <p:nvPr/>
        </p:nvSpPr>
        <p:spPr>
          <a:xfrm>
            <a:off x="5646928" y="3521456"/>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0.58</a:t>
            </a:r>
            <a:r>
              <a:rPr lang="en-US" sz="1900">
                <a:solidFill>
                  <a:srgbClr val="6F6A60"/>
                </a:solidFill>
                <a:latin typeface="Source Sans 3"/>
                <a:ea typeface="Source Sans 3"/>
                <a:cs typeface="Source Sans 3"/>
                <a:sym typeface="Source Sans 3"/>
              </a:rPr>
              <a:t>  15/26</a:t>
            </a:r>
            <a:endParaRPr sz="1900">
              <a:solidFill>
                <a:srgbClr val="6F6A60"/>
              </a:solidFill>
              <a:latin typeface="Source Sans 3"/>
              <a:ea typeface="Source Sans 3"/>
              <a:cs typeface="Source Sans 3"/>
              <a:sym typeface="Source Sans 3"/>
            </a:endParaRPr>
          </a:p>
        </p:txBody>
      </p:sp>
      <p:sp>
        <p:nvSpPr>
          <p:cNvPr id="631" name="Google Shape;631;p23"/>
          <p:cNvSpPr txBox="1"/>
          <p:nvPr/>
        </p:nvSpPr>
        <p:spPr>
          <a:xfrm>
            <a:off x="609600" y="4137152"/>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Untrained rows: names the state at all</a:t>
            </a:r>
            <a:endParaRPr b="1" sz="1900">
              <a:solidFill>
                <a:srgbClr val="1D232A"/>
              </a:solidFill>
              <a:latin typeface="Source Sans 3"/>
              <a:ea typeface="Source Sans 3"/>
              <a:cs typeface="Source Sans 3"/>
              <a:sym typeface="Source Sans 3"/>
            </a:endParaRPr>
          </a:p>
        </p:txBody>
      </p:sp>
      <p:sp>
        <p:nvSpPr>
          <p:cNvPr id="632" name="Google Shape;632;p23"/>
          <p:cNvSpPr txBox="1"/>
          <p:nvPr/>
        </p:nvSpPr>
        <p:spPr>
          <a:xfrm>
            <a:off x="609600" y="4545584"/>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a:t>
            </a:r>
            <a:endParaRPr sz="1900">
              <a:solidFill>
                <a:srgbClr val="1D232A"/>
              </a:solidFill>
              <a:latin typeface="Source Sans 3"/>
              <a:ea typeface="Source Sans 3"/>
              <a:cs typeface="Source Sans 3"/>
              <a:sym typeface="Source Sans 3"/>
            </a:endParaRPr>
          </a:p>
        </p:txBody>
      </p:sp>
      <p:sp>
        <p:nvSpPr>
          <p:cNvPr id="633" name="Google Shape;633;p23"/>
          <p:cNvSpPr/>
          <p:nvPr/>
        </p:nvSpPr>
        <p:spPr>
          <a:xfrm>
            <a:off x="3194304" y="4685752"/>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34" name="Google Shape;634;p23"/>
          <p:cNvSpPr/>
          <p:nvPr/>
        </p:nvSpPr>
        <p:spPr>
          <a:xfrm>
            <a:off x="3194304" y="4685752"/>
            <a:ext cx="12639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35" name="Google Shape;635;p23"/>
          <p:cNvSpPr txBox="1"/>
          <p:nvPr/>
        </p:nvSpPr>
        <p:spPr>
          <a:xfrm>
            <a:off x="5646928" y="4521200"/>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0.53</a:t>
            </a:r>
            <a:r>
              <a:rPr lang="en-US" sz="1900">
                <a:solidFill>
                  <a:srgbClr val="6F6A60"/>
                </a:solidFill>
                <a:latin typeface="Source Sans 3"/>
                <a:ea typeface="Source Sans 3"/>
                <a:cs typeface="Source Sans 3"/>
                <a:sym typeface="Source Sans 3"/>
              </a:rPr>
              <a:t>  17/32</a:t>
            </a:r>
            <a:endParaRPr sz="1900">
              <a:solidFill>
                <a:srgbClr val="6F6A60"/>
              </a:solidFill>
              <a:latin typeface="Source Sans 3"/>
              <a:ea typeface="Source Sans 3"/>
              <a:cs typeface="Source Sans 3"/>
              <a:sym typeface="Source Sans 3"/>
            </a:endParaRPr>
          </a:p>
        </p:txBody>
      </p:sp>
      <p:sp>
        <p:nvSpPr>
          <p:cNvPr id="636" name="Google Shape;636;p23"/>
          <p:cNvSpPr txBox="1"/>
          <p:nvPr/>
        </p:nvSpPr>
        <p:spPr>
          <a:xfrm>
            <a:off x="609600" y="496011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a:t>
            </a:r>
            <a:endParaRPr sz="1900">
              <a:solidFill>
                <a:srgbClr val="1D232A"/>
              </a:solidFill>
              <a:latin typeface="Source Sans 3"/>
              <a:ea typeface="Source Sans 3"/>
              <a:cs typeface="Source Sans 3"/>
              <a:sym typeface="Source Sans 3"/>
            </a:endParaRPr>
          </a:p>
        </p:txBody>
      </p:sp>
      <p:sp>
        <p:nvSpPr>
          <p:cNvPr id="637" name="Google Shape;637;p23"/>
          <p:cNvSpPr/>
          <p:nvPr/>
        </p:nvSpPr>
        <p:spPr>
          <a:xfrm>
            <a:off x="3194304" y="5100280"/>
            <a:ext cx="23796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38" name="Google Shape;638;p23"/>
          <p:cNvSpPr/>
          <p:nvPr/>
        </p:nvSpPr>
        <p:spPr>
          <a:xfrm>
            <a:off x="3194304" y="5100280"/>
            <a:ext cx="21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39" name="Google Shape;639;p23"/>
          <p:cNvSpPr txBox="1"/>
          <p:nvPr/>
        </p:nvSpPr>
        <p:spPr>
          <a:xfrm>
            <a:off x="5646928" y="4935728"/>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0.03</a:t>
            </a:r>
            <a:r>
              <a:rPr lang="en-US" sz="1900">
                <a:solidFill>
                  <a:srgbClr val="6F6A60"/>
                </a:solidFill>
                <a:latin typeface="Source Sans 3"/>
                <a:ea typeface="Source Sans 3"/>
                <a:cs typeface="Source Sans 3"/>
                <a:sym typeface="Source Sans 3"/>
              </a:rPr>
              <a:t>  1/32</a:t>
            </a:r>
            <a:endParaRPr sz="1900">
              <a:solidFill>
                <a:srgbClr val="6F6A60"/>
              </a:solidFill>
              <a:latin typeface="Source Sans 3"/>
              <a:ea typeface="Source Sans 3"/>
              <a:cs typeface="Source Sans 3"/>
              <a:sym typeface="Source Sans 3"/>
            </a:endParaRPr>
          </a:p>
        </p:txBody>
      </p:sp>
      <p:sp>
        <p:nvSpPr>
          <p:cNvPr id="640" name="Google Shape;640;p23"/>
          <p:cNvSpPr/>
          <p:nvPr/>
        </p:nvSpPr>
        <p:spPr>
          <a:xfrm>
            <a:off x="7802880" y="1503640"/>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1" name="Google Shape;641;p23"/>
          <p:cNvSpPr/>
          <p:nvPr/>
        </p:nvSpPr>
        <p:spPr>
          <a:xfrm>
            <a:off x="7802880" y="1503640"/>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2" name="Google Shape;642;p23"/>
          <p:cNvSpPr txBox="1"/>
          <p:nvPr/>
        </p:nvSpPr>
        <p:spPr>
          <a:xfrm>
            <a:off x="7936992" y="1528064"/>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Adapter NLA, its last line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The current position is inside a string literal</a:t>
            </a:r>
            <a:endParaRPr i="1" sz="1900">
              <a:solidFill>
                <a:srgbClr val="1D232A"/>
              </a:solidFill>
              <a:latin typeface="Lora"/>
              <a:ea typeface="Lora"/>
              <a:cs typeface="Lora"/>
              <a:sym typeface="Lora"/>
            </a:endParaRPr>
          </a:p>
        </p:txBody>
      </p:sp>
      <p:sp>
        <p:nvSpPr>
          <p:cNvPr id="643" name="Google Shape;643;p23"/>
          <p:cNvSpPr/>
          <p:nvPr/>
        </p:nvSpPr>
        <p:spPr>
          <a:xfrm>
            <a:off x="7802880" y="2795992"/>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4" name="Google Shape;644;p23"/>
          <p:cNvSpPr/>
          <p:nvPr/>
        </p:nvSpPr>
        <p:spPr>
          <a:xfrm>
            <a:off x="7802880" y="2795992"/>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5" name="Google Shape;645;p23"/>
          <p:cNvSpPr txBox="1"/>
          <p:nvPr/>
        </p:nvSpPr>
        <p:spPr>
          <a:xfrm>
            <a:off x="7936992" y="2820416"/>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Base NLA, same item</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is mid-sentence inside a quoted error string …</a:t>
            </a:r>
            <a:endParaRPr i="1" sz="1900">
              <a:solidFill>
                <a:srgbClr val="1D232A"/>
              </a:solidFill>
              <a:latin typeface="Lora"/>
              <a:ea typeface="Lora"/>
              <a:cs typeface="Lora"/>
              <a:sym typeface="Lora"/>
            </a:endParaRPr>
          </a:p>
        </p:txBody>
      </p:sp>
      <p:sp>
        <p:nvSpPr>
          <p:cNvPr id="646" name="Google Shape;646;p23"/>
          <p:cNvSpPr/>
          <p:nvPr/>
        </p:nvSpPr>
        <p:spPr>
          <a:xfrm>
            <a:off x="7802880" y="4088344"/>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7" name="Google Shape;647;p23"/>
          <p:cNvSpPr/>
          <p:nvPr/>
        </p:nvSpPr>
        <p:spPr>
          <a:xfrm>
            <a:off x="7802880" y="4088344"/>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48" name="Google Shape;648;p23"/>
          <p:cNvSpPr txBox="1"/>
          <p:nvPr/>
        </p:nvSpPr>
        <p:spPr>
          <a:xfrm>
            <a:off x="7936992" y="4112768"/>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Reconstruction (FVE)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Adapter 0.507 vs control 0.512.</a:t>
            </a:r>
            <a:endParaRPr sz="1900">
              <a:solidFill>
                <a:srgbClr val="1D232A"/>
              </a:solidFill>
              <a:latin typeface="Source Sans 3"/>
              <a:ea typeface="Source Sans 3"/>
              <a:cs typeface="Source Sans 3"/>
              <a:sym typeface="Source Sans 3"/>
            </a:endParaRPr>
          </a:p>
        </p:txBody>
      </p:sp>
      <p:sp>
        <p:nvSpPr>
          <p:cNvPr id="649" name="Google Shape;649;p23"/>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50" name="Google Shape;650;p23"/>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2-(b): naming isn't blocked by capacity, on rows it was trained on.</a:t>
            </a:r>
            <a:endParaRPr sz="1900">
              <a:solidFill>
                <a:srgbClr val="1D232A"/>
              </a:solidFill>
              <a:latin typeface="Source Sans 3"/>
              <a:ea typeface="Source Sans 3"/>
              <a:cs typeface="Source Sans 3"/>
              <a:sym typeface="Source Sans 3"/>
            </a:endParaRPr>
          </a:p>
        </p:txBody>
      </p:sp>
      <p:sp>
        <p:nvSpPr>
          <p:cNvPr id="651" name="Google Shape;651;p23"/>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Base NLA's 0/512 is a substring test for the trained sentence; it already says 'inside a quoted error string'. Wilson 95%.</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Markdown is barely readable; list depth 11/24. 3 of 5 predictions failed. Card: first correct item. Exp 30.</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4"/>
          <p:cNvSpPr txBox="1"/>
          <p:nvPr>
            <p:ph idx="1" type="body"/>
          </p:nvPr>
        </p:nvSpPr>
        <p:spPr>
          <a:xfrm>
            <a:off x="548640" y="292608"/>
            <a:ext cx="8778240" cy="2743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THE CENTRAL CAUSAL EXPERIMENT · METHOD</a:t>
            </a:r>
            <a:endParaRPr sz="1100"/>
          </a:p>
        </p:txBody>
      </p:sp>
      <p:sp>
        <p:nvSpPr>
          <p:cNvPr id="658" name="Google Shape;658;p24"/>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500">
                <a:solidFill>
                  <a:srgbClr val="1D232A"/>
                </a:solidFill>
                <a:latin typeface="Arial"/>
                <a:ea typeface="Arial"/>
                <a:cs typeface="Arial"/>
                <a:sym typeface="Arial"/>
              </a:rPr>
              <a:t>Push the answer upstream at block 40, then put one clean token back at a later block</a:t>
            </a:r>
            <a:endParaRPr sz="2500">
              <a:latin typeface="Arial"/>
              <a:ea typeface="Arial"/>
              <a:cs typeface="Arial"/>
              <a:sym typeface="Arial"/>
            </a:endParaRPr>
          </a:p>
        </p:txBody>
      </p:sp>
      <p:sp>
        <p:nvSpPr>
          <p:cNvPr id="659" name="Google Shape;659;p24"/>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24"/>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661" name="Google Shape;661;p24"/>
          <p:cNvSpPr/>
          <p:nvPr/>
        </p:nvSpPr>
        <p:spPr>
          <a:xfrm>
            <a:off x="10753344" y="310896"/>
            <a:ext cx="182880" cy="18288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4"/>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663" name="Google Shape;663;p24"/>
          <p:cNvSpPr/>
          <p:nvPr/>
        </p:nvSpPr>
        <p:spPr>
          <a:xfrm>
            <a:off x="11576304" y="310896"/>
            <a:ext cx="182880" cy="182880"/>
          </a:xfrm>
          <a:prstGeom prst="ellipse">
            <a:avLst/>
          </a:prstGeom>
          <a:solidFill>
            <a:srgbClr val="F7F5EF"/>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24"/>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665" name="Google Shape;665;p24"/>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A natural perturbation: the push is 2.23× the median activation norm, and a random direction of that size flips 42 of 84 pair preferences (the real one 84 of 84). Restoration measures sensitivity at one token, not when the model first "knows".</a:t>
            </a:r>
            <a:endParaRPr sz="1200"/>
          </a:p>
        </p:txBody>
      </p:sp>
      <p:sp>
        <p:nvSpPr>
          <p:cNvPr id="666" name="Google Shape;666;p24"/>
          <p:cNvSpPr txBox="1"/>
          <p:nvPr/>
        </p:nvSpPr>
        <p:spPr>
          <a:xfrm>
            <a:off x="1325880" y="1481328"/>
            <a:ext cx="2926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tokens of the prompt →</a:t>
            </a:r>
            <a:endParaRPr sz="1300">
              <a:solidFill>
                <a:schemeClr val="dk1"/>
              </a:solidFill>
              <a:latin typeface="Calibri"/>
              <a:ea typeface="Calibri"/>
              <a:cs typeface="Calibri"/>
              <a:sym typeface="Calibri"/>
            </a:endParaRPr>
          </a:p>
        </p:txBody>
      </p:sp>
      <p:sp>
        <p:nvSpPr>
          <p:cNvPr id="667" name="Google Shape;667;p24"/>
          <p:cNvSpPr txBox="1"/>
          <p:nvPr/>
        </p:nvSpPr>
        <p:spPr>
          <a:xfrm>
            <a:off x="320040" y="1901952"/>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36</a:t>
            </a:r>
            <a:endParaRPr sz="1300">
              <a:solidFill>
                <a:schemeClr val="dk1"/>
              </a:solidFill>
              <a:latin typeface="Calibri"/>
              <a:ea typeface="Calibri"/>
              <a:cs typeface="Calibri"/>
              <a:sym typeface="Calibri"/>
            </a:endParaRPr>
          </a:p>
        </p:txBody>
      </p:sp>
      <p:sp>
        <p:nvSpPr>
          <p:cNvPr id="668" name="Google Shape;668;p24"/>
          <p:cNvSpPr txBox="1"/>
          <p:nvPr/>
        </p:nvSpPr>
        <p:spPr>
          <a:xfrm>
            <a:off x="320040" y="2304288"/>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C8622B"/>
              </a:buClr>
              <a:buSzPts val="1300"/>
              <a:buFont typeface="Calibri"/>
              <a:buNone/>
            </a:pPr>
            <a:r>
              <a:rPr b="1" lang="en-US" sz="1300">
                <a:solidFill>
                  <a:srgbClr val="C8622B"/>
                </a:solidFill>
                <a:latin typeface="Calibri"/>
                <a:ea typeface="Calibri"/>
                <a:cs typeface="Calibri"/>
                <a:sym typeface="Calibri"/>
              </a:rPr>
              <a:t>block 40</a:t>
            </a:r>
            <a:endParaRPr sz="1300">
              <a:solidFill>
                <a:schemeClr val="dk1"/>
              </a:solidFill>
              <a:latin typeface="Calibri"/>
              <a:ea typeface="Calibri"/>
              <a:cs typeface="Calibri"/>
              <a:sym typeface="Calibri"/>
            </a:endParaRPr>
          </a:p>
        </p:txBody>
      </p:sp>
      <p:sp>
        <p:nvSpPr>
          <p:cNvPr id="669" name="Google Shape;669;p24"/>
          <p:cNvSpPr txBox="1"/>
          <p:nvPr/>
        </p:nvSpPr>
        <p:spPr>
          <a:xfrm>
            <a:off x="320040" y="2706624"/>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44</a:t>
            </a:r>
            <a:endParaRPr sz="1300">
              <a:solidFill>
                <a:schemeClr val="dk1"/>
              </a:solidFill>
              <a:latin typeface="Calibri"/>
              <a:ea typeface="Calibri"/>
              <a:cs typeface="Calibri"/>
              <a:sym typeface="Calibri"/>
            </a:endParaRPr>
          </a:p>
        </p:txBody>
      </p:sp>
      <p:sp>
        <p:nvSpPr>
          <p:cNvPr id="670" name="Google Shape;670;p24"/>
          <p:cNvSpPr txBox="1"/>
          <p:nvPr/>
        </p:nvSpPr>
        <p:spPr>
          <a:xfrm>
            <a:off x="320040" y="3108960"/>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48</a:t>
            </a:r>
            <a:endParaRPr sz="1300">
              <a:solidFill>
                <a:schemeClr val="dk1"/>
              </a:solidFill>
              <a:latin typeface="Calibri"/>
              <a:ea typeface="Calibri"/>
              <a:cs typeface="Calibri"/>
              <a:sym typeface="Calibri"/>
            </a:endParaRPr>
          </a:p>
        </p:txBody>
      </p:sp>
      <p:sp>
        <p:nvSpPr>
          <p:cNvPr id="671" name="Google Shape;671;p24"/>
          <p:cNvSpPr txBox="1"/>
          <p:nvPr/>
        </p:nvSpPr>
        <p:spPr>
          <a:xfrm>
            <a:off x="320040" y="3511296"/>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52</a:t>
            </a:r>
            <a:endParaRPr sz="1300">
              <a:solidFill>
                <a:schemeClr val="dk1"/>
              </a:solidFill>
              <a:latin typeface="Calibri"/>
              <a:ea typeface="Calibri"/>
              <a:cs typeface="Calibri"/>
              <a:sym typeface="Calibri"/>
            </a:endParaRPr>
          </a:p>
        </p:txBody>
      </p:sp>
      <p:sp>
        <p:nvSpPr>
          <p:cNvPr id="672" name="Google Shape;672;p24"/>
          <p:cNvSpPr txBox="1"/>
          <p:nvPr/>
        </p:nvSpPr>
        <p:spPr>
          <a:xfrm>
            <a:off x="320040" y="3913632"/>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56</a:t>
            </a:r>
            <a:endParaRPr sz="1300">
              <a:solidFill>
                <a:schemeClr val="dk1"/>
              </a:solidFill>
              <a:latin typeface="Calibri"/>
              <a:ea typeface="Calibri"/>
              <a:cs typeface="Calibri"/>
              <a:sym typeface="Calibri"/>
            </a:endParaRPr>
          </a:p>
        </p:txBody>
      </p:sp>
      <p:sp>
        <p:nvSpPr>
          <p:cNvPr id="673" name="Google Shape;673;p24"/>
          <p:cNvSpPr txBox="1"/>
          <p:nvPr/>
        </p:nvSpPr>
        <p:spPr>
          <a:xfrm>
            <a:off x="320040" y="4315968"/>
            <a:ext cx="914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block 60</a:t>
            </a:r>
            <a:endParaRPr sz="1300">
              <a:solidFill>
                <a:schemeClr val="dk1"/>
              </a:solidFill>
              <a:latin typeface="Calibri"/>
              <a:ea typeface="Calibri"/>
              <a:cs typeface="Calibri"/>
              <a:sym typeface="Calibri"/>
            </a:endParaRPr>
          </a:p>
        </p:txBody>
      </p:sp>
      <p:sp>
        <p:nvSpPr>
          <p:cNvPr id="674" name="Google Shape;674;p24"/>
          <p:cNvSpPr/>
          <p:nvPr/>
        </p:nvSpPr>
        <p:spPr>
          <a:xfrm>
            <a:off x="1325880"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24"/>
          <p:cNvSpPr/>
          <p:nvPr/>
        </p:nvSpPr>
        <p:spPr>
          <a:xfrm>
            <a:off x="1755648"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24"/>
          <p:cNvSpPr/>
          <p:nvPr/>
        </p:nvSpPr>
        <p:spPr>
          <a:xfrm>
            <a:off x="2185416"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24"/>
          <p:cNvSpPr/>
          <p:nvPr/>
        </p:nvSpPr>
        <p:spPr>
          <a:xfrm>
            <a:off x="2615184"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24"/>
          <p:cNvSpPr/>
          <p:nvPr/>
        </p:nvSpPr>
        <p:spPr>
          <a:xfrm>
            <a:off x="3044952"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24"/>
          <p:cNvSpPr/>
          <p:nvPr/>
        </p:nvSpPr>
        <p:spPr>
          <a:xfrm>
            <a:off x="3474720"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24"/>
          <p:cNvSpPr/>
          <p:nvPr/>
        </p:nvSpPr>
        <p:spPr>
          <a:xfrm>
            <a:off x="3904488"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24"/>
          <p:cNvSpPr/>
          <p:nvPr/>
        </p:nvSpPr>
        <p:spPr>
          <a:xfrm>
            <a:off x="4334256"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24"/>
          <p:cNvSpPr/>
          <p:nvPr/>
        </p:nvSpPr>
        <p:spPr>
          <a:xfrm>
            <a:off x="4764024"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24"/>
          <p:cNvSpPr/>
          <p:nvPr/>
        </p:nvSpPr>
        <p:spPr>
          <a:xfrm>
            <a:off x="5193792" y="182880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24"/>
          <p:cNvSpPr/>
          <p:nvPr/>
        </p:nvSpPr>
        <p:spPr>
          <a:xfrm>
            <a:off x="1325880" y="223113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24"/>
          <p:cNvSpPr/>
          <p:nvPr/>
        </p:nvSpPr>
        <p:spPr>
          <a:xfrm>
            <a:off x="1755648"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24"/>
          <p:cNvSpPr/>
          <p:nvPr/>
        </p:nvSpPr>
        <p:spPr>
          <a:xfrm>
            <a:off x="2185416"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24"/>
          <p:cNvSpPr/>
          <p:nvPr/>
        </p:nvSpPr>
        <p:spPr>
          <a:xfrm>
            <a:off x="2615184"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4"/>
          <p:cNvSpPr/>
          <p:nvPr/>
        </p:nvSpPr>
        <p:spPr>
          <a:xfrm>
            <a:off x="3044952"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24"/>
          <p:cNvSpPr/>
          <p:nvPr/>
        </p:nvSpPr>
        <p:spPr>
          <a:xfrm>
            <a:off x="3474720"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24"/>
          <p:cNvSpPr/>
          <p:nvPr/>
        </p:nvSpPr>
        <p:spPr>
          <a:xfrm>
            <a:off x="3904488"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24"/>
          <p:cNvSpPr/>
          <p:nvPr/>
        </p:nvSpPr>
        <p:spPr>
          <a:xfrm>
            <a:off x="4334256"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24"/>
          <p:cNvSpPr/>
          <p:nvPr/>
        </p:nvSpPr>
        <p:spPr>
          <a:xfrm>
            <a:off x="4764024" y="2231136"/>
            <a:ext cx="386791" cy="346009"/>
          </a:xfrm>
          <a:prstGeom prst="rect">
            <a:avLst/>
          </a:prstGeom>
          <a:solidFill>
            <a:srgbClr val="C8622B"/>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24"/>
          <p:cNvSpPr/>
          <p:nvPr/>
        </p:nvSpPr>
        <p:spPr>
          <a:xfrm>
            <a:off x="5193792" y="223113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24"/>
          <p:cNvSpPr/>
          <p:nvPr/>
        </p:nvSpPr>
        <p:spPr>
          <a:xfrm>
            <a:off x="1325880"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24"/>
          <p:cNvSpPr/>
          <p:nvPr/>
        </p:nvSpPr>
        <p:spPr>
          <a:xfrm>
            <a:off x="1755648"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24"/>
          <p:cNvSpPr/>
          <p:nvPr/>
        </p:nvSpPr>
        <p:spPr>
          <a:xfrm>
            <a:off x="2185416"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24"/>
          <p:cNvSpPr/>
          <p:nvPr/>
        </p:nvSpPr>
        <p:spPr>
          <a:xfrm>
            <a:off x="2615184"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24"/>
          <p:cNvSpPr/>
          <p:nvPr/>
        </p:nvSpPr>
        <p:spPr>
          <a:xfrm>
            <a:off x="3044952"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24"/>
          <p:cNvSpPr/>
          <p:nvPr/>
        </p:nvSpPr>
        <p:spPr>
          <a:xfrm>
            <a:off x="3474720"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24"/>
          <p:cNvSpPr/>
          <p:nvPr/>
        </p:nvSpPr>
        <p:spPr>
          <a:xfrm>
            <a:off x="3904488"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24"/>
          <p:cNvSpPr/>
          <p:nvPr/>
        </p:nvSpPr>
        <p:spPr>
          <a:xfrm>
            <a:off x="4334256"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24"/>
          <p:cNvSpPr/>
          <p:nvPr/>
        </p:nvSpPr>
        <p:spPr>
          <a:xfrm>
            <a:off x="4764024"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24"/>
          <p:cNvSpPr/>
          <p:nvPr/>
        </p:nvSpPr>
        <p:spPr>
          <a:xfrm>
            <a:off x="5193792" y="2633472"/>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24"/>
          <p:cNvSpPr/>
          <p:nvPr/>
        </p:nvSpPr>
        <p:spPr>
          <a:xfrm>
            <a:off x="1325880"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4"/>
          <p:cNvSpPr/>
          <p:nvPr/>
        </p:nvSpPr>
        <p:spPr>
          <a:xfrm>
            <a:off x="1755648"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24"/>
          <p:cNvSpPr/>
          <p:nvPr/>
        </p:nvSpPr>
        <p:spPr>
          <a:xfrm>
            <a:off x="2185416"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24"/>
          <p:cNvSpPr/>
          <p:nvPr/>
        </p:nvSpPr>
        <p:spPr>
          <a:xfrm>
            <a:off x="2615184"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4"/>
          <p:cNvSpPr/>
          <p:nvPr/>
        </p:nvSpPr>
        <p:spPr>
          <a:xfrm>
            <a:off x="3044952"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4"/>
          <p:cNvSpPr/>
          <p:nvPr/>
        </p:nvSpPr>
        <p:spPr>
          <a:xfrm>
            <a:off x="3474720"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24"/>
          <p:cNvSpPr/>
          <p:nvPr/>
        </p:nvSpPr>
        <p:spPr>
          <a:xfrm>
            <a:off x="3904488"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24"/>
          <p:cNvSpPr/>
          <p:nvPr/>
        </p:nvSpPr>
        <p:spPr>
          <a:xfrm>
            <a:off x="4334256"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24"/>
          <p:cNvSpPr/>
          <p:nvPr/>
        </p:nvSpPr>
        <p:spPr>
          <a:xfrm>
            <a:off x="4764024"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24"/>
          <p:cNvSpPr/>
          <p:nvPr/>
        </p:nvSpPr>
        <p:spPr>
          <a:xfrm>
            <a:off x="5193792" y="3035808"/>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4"/>
          <p:cNvSpPr/>
          <p:nvPr/>
        </p:nvSpPr>
        <p:spPr>
          <a:xfrm>
            <a:off x="1325880"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24"/>
          <p:cNvSpPr/>
          <p:nvPr/>
        </p:nvSpPr>
        <p:spPr>
          <a:xfrm>
            <a:off x="1755648"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24"/>
          <p:cNvSpPr/>
          <p:nvPr/>
        </p:nvSpPr>
        <p:spPr>
          <a:xfrm>
            <a:off x="2185416"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24"/>
          <p:cNvSpPr/>
          <p:nvPr/>
        </p:nvSpPr>
        <p:spPr>
          <a:xfrm>
            <a:off x="2615184"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24"/>
          <p:cNvSpPr/>
          <p:nvPr/>
        </p:nvSpPr>
        <p:spPr>
          <a:xfrm>
            <a:off x="3044952"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24"/>
          <p:cNvSpPr/>
          <p:nvPr/>
        </p:nvSpPr>
        <p:spPr>
          <a:xfrm>
            <a:off x="3474720"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24"/>
          <p:cNvSpPr/>
          <p:nvPr/>
        </p:nvSpPr>
        <p:spPr>
          <a:xfrm>
            <a:off x="3904488"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24"/>
          <p:cNvSpPr/>
          <p:nvPr/>
        </p:nvSpPr>
        <p:spPr>
          <a:xfrm>
            <a:off x="4334256"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24"/>
          <p:cNvSpPr/>
          <p:nvPr/>
        </p:nvSpPr>
        <p:spPr>
          <a:xfrm>
            <a:off x="4764024"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24"/>
          <p:cNvSpPr/>
          <p:nvPr/>
        </p:nvSpPr>
        <p:spPr>
          <a:xfrm>
            <a:off x="5193792" y="3438144"/>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4"/>
          <p:cNvSpPr/>
          <p:nvPr/>
        </p:nvSpPr>
        <p:spPr>
          <a:xfrm>
            <a:off x="1325880"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24"/>
          <p:cNvSpPr/>
          <p:nvPr/>
        </p:nvSpPr>
        <p:spPr>
          <a:xfrm>
            <a:off x="1755648"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24"/>
          <p:cNvSpPr/>
          <p:nvPr/>
        </p:nvSpPr>
        <p:spPr>
          <a:xfrm>
            <a:off x="2185416"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24"/>
          <p:cNvSpPr/>
          <p:nvPr/>
        </p:nvSpPr>
        <p:spPr>
          <a:xfrm>
            <a:off x="2615184"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24"/>
          <p:cNvSpPr/>
          <p:nvPr/>
        </p:nvSpPr>
        <p:spPr>
          <a:xfrm>
            <a:off x="3044952"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24"/>
          <p:cNvSpPr/>
          <p:nvPr/>
        </p:nvSpPr>
        <p:spPr>
          <a:xfrm>
            <a:off x="3474720"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24"/>
          <p:cNvSpPr/>
          <p:nvPr/>
        </p:nvSpPr>
        <p:spPr>
          <a:xfrm>
            <a:off x="3904488"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24"/>
          <p:cNvSpPr/>
          <p:nvPr/>
        </p:nvSpPr>
        <p:spPr>
          <a:xfrm>
            <a:off x="4334256"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24"/>
          <p:cNvSpPr/>
          <p:nvPr/>
        </p:nvSpPr>
        <p:spPr>
          <a:xfrm>
            <a:off x="4764024"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24"/>
          <p:cNvSpPr/>
          <p:nvPr/>
        </p:nvSpPr>
        <p:spPr>
          <a:xfrm>
            <a:off x="5193792" y="3840480"/>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24"/>
          <p:cNvSpPr/>
          <p:nvPr/>
        </p:nvSpPr>
        <p:spPr>
          <a:xfrm>
            <a:off x="1325880"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24"/>
          <p:cNvSpPr/>
          <p:nvPr/>
        </p:nvSpPr>
        <p:spPr>
          <a:xfrm>
            <a:off x="1755648"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24"/>
          <p:cNvSpPr/>
          <p:nvPr/>
        </p:nvSpPr>
        <p:spPr>
          <a:xfrm>
            <a:off x="2185416"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24"/>
          <p:cNvSpPr/>
          <p:nvPr/>
        </p:nvSpPr>
        <p:spPr>
          <a:xfrm>
            <a:off x="2615184"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4"/>
          <p:cNvSpPr/>
          <p:nvPr/>
        </p:nvSpPr>
        <p:spPr>
          <a:xfrm>
            <a:off x="3044952"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4"/>
          <p:cNvSpPr/>
          <p:nvPr/>
        </p:nvSpPr>
        <p:spPr>
          <a:xfrm>
            <a:off x="3474720"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4"/>
          <p:cNvSpPr/>
          <p:nvPr/>
        </p:nvSpPr>
        <p:spPr>
          <a:xfrm>
            <a:off x="3904488"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24"/>
          <p:cNvSpPr/>
          <p:nvPr/>
        </p:nvSpPr>
        <p:spPr>
          <a:xfrm>
            <a:off x="4334256"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24"/>
          <p:cNvSpPr/>
          <p:nvPr/>
        </p:nvSpPr>
        <p:spPr>
          <a:xfrm>
            <a:off x="4764024"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24"/>
          <p:cNvSpPr/>
          <p:nvPr/>
        </p:nvSpPr>
        <p:spPr>
          <a:xfrm>
            <a:off x="5193792" y="4242816"/>
            <a:ext cx="386791" cy="346009"/>
          </a:xfrm>
          <a:prstGeom prst="rect">
            <a:avLst/>
          </a:prstGeom>
          <a:solidFill>
            <a:srgbClr val="ECE7D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4"/>
          <p:cNvSpPr/>
          <p:nvPr/>
        </p:nvSpPr>
        <p:spPr>
          <a:xfrm>
            <a:off x="5148072" y="1773936"/>
            <a:ext cx="478231" cy="2871216"/>
          </a:xfrm>
          <a:prstGeom prst="rect">
            <a:avLst/>
          </a:prstGeom>
          <a:solidFill>
            <a:srgbClr val="F3DCE4">
              <a:alpha val="0"/>
            </a:srgbClr>
          </a:solidFill>
          <a:ln cap="flat" cmpd="sng" w="22225">
            <a:solidFill>
              <a:srgbClr val="B0306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4"/>
          <p:cNvSpPr/>
          <p:nvPr/>
        </p:nvSpPr>
        <p:spPr>
          <a:xfrm>
            <a:off x="5294376" y="2724912"/>
            <a:ext cx="182880" cy="182880"/>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24"/>
          <p:cNvSpPr/>
          <p:nvPr/>
        </p:nvSpPr>
        <p:spPr>
          <a:xfrm>
            <a:off x="5294376" y="3127248"/>
            <a:ext cx="182880" cy="182880"/>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24"/>
          <p:cNvSpPr/>
          <p:nvPr/>
        </p:nvSpPr>
        <p:spPr>
          <a:xfrm>
            <a:off x="5294376" y="3529584"/>
            <a:ext cx="182880" cy="182880"/>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24"/>
          <p:cNvSpPr/>
          <p:nvPr/>
        </p:nvSpPr>
        <p:spPr>
          <a:xfrm>
            <a:off x="5294376" y="3931920"/>
            <a:ext cx="182880" cy="182880"/>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4"/>
          <p:cNvSpPr/>
          <p:nvPr/>
        </p:nvSpPr>
        <p:spPr>
          <a:xfrm>
            <a:off x="5294376" y="4334256"/>
            <a:ext cx="182880" cy="182880"/>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4"/>
          <p:cNvSpPr txBox="1"/>
          <p:nvPr/>
        </p:nvSpPr>
        <p:spPr>
          <a:xfrm>
            <a:off x="1755648" y="4700016"/>
            <a:ext cx="3474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622B"/>
              </a:buClr>
              <a:buSzPts val="1300"/>
              <a:buFont typeface="Calibri"/>
              <a:buNone/>
            </a:pPr>
            <a:r>
              <a:rPr b="1" lang="en-US" sz="1300">
                <a:solidFill>
                  <a:srgbClr val="C8622B"/>
                </a:solidFill>
                <a:latin typeface="Calibri"/>
                <a:ea typeface="Calibri"/>
                <a:cs typeface="Calibri"/>
                <a:sym typeface="Calibri"/>
              </a:rPr>
              <a:t>8 steered positions, t−8 … t−1</a:t>
            </a:r>
            <a:endParaRPr sz="1300">
              <a:solidFill>
                <a:schemeClr val="dk1"/>
              </a:solidFill>
              <a:latin typeface="Calibri"/>
              <a:ea typeface="Calibri"/>
              <a:cs typeface="Calibri"/>
              <a:sym typeface="Calibri"/>
            </a:endParaRPr>
          </a:p>
        </p:txBody>
      </p:sp>
      <p:sp>
        <p:nvSpPr>
          <p:cNvPr id="751" name="Google Shape;751;p24"/>
          <p:cNvSpPr txBox="1"/>
          <p:nvPr/>
        </p:nvSpPr>
        <p:spPr>
          <a:xfrm>
            <a:off x="4849978" y="146304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300"/>
              <a:buFont typeface="Calibri"/>
              <a:buNone/>
            </a:pPr>
            <a:r>
              <a:rPr b="1" lang="en-US" sz="1300">
                <a:solidFill>
                  <a:srgbClr val="B03060"/>
                </a:solidFill>
                <a:latin typeface="Calibri"/>
                <a:ea typeface="Calibri"/>
                <a:cs typeface="Calibri"/>
                <a:sym typeface="Calibri"/>
              </a:rPr>
              <a:t>read token t</a:t>
            </a:r>
            <a:endParaRPr sz="1300">
              <a:solidFill>
                <a:schemeClr val="dk1"/>
              </a:solidFill>
              <a:latin typeface="Calibri"/>
              <a:ea typeface="Calibri"/>
              <a:cs typeface="Calibri"/>
              <a:sym typeface="Calibri"/>
            </a:endParaRPr>
          </a:p>
        </p:txBody>
      </p:sp>
      <p:sp>
        <p:nvSpPr>
          <p:cNvPr id="752" name="Google Shape;752;p24"/>
          <p:cNvSpPr/>
          <p:nvPr/>
        </p:nvSpPr>
        <p:spPr>
          <a:xfrm>
            <a:off x="548640" y="5138928"/>
            <a:ext cx="201168" cy="201168"/>
          </a:xfrm>
          <a:prstGeom prst="ellipse">
            <a:avLst/>
          </a:prstGeom>
          <a:solidFill>
            <a:srgbClr val="C8622B"/>
          </a:solidFill>
          <a:ln cap="flat" cmpd="sng" w="12700">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24"/>
          <p:cNvSpPr txBox="1"/>
          <p:nvPr/>
        </p:nvSpPr>
        <p:spPr>
          <a:xfrm>
            <a:off x="868680" y="5074920"/>
            <a:ext cx="4937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alibri"/>
              <a:buNone/>
            </a:pPr>
            <a:r>
              <a:rPr lang="en-US" sz="1300">
                <a:solidFill>
                  <a:srgbClr val="1F2A33"/>
                </a:solidFill>
                <a:latin typeface="Calibri"/>
                <a:ea typeface="Calibri"/>
                <a:cs typeface="Calibri"/>
                <a:sym typeface="Calibri"/>
              </a:rPr>
              <a:t>steer: block 40, the 8 positions before t; t itself untouched</a:t>
            </a:r>
            <a:endParaRPr sz="1300">
              <a:solidFill>
                <a:schemeClr val="dk1"/>
              </a:solidFill>
              <a:latin typeface="Calibri"/>
              <a:ea typeface="Calibri"/>
              <a:cs typeface="Calibri"/>
              <a:sym typeface="Calibri"/>
            </a:endParaRPr>
          </a:p>
        </p:txBody>
      </p:sp>
      <p:sp>
        <p:nvSpPr>
          <p:cNvPr id="754" name="Google Shape;754;p24"/>
          <p:cNvSpPr/>
          <p:nvPr/>
        </p:nvSpPr>
        <p:spPr>
          <a:xfrm>
            <a:off x="548640" y="5550408"/>
            <a:ext cx="201168" cy="201168"/>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24"/>
          <p:cNvSpPr txBox="1"/>
          <p:nvPr/>
        </p:nvSpPr>
        <p:spPr>
          <a:xfrm>
            <a:off x="868680" y="5486400"/>
            <a:ext cx="4937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300"/>
              <a:buFont typeface="Calibri"/>
              <a:buNone/>
            </a:pPr>
            <a:r>
              <a:rPr lang="en-US" sz="1300">
                <a:solidFill>
                  <a:srgbClr val="1F2A33"/>
                </a:solidFill>
                <a:latin typeface="Calibri"/>
                <a:ea typeface="Calibri"/>
                <a:cs typeface="Calibri"/>
                <a:sym typeface="Calibri"/>
              </a:rPr>
              <a:t>restore: clean activation into t at one block ℓ, one run per ℓ</a:t>
            </a:r>
            <a:endParaRPr sz="1300">
              <a:solidFill>
                <a:schemeClr val="dk1"/>
              </a:solidFill>
              <a:latin typeface="Calibri"/>
              <a:ea typeface="Calibri"/>
              <a:cs typeface="Calibri"/>
              <a:sym typeface="Calibri"/>
            </a:endParaRPr>
          </a:p>
        </p:txBody>
      </p:sp>
      <p:sp>
        <p:nvSpPr>
          <p:cNvPr id="756" name="Google Shape;756;p24"/>
          <p:cNvSpPr txBox="1"/>
          <p:nvPr/>
        </p:nvSpPr>
        <p:spPr>
          <a:xfrm>
            <a:off x="5989320" y="1508760"/>
            <a:ext cx="5669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622B"/>
              </a:buClr>
              <a:buSzPts val="1600"/>
              <a:buFont typeface="Calibri"/>
              <a:buNone/>
            </a:pPr>
            <a:r>
              <a:rPr b="1" lang="en-US" sz="1600">
                <a:solidFill>
                  <a:srgbClr val="C8622B"/>
                </a:solidFill>
                <a:latin typeface="Calibri"/>
                <a:ea typeface="Calibri"/>
                <a:cs typeface="Calibri"/>
                <a:sym typeface="Calibri"/>
              </a:rPr>
              <a:t>1  Steer</a:t>
            </a:r>
            <a:endParaRPr sz="1600">
              <a:solidFill>
                <a:schemeClr val="dk1"/>
              </a:solidFill>
              <a:latin typeface="Calibri"/>
              <a:ea typeface="Calibri"/>
              <a:cs typeface="Calibri"/>
              <a:sym typeface="Calibri"/>
            </a:endParaRPr>
          </a:p>
        </p:txBody>
      </p:sp>
      <p:sp>
        <p:nvSpPr>
          <p:cNvPr id="757" name="Google Shape;757;p24"/>
          <p:cNvSpPr/>
          <p:nvPr/>
        </p:nvSpPr>
        <p:spPr>
          <a:xfrm>
            <a:off x="5989320" y="1874520"/>
            <a:ext cx="5669280" cy="502920"/>
          </a:xfrm>
          <a:prstGeom prst="roundRect">
            <a:avLst>
              <a:gd fmla="val 10909"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24"/>
          <p:cNvSpPr txBox="1"/>
          <p:nvPr/>
        </p:nvSpPr>
        <p:spPr>
          <a:xfrm>
            <a:off x="6153912" y="1929384"/>
            <a:ext cx="5340096"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h̃₄₀,ᵢ = h₄₀,ᵢ + α · ‖d‖ · d̂     i = t−8 … t−1</a:t>
            </a:r>
            <a:endParaRPr sz="1600">
              <a:solidFill>
                <a:schemeClr val="dk1"/>
              </a:solidFill>
              <a:latin typeface="Calibri"/>
              <a:ea typeface="Calibri"/>
              <a:cs typeface="Calibri"/>
              <a:sym typeface="Calibri"/>
            </a:endParaRPr>
          </a:p>
        </p:txBody>
      </p:sp>
      <p:sp>
        <p:nvSpPr>
          <p:cNvPr id="759" name="Google Shape;759;p24"/>
          <p:cNvSpPr txBox="1"/>
          <p:nvPr/>
        </p:nvSpPr>
        <p:spPr>
          <a:xfrm>
            <a:off x="5989320" y="2423160"/>
            <a:ext cx="56692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d: class-mean difference of block-40 activations on 84 dev items · at α = 8 the push is 2.23× the median block-40 norm</a:t>
            </a:r>
            <a:endParaRPr sz="1350">
              <a:solidFill>
                <a:schemeClr val="dk1"/>
              </a:solidFill>
              <a:latin typeface="Calibri"/>
              <a:ea typeface="Calibri"/>
              <a:cs typeface="Calibri"/>
              <a:sym typeface="Calibri"/>
            </a:endParaRPr>
          </a:p>
        </p:txBody>
      </p:sp>
      <p:sp>
        <p:nvSpPr>
          <p:cNvPr id="760" name="Google Shape;760;p24"/>
          <p:cNvSpPr txBox="1"/>
          <p:nvPr/>
        </p:nvSpPr>
        <p:spPr>
          <a:xfrm>
            <a:off x="5989320" y="2971800"/>
            <a:ext cx="5669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622B"/>
              </a:buClr>
              <a:buSzPts val="1600"/>
              <a:buFont typeface="Calibri"/>
              <a:buNone/>
            </a:pPr>
            <a:r>
              <a:rPr b="1" lang="en-US" sz="1600">
                <a:solidFill>
                  <a:srgbClr val="C8622B"/>
                </a:solidFill>
                <a:latin typeface="Calibri"/>
                <a:ea typeface="Calibri"/>
                <a:cs typeface="Calibri"/>
                <a:sym typeface="Calibri"/>
              </a:rPr>
              <a:t>2  Score Qwen's answer</a:t>
            </a:r>
            <a:endParaRPr sz="1600">
              <a:solidFill>
                <a:schemeClr val="dk1"/>
              </a:solidFill>
              <a:latin typeface="Calibri"/>
              <a:ea typeface="Calibri"/>
              <a:cs typeface="Calibri"/>
              <a:sym typeface="Calibri"/>
            </a:endParaRPr>
          </a:p>
        </p:txBody>
      </p:sp>
      <p:sp>
        <p:nvSpPr>
          <p:cNvPr id="761" name="Google Shape;761;p24"/>
          <p:cNvSpPr/>
          <p:nvPr/>
        </p:nvSpPr>
        <p:spPr>
          <a:xfrm>
            <a:off x="5989320" y="3337560"/>
            <a:ext cx="5669280" cy="502920"/>
          </a:xfrm>
          <a:prstGeom prst="roundRect">
            <a:avLst>
              <a:gd fmla="val 10909"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24"/>
          <p:cNvSpPr txBox="1"/>
          <p:nvPr/>
        </p:nvSpPr>
        <p:spPr>
          <a:xfrm>
            <a:off x="6153912" y="3392424"/>
            <a:ext cx="5340096"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Δ = log p(target continuation) − log p(original)</a:t>
            </a:r>
            <a:endParaRPr sz="1600">
              <a:solidFill>
                <a:schemeClr val="dk1"/>
              </a:solidFill>
              <a:latin typeface="Calibri"/>
              <a:ea typeface="Calibri"/>
              <a:cs typeface="Calibri"/>
              <a:sym typeface="Calibri"/>
            </a:endParaRPr>
          </a:p>
        </p:txBody>
      </p:sp>
      <p:sp>
        <p:nvSpPr>
          <p:cNvPr id="763" name="Google Shape;763;p24"/>
          <p:cNvSpPr txBox="1"/>
          <p:nvPr/>
        </p:nvSpPr>
        <p:spPr>
          <a:xfrm>
            <a:off x="5989320" y="3886200"/>
            <a:ext cx="56692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fixed continuations: the steering target vs Qwen's original answer</a:t>
            </a:r>
            <a:endParaRPr sz="1350">
              <a:solidFill>
                <a:schemeClr val="dk1"/>
              </a:solidFill>
              <a:latin typeface="Calibri"/>
              <a:ea typeface="Calibri"/>
              <a:cs typeface="Calibri"/>
              <a:sym typeface="Calibri"/>
            </a:endParaRPr>
          </a:p>
        </p:txBody>
      </p:sp>
      <p:sp>
        <p:nvSpPr>
          <p:cNvPr id="764" name="Google Shape;764;p24"/>
          <p:cNvSpPr txBox="1"/>
          <p:nvPr/>
        </p:nvSpPr>
        <p:spPr>
          <a:xfrm>
            <a:off x="5989320" y="4434840"/>
            <a:ext cx="5669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7F7A"/>
              </a:buClr>
              <a:buSzPts val="1600"/>
              <a:buFont typeface="Calibri"/>
              <a:buNone/>
            </a:pPr>
            <a:r>
              <a:rPr b="1" lang="en-US" sz="1600">
                <a:solidFill>
                  <a:srgbClr val="2E7F7A"/>
                </a:solidFill>
                <a:latin typeface="Calibri"/>
                <a:ea typeface="Calibri"/>
                <a:cs typeface="Calibri"/>
                <a:sym typeface="Calibri"/>
              </a:rPr>
              <a:t>3  Restore one cell, measure what is undone</a:t>
            </a:r>
            <a:endParaRPr sz="1600">
              <a:solidFill>
                <a:schemeClr val="dk1"/>
              </a:solidFill>
              <a:latin typeface="Calibri"/>
              <a:ea typeface="Calibri"/>
              <a:cs typeface="Calibri"/>
              <a:sym typeface="Calibri"/>
            </a:endParaRPr>
          </a:p>
        </p:txBody>
      </p:sp>
      <p:sp>
        <p:nvSpPr>
          <p:cNvPr id="765" name="Google Shape;765;p24"/>
          <p:cNvSpPr/>
          <p:nvPr/>
        </p:nvSpPr>
        <p:spPr>
          <a:xfrm>
            <a:off x="5989320" y="4800600"/>
            <a:ext cx="5669280" cy="502920"/>
          </a:xfrm>
          <a:prstGeom prst="roundRect">
            <a:avLst>
              <a:gd fmla="val 10909"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24"/>
          <p:cNvSpPr txBox="1"/>
          <p:nvPr/>
        </p:nvSpPr>
        <p:spPr>
          <a:xfrm>
            <a:off x="6153912" y="4855464"/>
            <a:ext cx="5340096"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mbria Math"/>
              <a:buNone/>
            </a:pPr>
            <a:r>
              <a:rPr lang="en-US" sz="1600">
                <a:solidFill>
                  <a:srgbClr val="1F2A33"/>
                </a:solidFill>
                <a:latin typeface="Cambria Math"/>
                <a:ea typeface="Cambria Math"/>
                <a:cs typeface="Cambria Math"/>
                <a:sym typeface="Cambria Math"/>
              </a:rPr>
              <a:t>R_ℓ = (Δ_steered − Δ_restored,ℓ) / (Δ_steered − Δ_clean)</a:t>
            </a:r>
            <a:endParaRPr sz="1600">
              <a:solidFill>
                <a:schemeClr val="dk1"/>
              </a:solidFill>
              <a:latin typeface="Calibri"/>
              <a:ea typeface="Calibri"/>
              <a:cs typeface="Calibri"/>
              <a:sym typeface="Calibri"/>
            </a:endParaRPr>
          </a:p>
        </p:txBody>
      </p:sp>
      <p:sp>
        <p:nvSpPr>
          <p:cNvPr id="767" name="Google Shape;767;p24"/>
          <p:cNvSpPr txBox="1"/>
          <p:nvPr/>
        </p:nvSpPr>
        <p:spPr>
          <a:xfrm>
            <a:off x="5989320" y="5349240"/>
            <a:ext cx="56692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0: nothing undone · 1: the whole push undone · median over 84 items</a:t>
            </a:r>
            <a:endParaRPr sz="1350">
              <a:solidFill>
                <a:schemeClr val="dk1"/>
              </a:solidFill>
              <a:latin typeface="Calibri"/>
              <a:ea typeface="Calibri"/>
              <a:cs typeface="Calibri"/>
              <a:sym typeface="Calibri"/>
            </a:endParaRPr>
          </a:p>
        </p:txBody>
      </p:sp>
      <p:sp>
        <p:nvSpPr>
          <p:cNvPr id="768" name="Google Shape;768;p24"/>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25"/>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THE CENTRAL CAUSAL EXPERIMENT · RESULT</a:t>
            </a:r>
            <a:endParaRPr sz="1100"/>
          </a:p>
        </p:txBody>
      </p:sp>
      <p:sp>
        <p:nvSpPr>
          <p:cNvPr id="775" name="Google Shape;775;p25"/>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R</a:t>
            </a:r>
            <a:r>
              <a:rPr b="1" lang="en-US" sz="2700">
                <a:solidFill>
                  <a:schemeClr val="dk1"/>
                </a:solidFill>
                <a:latin typeface="Arial"/>
                <a:ea typeface="Arial"/>
                <a:cs typeface="Arial"/>
                <a:sym typeface="Arial"/>
              </a:rPr>
              <a:t>estoring the read token becomes strongly effective between blocks 48 and 52</a:t>
            </a:r>
            <a:endParaRPr b="1" sz="2700">
              <a:latin typeface="Arial"/>
              <a:ea typeface="Arial"/>
              <a:cs typeface="Arial"/>
              <a:sym typeface="Arial"/>
            </a:endParaRPr>
          </a:p>
        </p:txBody>
      </p:sp>
      <p:sp>
        <p:nvSpPr>
          <p:cNvPr id="776" name="Google Shape;776;p25"/>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25"/>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778" name="Google Shape;778;p25"/>
          <p:cNvSpPr/>
          <p:nvPr/>
        </p:nvSpPr>
        <p:spPr>
          <a:xfrm>
            <a:off x="10753344" y="310896"/>
            <a:ext cx="183000" cy="18300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25"/>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780" name="Google Shape;780;p25"/>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5"/>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782" name="Google Shape;782;p25"/>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Generality: one bank under a 2.2× push. The bank's language row is non-monotone (R 0.29 already at block 44). R is a median over 84 items (52: 0.66 [0.51, 0.80]), not when the model first computes the answer.</a:t>
            </a:r>
            <a:endParaRPr sz="1200"/>
          </a:p>
        </p:txBody>
      </p:sp>
      <p:pic>
        <p:nvPicPr>
          <p:cNvPr id="783" name="Google Shape;783;p25"/>
          <p:cNvPicPr preferRelativeResize="0"/>
          <p:nvPr/>
        </p:nvPicPr>
        <p:blipFill rotWithShape="1">
          <a:blip r:embed="rId3">
            <a:alphaModFix/>
          </a:blip>
          <a:srcRect b="0" l="0" r="0" t="0"/>
          <a:stretch/>
        </p:blipFill>
        <p:spPr>
          <a:xfrm>
            <a:off x="548640" y="1600200"/>
            <a:ext cx="7041000" cy="4206300"/>
          </a:xfrm>
          <a:prstGeom prst="rect">
            <a:avLst/>
          </a:prstGeom>
          <a:noFill/>
          <a:ln>
            <a:noFill/>
          </a:ln>
        </p:spPr>
      </p:pic>
      <p:sp>
        <p:nvSpPr>
          <p:cNvPr id="784" name="Google Shape;784;p25"/>
          <p:cNvSpPr/>
          <p:nvPr/>
        </p:nvSpPr>
        <p:spPr>
          <a:xfrm>
            <a:off x="7909560" y="1600200"/>
            <a:ext cx="3749100" cy="4206300"/>
          </a:xfrm>
          <a:prstGeom prst="roundRect">
            <a:avLst>
              <a:gd fmla="val 1463"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5"/>
          <p:cNvSpPr txBox="1"/>
          <p:nvPr/>
        </p:nvSpPr>
        <p:spPr>
          <a:xfrm>
            <a:off x="8092440" y="1737360"/>
            <a:ext cx="33834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Two different outcome measures</a:t>
            </a:r>
            <a:endParaRPr sz="1400">
              <a:solidFill>
                <a:schemeClr val="dk1"/>
              </a:solidFill>
              <a:latin typeface="Calibri"/>
              <a:ea typeface="Calibri"/>
              <a:cs typeface="Calibri"/>
              <a:sym typeface="Calibri"/>
            </a:endParaRPr>
          </a:p>
        </p:txBody>
      </p:sp>
      <p:sp>
        <p:nvSpPr>
          <p:cNvPr id="786" name="Google Shape;786;p25"/>
          <p:cNvSpPr txBox="1"/>
          <p:nvPr/>
        </p:nvSpPr>
        <p:spPr>
          <a:xfrm>
            <a:off x="8092440" y="2103120"/>
            <a:ext cx="33834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622B"/>
              </a:buClr>
              <a:buSzPts val="3000"/>
              <a:buFont typeface="Cambria"/>
              <a:buNone/>
            </a:pPr>
            <a:r>
              <a:rPr b="1" lang="en-US" sz="3000">
                <a:solidFill>
                  <a:srgbClr val="C8622B"/>
                </a:solidFill>
                <a:latin typeface="Cambria"/>
                <a:ea typeface="Cambria"/>
                <a:cs typeface="Cambria"/>
                <a:sym typeface="Cambria"/>
              </a:rPr>
              <a:t>84 / 84</a:t>
            </a:r>
            <a:endParaRPr sz="3000">
              <a:solidFill>
                <a:schemeClr val="dk1"/>
              </a:solidFill>
              <a:latin typeface="Calibri"/>
              <a:ea typeface="Calibri"/>
              <a:cs typeface="Calibri"/>
              <a:sym typeface="Calibri"/>
            </a:endParaRPr>
          </a:p>
        </p:txBody>
      </p:sp>
      <p:sp>
        <p:nvSpPr>
          <p:cNvPr id="787" name="Google Shape;787;p25"/>
          <p:cNvSpPr txBox="1"/>
          <p:nvPr/>
        </p:nvSpPr>
        <p:spPr>
          <a:xfrm>
            <a:off x="8092440" y="2651760"/>
            <a:ext cx="33834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Qwen's pair logit prefers the new answer under the push (E104)</a:t>
            </a:r>
            <a:endParaRPr sz="1400">
              <a:solidFill>
                <a:schemeClr val="dk1"/>
              </a:solidFill>
              <a:latin typeface="Calibri"/>
              <a:ea typeface="Calibri"/>
              <a:cs typeface="Calibri"/>
              <a:sym typeface="Calibri"/>
            </a:endParaRPr>
          </a:p>
        </p:txBody>
      </p:sp>
      <p:sp>
        <p:nvSpPr>
          <p:cNvPr id="788" name="Google Shape;788;p25"/>
          <p:cNvSpPr txBox="1"/>
          <p:nvPr/>
        </p:nvSpPr>
        <p:spPr>
          <a:xfrm>
            <a:off x="8092440" y="3291840"/>
            <a:ext cx="33834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3000"/>
              <a:buFont typeface="Cambria"/>
              <a:buNone/>
            </a:pPr>
            <a:r>
              <a:rPr b="1" lang="en-US" sz="3000">
                <a:solidFill>
                  <a:srgbClr val="B03060"/>
                </a:solidFill>
                <a:latin typeface="Cambria"/>
                <a:ea typeface="Cambria"/>
                <a:cs typeface="Cambria"/>
                <a:sym typeface="Cambria"/>
              </a:rPr>
              <a:t>43 / 84</a:t>
            </a:r>
            <a:endParaRPr sz="3000">
              <a:solidFill>
                <a:schemeClr val="dk1"/>
              </a:solidFill>
              <a:latin typeface="Calibri"/>
              <a:ea typeface="Calibri"/>
              <a:cs typeface="Calibri"/>
              <a:sym typeface="Calibri"/>
            </a:endParaRPr>
          </a:p>
        </p:txBody>
      </p:sp>
      <p:sp>
        <p:nvSpPr>
          <p:cNvPr id="789" name="Google Shape;789;p25"/>
          <p:cNvSpPr txBox="1"/>
          <p:nvPr/>
        </p:nvSpPr>
        <p:spPr>
          <a:xfrm>
            <a:off x="8092440" y="3840480"/>
            <a:ext cx="33834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Qwen's own free text states the new answer; 41 state neither (E131, NOT MET)</a:t>
            </a:r>
            <a:endParaRPr sz="1400">
              <a:solidFill>
                <a:schemeClr val="dk1"/>
              </a:solidFill>
              <a:latin typeface="Calibri"/>
              <a:ea typeface="Calibri"/>
              <a:cs typeface="Calibri"/>
              <a:sym typeface="Calibri"/>
            </a:endParaRPr>
          </a:p>
        </p:txBody>
      </p:sp>
      <p:sp>
        <p:nvSpPr>
          <p:cNvPr id="790" name="Google Shape;790;p25"/>
          <p:cNvSpPr txBox="1"/>
          <p:nvPr/>
        </p:nvSpPr>
        <p:spPr>
          <a:xfrm>
            <a:off x="8092440" y="4480560"/>
            <a:ext cx="3383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2200"/>
              <a:buFont typeface="Calibri"/>
              <a:buNone/>
            </a:pPr>
            <a:r>
              <a:rPr b="1" lang="en-US" sz="2200">
                <a:solidFill>
                  <a:srgbClr val="B03060"/>
                </a:solidFill>
                <a:latin typeface="Calibri"/>
                <a:ea typeface="Calibri"/>
                <a:cs typeface="Calibri"/>
                <a:sym typeface="Calibri"/>
              </a:rPr>
              <a:t>S −0.52 at 44, +1.00 at 52</a:t>
            </a:r>
            <a:endParaRPr sz="2200">
              <a:solidFill>
                <a:schemeClr val="dk1"/>
              </a:solidFill>
              <a:latin typeface="Calibri"/>
              <a:ea typeface="Calibri"/>
              <a:cs typeface="Calibri"/>
              <a:sym typeface="Calibri"/>
            </a:endParaRPr>
          </a:p>
        </p:txBody>
      </p:sp>
      <p:sp>
        <p:nvSpPr>
          <p:cNvPr id="791" name="Google Shape;791;p25"/>
          <p:cNvSpPr txBox="1"/>
          <p:nvPr/>
        </p:nvSpPr>
        <p:spPr>
          <a:xfrm>
            <a:off x="8092440" y="4937760"/>
            <a:ext cx="3383400" cy="77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Oracle reader: still the old answer at block 44; the new one on 84/84 at 52 and 60 (E109)</a:t>
            </a:r>
            <a:endParaRPr sz="1400">
              <a:solidFill>
                <a:schemeClr val="dk1"/>
              </a:solidFill>
              <a:latin typeface="Calibri"/>
              <a:ea typeface="Calibri"/>
              <a:cs typeface="Calibri"/>
              <a:sym typeface="Calibri"/>
            </a:endParaRPr>
          </a:p>
        </p:txBody>
      </p:sp>
      <p:sp>
        <p:nvSpPr>
          <p:cNvPr id="792" name="Google Shape;792;p25"/>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26"/>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NO STEERING AT ALL · DESIGN</a:t>
            </a:r>
            <a:endParaRPr sz="1100"/>
          </a:p>
        </p:txBody>
      </p:sp>
      <p:sp>
        <p:nvSpPr>
          <p:cNvPr id="799" name="Google Shape;799;p26"/>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Unsteered transfer chains: swap only the final " by" token with its opposite twin</a:t>
            </a:r>
            <a:endParaRPr sz="2700"/>
          </a:p>
        </p:txBody>
      </p:sp>
      <p:sp>
        <p:nvSpPr>
          <p:cNvPr id="800" name="Google Shape;800;p26"/>
          <p:cNvSpPr/>
          <p:nvPr/>
        </p:nvSpPr>
        <p:spPr>
          <a:xfrm>
            <a:off x="9930384" y="310896"/>
            <a:ext cx="183000" cy="183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6"/>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802" name="Google Shape;802;p26"/>
          <p:cNvSpPr/>
          <p:nvPr/>
        </p:nvSpPr>
        <p:spPr>
          <a:xfrm>
            <a:off x="10753344" y="310896"/>
            <a:ext cx="183000" cy="18300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26"/>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804" name="Google Shape;804;p26"/>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26"/>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806" name="Google Shape;806;p26"/>
          <p:cNvSpPr txBox="1"/>
          <p:nvPr>
            <p:ph idx="2" type="body"/>
          </p:nvPr>
        </p:nvSpPr>
        <p:spPr>
          <a:xfrm>
            <a:off x="563840" y="60809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lang="en-US" sz="1200">
                <a:solidFill>
                  <a:schemeClr val="dk1"/>
                </a:solidFill>
              </a:rPr>
              <a:t>Here nothing is steered: the read token's activation is replaced by the twin's, whose answer differs.</a:t>
            </a:r>
            <a:endParaRPr sz="1200"/>
          </a:p>
        </p:txBody>
      </p:sp>
      <p:sp>
        <p:nvSpPr>
          <p:cNvPr id="807" name="Google Shape;807;p26"/>
          <p:cNvSpPr txBox="1"/>
          <p:nvPr/>
        </p:nvSpPr>
        <p:spPr>
          <a:xfrm>
            <a:off x="548640" y="1645920"/>
            <a:ext cx="1828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Twin A</a:t>
            </a:r>
            <a:endParaRPr sz="1400">
              <a:solidFill>
                <a:schemeClr val="dk1"/>
              </a:solidFill>
              <a:latin typeface="Calibri"/>
              <a:ea typeface="Calibri"/>
              <a:cs typeface="Calibri"/>
              <a:sym typeface="Calibri"/>
            </a:endParaRPr>
          </a:p>
        </p:txBody>
      </p:sp>
      <p:sp>
        <p:nvSpPr>
          <p:cNvPr id="808" name="Google Shape;808;p26"/>
          <p:cNvSpPr/>
          <p:nvPr/>
        </p:nvSpPr>
        <p:spPr>
          <a:xfrm>
            <a:off x="548640" y="1965960"/>
            <a:ext cx="6766500" cy="1143000"/>
          </a:xfrm>
          <a:prstGeom prst="roundRect">
            <a:avLst>
              <a:gd fmla="val 4800" name="adj"/>
            </a:avLst>
          </a:prstGeom>
          <a:solidFill>
            <a:srgbClr val="FBFAF6"/>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26"/>
          <p:cNvSpPr txBox="1"/>
          <p:nvPr/>
        </p:nvSpPr>
        <p:spPr>
          <a:xfrm>
            <a:off x="694944" y="2075688"/>
            <a:ext cx="6474000" cy="94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ourier New"/>
              <a:buNone/>
            </a:pPr>
            <a:r>
              <a:rPr lang="en-US" sz="1400">
                <a:solidFill>
                  <a:srgbClr val="1F2A33"/>
                </a:solidFill>
                <a:latin typeface="Courier New"/>
                <a:ea typeface="Courier New"/>
                <a:cs typeface="Courier New"/>
                <a:sym typeface="Courier New"/>
              </a:rPr>
              <a:t>The brass key starts with Alice. Alice hands the brass key to Bob. Bob hands the brass key to Dana. Dana hands the brass key to Erin. Later, Carl asks Dana about the brass key. Bob waves to Carl. The brass key is now held by</a:t>
            </a:r>
            <a:endParaRPr sz="1400">
              <a:solidFill>
                <a:schemeClr val="dk1"/>
              </a:solidFill>
              <a:latin typeface="Calibri"/>
              <a:ea typeface="Calibri"/>
              <a:cs typeface="Calibri"/>
              <a:sym typeface="Calibri"/>
            </a:endParaRPr>
          </a:p>
        </p:txBody>
      </p:sp>
      <p:sp>
        <p:nvSpPr>
          <p:cNvPr id="810" name="Google Shape;810;p26"/>
          <p:cNvSpPr txBox="1"/>
          <p:nvPr/>
        </p:nvSpPr>
        <p:spPr>
          <a:xfrm>
            <a:off x="548640" y="3246120"/>
            <a:ext cx="5486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4C9C"/>
              </a:buClr>
              <a:buSzPts val="1400"/>
              <a:buFont typeface="Calibri"/>
              <a:buNone/>
            </a:pPr>
            <a:r>
              <a:rPr b="1" lang="en-US" sz="1400">
                <a:solidFill>
                  <a:srgbClr val="6A4C9C"/>
                </a:solidFill>
                <a:latin typeface="Calibri"/>
                <a:ea typeface="Calibri"/>
                <a:cs typeface="Calibri"/>
                <a:sym typeface="Calibri"/>
              </a:rPr>
              <a:t>Twin B · differs only in the last recipient</a:t>
            </a:r>
            <a:endParaRPr sz="1400">
              <a:solidFill>
                <a:schemeClr val="dk1"/>
              </a:solidFill>
              <a:latin typeface="Calibri"/>
              <a:ea typeface="Calibri"/>
              <a:cs typeface="Calibri"/>
              <a:sym typeface="Calibri"/>
            </a:endParaRPr>
          </a:p>
        </p:txBody>
      </p:sp>
      <p:sp>
        <p:nvSpPr>
          <p:cNvPr id="811" name="Google Shape;811;p26"/>
          <p:cNvSpPr/>
          <p:nvPr/>
        </p:nvSpPr>
        <p:spPr>
          <a:xfrm>
            <a:off x="548640" y="3566160"/>
            <a:ext cx="6766500" cy="1143000"/>
          </a:xfrm>
          <a:prstGeom prst="roundRect">
            <a:avLst>
              <a:gd fmla="val 4800" name="adj"/>
            </a:avLst>
          </a:prstGeom>
          <a:solidFill>
            <a:srgbClr val="E9E3F2"/>
          </a:solidFill>
          <a:ln cap="flat" cmpd="sng" w="9525">
            <a:solidFill>
              <a:srgbClr val="E9E3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26"/>
          <p:cNvSpPr txBox="1"/>
          <p:nvPr/>
        </p:nvSpPr>
        <p:spPr>
          <a:xfrm>
            <a:off x="694944" y="3675888"/>
            <a:ext cx="6474000" cy="94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ourier New"/>
              <a:buNone/>
            </a:pPr>
            <a:r>
              <a:rPr lang="en-US" sz="1400">
                <a:solidFill>
                  <a:srgbClr val="1F2A33"/>
                </a:solidFill>
                <a:latin typeface="Courier New"/>
                <a:ea typeface="Courier New"/>
                <a:cs typeface="Courier New"/>
                <a:sym typeface="Courier New"/>
              </a:rPr>
              <a:t>… Bob hands the brass key to Dana. Dana hands the brass key to Frank. Later, Carl asks Dana about the brass key. Bob waves to Carl. The brass key is now held by</a:t>
            </a:r>
            <a:endParaRPr sz="1400">
              <a:solidFill>
                <a:schemeClr val="dk1"/>
              </a:solidFill>
              <a:latin typeface="Calibri"/>
              <a:ea typeface="Calibri"/>
              <a:cs typeface="Calibri"/>
              <a:sym typeface="Calibri"/>
            </a:endParaRPr>
          </a:p>
        </p:txBody>
      </p:sp>
      <p:sp>
        <p:nvSpPr>
          <p:cNvPr id="813" name="Google Shape;813;p26"/>
          <p:cNvSpPr txBox="1"/>
          <p:nvPr/>
        </p:nvSpPr>
        <p:spPr>
          <a:xfrm>
            <a:off x="548640" y="4892040"/>
            <a:ext cx="67665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Anti-recency: one or two sentences after the last hand-over mention other names, so the most recent name is never the holder. Text assembled from the bank's templates for illustration; sealed items are not in the repo.</a:t>
            </a:r>
            <a:endParaRPr sz="1400">
              <a:solidFill>
                <a:schemeClr val="dk1"/>
              </a:solidFill>
              <a:latin typeface="Calibri"/>
              <a:ea typeface="Calibri"/>
              <a:cs typeface="Calibri"/>
              <a:sym typeface="Calibri"/>
            </a:endParaRPr>
          </a:p>
        </p:txBody>
      </p:sp>
      <p:sp>
        <p:nvSpPr>
          <p:cNvPr id="814" name="Google Shape;814;p26"/>
          <p:cNvSpPr txBox="1"/>
          <p:nvPr/>
        </p:nvSpPr>
        <p:spPr>
          <a:xfrm>
            <a:off x="7680960" y="1645920"/>
            <a:ext cx="40233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Swap at the raw final token " by"</a:t>
            </a:r>
            <a:endParaRPr sz="1400">
              <a:solidFill>
                <a:schemeClr val="dk1"/>
              </a:solidFill>
              <a:latin typeface="Calibri"/>
              <a:ea typeface="Calibri"/>
              <a:cs typeface="Calibri"/>
              <a:sym typeface="Calibri"/>
            </a:endParaRPr>
          </a:p>
        </p:txBody>
      </p:sp>
      <p:sp>
        <p:nvSpPr>
          <p:cNvPr id="815" name="Google Shape;815;p26"/>
          <p:cNvSpPr/>
          <p:nvPr/>
        </p:nvSpPr>
        <p:spPr>
          <a:xfrm>
            <a:off x="7863840" y="2057400"/>
            <a:ext cx="201300" cy="1812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26"/>
          <p:cNvSpPr/>
          <p:nvPr/>
        </p:nvSpPr>
        <p:spPr>
          <a:xfrm>
            <a:off x="7863840" y="2258568"/>
            <a:ext cx="201300" cy="1812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26"/>
          <p:cNvSpPr/>
          <p:nvPr/>
        </p:nvSpPr>
        <p:spPr>
          <a:xfrm>
            <a:off x="7863840" y="2459736"/>
            <a:ext cx="201300" cy="1812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6"/>
          <p:cNvSpPr/>
          <p:nvPr/>
        </p:nvSpPr>
        <p:spPr>
          <a:xfrm>
            <a:off x="7863840" y="2660904"/>
            <a:ext cx="201300" cy="1812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26"/>
          <p:cNvSpPr/>
          <p:nvPr/>
        </p:nvSpPr>
        <p:spPr>
          <a:xfrm>
            <a:off x="7863840" y="2862072"/>
            <a:ext cx="201300" cy="1812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26"/>
          <p:cNvSpPr/>
          <p:nvPr/>
        </p:nvSpPr>
        <p:spPr>
          <a:xfrm>
            <a:off x="7863840" y="3063240"/>
            <a:ext cx="201300" cy="1812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6"/>
          <p:cNvSpPr/>
          <p:nvPr/>
        </p:nvSpPr>
        <p:spPr>
          <a:xfrm>
            <a:off x="7863840" y="3264408"/>
            <a:ext cx="201300" cy="181200"/>
          </a:xfrm>
          <a:prstGeom prst="rect">
            <a:avLst/>
          </a:prstGeom>
          <a:solidFill>
            <a:srgbClr val="E4DFD5"/>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26"/>
          <p:cNvSpPr/>
          <p:nvPr/>
        </p:nvSpPr>
        <p:spPr>
          <a:xfrm>
            <a:off x="7863840" y="3465576"/>
            <a:ext cx="201300" cy="181200"/>
          </a:xfrm>
          <a:prstGeom prst="rect">
            <a:avLst/>
          </a:prstGeom>
          <a:solidFill>
            <a:srgbClr val="9A948A"/>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6"/>
          <p:cNvSpPr/>
          <p:nvPr/>
        </p:nvSpPr>
        <p:spPr>
          <a:xfrm>
            <a:off x="9966960" y="2057400"/>
            <a:ext cx="201300" cy="181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26"/>
          <p:cNvSpPr/>
          <p:nvPr/>
        </p:nvSpPr>
        <p:spPr>
          <a:xfrm>
            <a:off x="9966960" y="2258568"/>
            <a:ext cx="201300" cy="181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26"/>
          <p:cNvSpPr/>
          <p:nvPr/>
        </p:nvSpPr>
        <p:spPr>
          <a:xfrm>
            <a:off x="9966960" y="2459736"/>
            <a:ext cx="201300" cy="181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26"/>
          <p:cNvSpPr/>
          <p:nvPr/>
        </p:nvSpPr>
        <p:spPr>
          <a:xfrm>
            <a:off x="9966960" y="2660904"/>
            <a:ext cx="201300" cy="181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26"/>
          <p:cNvSpPr/>
          <p:nvPr/>
        </p:nvSpPr>
        <p:spPr>
          <a:xfrm>
            <a:off x="9966960" y="2862072"/>
            <a:ext cx="201300" cy="181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26"/>
          <p:cNvSpPr/>
          <p:nvPr/>
        </p:nvSpPr>
        <p:spPr>
          <a:xfrm>
            <a:off x="9966960" y="3063240"/>
            <a:ext cx="201300" cy="181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26"/>
          <p:cNvSpPr/>
          <p:nvPr/>
        </p:nvSpPr>
        <p:spPr>
          <a:xfrm>
            <a:off x="9966960" y="3264408"/>
            <a:ext cx="201300" cy="181200"/>
          </a:xfrm>
          <a:prstGeom prst="rect">
            <a:avLst/>
          </a:prstGeom>
          <a:solidFill>
            <a:srgbClr val="E9E3F2"/>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26"/>
          <p:cNvSpPr/>
          <p:nvPr/>
        </p:nvSpPr>
        <p:spPr>
          <a:xfrm>
            <a:off x="9966960" y="3465576"/>
            <a:ext cx="201300" cy="181200"/>
          </a:xfrm>
          <a:prstGeom prst="rect">
            <a:avLst/>
          </a:prstGeom>
          <a:solidFill>
            <a:srgbClr val="6A4C9C"/>
          </a:solidFill>
          <a:ln cap="flat" cmpd="sng" w="9525">
            <a:solidFill>
              <a:srgbClr val="F7F5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26"/>
          <p:cNvSpPr txBox="1"/>
          <p:nvPr/>
        </p:nvSpPr>
        <p:spPr>
          <a:xfrm>
            <a:off x="7589520" y="3749040"/>
            <a:ext cx="1280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00"/>
              <a:buFont typeface="Calibri"/>
              <a:buNone/>
            </a:pPr>
            <a:r>
              <a:rPr lang="en-US" sz="1300">
                <a:solidFill>
                  <a:srgbClr val="56606B"/>
                </a:solidFill>
                <a:latin typeface="Calibri"/>
                <a:ea typeface="Calibri"/>
                <a:cs typeface="Calibri"/>
                <a:sym typeface="Calibri"/>
              </a:rPr>
              <a:t>A at block ℓ</a:t>
            </a:r>
            <a:endParaRPr sz="1300">
              <a:solidFill>
                <a:schemeClr val="dk1"/>
              </a:solidFill>
              <a:latin typeface="Calibri"/>
              <a:ea typeface="Calibri"/>
              <a:cs typeface="Calibri"/>
              <a:sym typeface="Calibri"/>
            </a:endParaRPr>
          </a:p>
        </p:txBody>
      </p:sp>
      <p:sp>
        <p:nvSpPr>
          <p:cNvPr id="832" name="Google Shape;832;p26"/>
          <p:cNvSpPr txBox="1"/>
          <p:nvPr/>
        </p:nvSpPr>
        <p:spPr>
          <a:xfrm>
            <a:off x="9692640" y="3749040"/>
            <a:ext cx="1280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4C9C"/>
              </a:buClr>
              <a:buSzPts val="1300"/>
              <a:buFont typeface="Calibri"/>
              <a:buNone/>
            </a:pPr>
            <a:r>
              <a:rPr lang="en-US" sz="1300">
                <a:solidFill>
                  <a:srgbClr val="6A4C9C"/>
                </a:solidFill>
                <a:latin typeface="Calibri"/>
                <a:ea typeface="Calibri"/>
                <a:cs typeface="Calibri"/>
                <a:sym typeface="Calibri"/>
              </a:rPr>
              <a:t>B at block ℓ</a:t>
            </a:r>
            <a:endParaRPr sz="1300">
              <a:solidFill>
                <a:schemeClr val="dk1"/>
              </a:solidFill>
              <a:latin typeface="Calibri"/>
              <a:ea typeface="Calibri"/>
              <a:cs typeface="Calibri"/>
              <a:sym typeface="Calibri"/>
            </a:endParaRPr>
          </a:p>
        </p:txBody>
      </p:sp>
      <p:cxnSp>
        <p:nvCxnSpPr>
          <p:cNvPr id="833" name="Google Shape;833;p26"/>
          <p:cNvCxnSpPr/>
          <p:nvPr/>
        </p:nvCxnSpPr>
        <p:spPr>
          <a:xfrm flipH="1">
            <a:off x="8229720" y="2834640"/>
            <a:ext cx="1645800" cy="900"/>
          </a:xfrm>
          <a:prstGeom prst="straightConnector1">
            <a:avLst/>
          </a:prstGeom>
          <a:noFill/>
          <a:ln cap="flat" cmpd="sng" w="31750">
            <a:solidFill>
              <a:srgbClr val="C8622B"/>
            </a:solidFill>
            <a:prstDash val="solid"/>
            <a:round/>
            <a:headEnd len="sm" w="sm" type="none"/>
            <a:tailEnd len="med" w="med" type="triangle"/>
          </a:ln>
        </p:spPr>
      </p:cxnSp>
      <p:sp>
        <p:nvSpPr>
          <p:cNvPr id="834" name="Google Shape;834;p26"/>
          <p:cNvSpPr txBox="1"/>
          <p:nvPr/>
        </p:nvSpPr>
        <p:spPr>
          <a:xfrm>
            <a:off x="8595360" y="2468880"/>
            <a:ext cx="10974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622B"/>
              </a:buClr>
              <a:buSzPts val="1300"/>
              <a:buFont typeface="Calibri"/>
              <a:buNone/>
            </a:pPr>
            <a:r>
              <a:rPr b="1" lang="en-US" sz="1300">
                <a:solidFill>
                  <a:srgbClr val="C8622B"/>
                </a:solidFill>
                <a:latin typeface="Calibri"/>
                <a:ea typeface="Calibri"/>
                <a:cs typeface="Calibri"/>
                <a:sym typeface="Calibri"/>
              </a:rPr>
              <a:t>replace</a:t>
            </a:r>
            <a:endParaRPr sz="1300">
              <a:solidFill>
                <a:schemeClr val="dk1"/>
              </a:solidFill>
              <a:latin typeface="Calibri"/>
              <a:ea typeface="Calibri"/>
              <a:cs typeface="Calibri"/>
              <a:sym typeface="Calibri"/>
            </a:endParaRPr>
          </a:p>
        </p:txBody>
      </p:sp>
      <p:sp>
        <p:nvSpPr>
          <p:cNvPr id="835" name="Google Shape;835;p26"/>
          <p:cNvSpPr/>
          <p:nvPr/>
        </p:nvSpPr>
        <p:spPr>
          <a:xfrm>
            <a:off x="7680960" y="4206240"/>
            <a:ext cx="3977700" cy="567000"/>
          </a:xfrm>
          <a:prstGeom prst="roundRect">
            <a:avLst>
              <a:gd fmla="val 9677" name="adj"/>
            </a:avLst>
          </a:prstGeom>
          <a:solidFill>
            <a:srgbClr val="ECE7DC"/>
          </a:solidFill>
          <a:ln cap="flat" cmpd="sng" w="9525">
            <a:solidFill>
              <a:srgbClr val="ECE7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6" name="Google Shape;836;p26"/>
          <p:cNvSpPr txBox="1"/>
          <p:nvPr/>
        </p:nvSpPr>
        <p:spPr>
          <a:xfrm>
            <a:off x="7845552" y="4261104"/>
            <a:ext cx="364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mbria Math"/>
              <a:buNone/>
            </a:pPr>
            <a:r>
              <a:rPr lang="en-US" sz="1500">
                <a:solidFill>
                  <a:srgbClr val="1F2A33"/>
                </a:solidFill>
                <a:latin typeface="Cambria Math"/>
                <a:ea typeface="Cambria Math"/>
                <a:cs typeface="Cambria Math"/>
                <a:sym typeface="Cambria Math"/>
              </a:rPr>
              <a:t>R_ℓ = (Δ_swap − Δ_own) / (Δ_twin − Δ_own)</a:t>
            </a:r>
            <a:endParaRPr sz="1500">
              <a:solidFill>
                <a:schemeClr val="dk1"/>
              </a:solidFill>
              <a:latin typeface="Calibri"/>
              <a:ea typeface="Calibri"/>
              <a:cs typeface="Calibri"/>
              <a:sym typeface="Calibri"/>
            </a:endParaRPr>
          </a:p>
        </p:txBody>
      </p:sp>
      <p:sp>
        <p:nvSpPr>
          <p:cNvPr id="837" name="Google Shape;837;p26"/>
          <p:cNvSpPr txBox="1"/>
          <p:nvPr/>
        </p:nvSpPr>
        <p:spPr>
          <a:xfrm>
            <a:off x="7680960" y="4846320"/>
            <a:ext cx="39777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350"/>
              <a:buFont typeface="Calibri"/>
              <a:buNone/>
            </a:pPr>
            <a:r>
              <a:rPr lang="en-US" sz="1350">
                <a:solidFill>
                  <a:srgbClr val="56606B"/>
                </a:solidFill>
                <a:latin typeface="Calibri"/>
                <a:ea typeface="Calibri"/>
                <a:cs typeface="Calibri"/>
                <a:sym typeface="Calibri"/>
              </a:rPr>
              <a:t>Δ: Qwen's logit difference between the two recipients. 0 = no effect · 1 = behaves like the twin.</a:t>
            </a:r>
            <a:endParaRPr sz="1350">
              <a:solidFill>
                <a:schemeClr val="dk1"/>
              </a:solidFill>
              <a:latin typeface="Calibri"/>
              <a:ea typeface="Calibri"/>
              <a:cs typeface="Calibri"/>
              <a:sym typeface="Calibri"/>
            </a:endParaRPr>
          </a:p>
        </p:txBody>
      </p:sp>
      <p:sp>
        <p:nvSpPr>
          <p:cNvPr id="838" name="Google Shape;838;p26"/>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18</a:t>
            </a:r>
            <a:endParaRPr/>
          </a:p>
        </p:txBody>
      </p:sp>
      <p:sp>
        <p:nvSpPr>
          <p:cNvPr id="839" name="Google Shape;839;p26"/>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19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27"/>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NO STEERING AT ALL · RESULT</a:t>
            </a:r>
            <a:endParaRPr sz="1100"/>
          </a:p>
        </p:txBody>
      </p:sp>
      <p:sp>
        <p:nvSpPr>
          <p:cNvPr id="846" name="Google Shape;846;p27"/>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a:latin typeface="Arial"/>
                <a:ea typeface="Arial"/>
                <a:cs typeface="Arial"/>
                <a:sym typeface="Arial"/>
              </a:rPr>
              <a:t>Unsteered chains: the final token matters mostly at block 60, and the previous holder is rarely named</a:t>
            </a:r>
            <a:endParaRPr sz="2700"/>
          </a:p>
        </p:txBody>
      </p:sp>
      <p:sp>
        <p:nvSpPr>
          <p:cNvPr id="847" name="Google Shape;847;p27"/>
          <p:cNvSpPr/>
          <p:nvPr/>
        </p:nvSpPr>
        <p:spPr>
          <a:xfrm>
            <a:off x="9930384" y="310896"/>
            <a:ext cx="183000" cy="18300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27"/>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849" name="Google Shape;849;p27"/>
          <p:cNvSpPr/>
          <p:nvPr/>
        </p:nvSpPr>
        <p:spPr>
          <a:xfrm>
            <a:off x="10753344" y="310896"/>
            <a:ext cx="183000" cy="18300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 name="Google Shape;850;p27"/>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851" name="Google Shape;851;p27"/>
          <p:cNvSpPr/>
          <p:nvPr/>
        </p:nvSpPr>
        <p:spPr>
          <a:xfrm>
            <a:off x="11576304" y="310896"/>
            <a:ext cx="183000" cy="18300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2" name="Google Shape;852;p27"/>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853" name="Google Shape;853;p27"/>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Timing: the registered later-site rule (R ≥ 0.50 at 52 or 56) was NOT MET, and staleness (previous holder ≥ 0.30 at 44) was 3 of 79. Synthetic chains; 5–8 of 84 readouts missing per block.</a:t>
            </a:r>
            <a:endParaRPr sz="1200"/>
          </a:p>
        </p:txBody>
      </p:sp>
      <p:sp>
        <p:nvSpPr>
          <p:cNvPr id="854" name="Google Shape;854;p27"/>
          <p:cNvSpPr txBox="1"/>
          <p:nvPr>
            <p:ph idx="3" type="body"/>
          </p:nvPr>
        </p:nvSpPr>
        <p:spPr>
          <a:xfrm>
            <a:off x="548640" y="6437376"/>
            <a:ext cx="10241400" cy="25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E137 (confirmatory, natural-staleness criterion R-NL2 NOT MET) · guivff/activation-readers @ c60fa970 · e137/analysis/sealed_main/RESULTS.json (design D1, 42 pairs) · bank README_BANK.md · reviewed R-4</a:t>
            </a:r>
            <a:endParaRPr sz="1100"/>
          </a:p>
        </p:txBody>
      </p:sp>
      <p:pic>
        <p:nvPicPr>
          <p:cNvPr id="855" name="Google Shape;855;p27"/>
          <p:cNvPicPr preferRelativeResize="0"/>
          <p:nvPr/>
        </p:nvPicPr>
        <p:blipFill rotWithShape="1">
          <a:blip r:embed="rId3">
            <a:alphaModFix/>
          </a:blip>
          <a:srcRect b="0" l="0" r="0" t="0"/>
          <a:stretch/>
        </p:blipFill>
        <p:spPr>
          <a:xfrm>
            <a:off x="548640" y="1600200"/>
            <a:ext cx="5394900" cy="3794700"/>
          </a:xfrm>
          <a:prstGeom prst="rect">
            <a:avLst/>
          </a:prstGeom>
          <a:noFill/>
          <a:ln>
            <a:noFill/>
          </a:ln>
        </p:spPr>
      </p:pic>
      <p:sp>
        <p:nvSpPr>
          <p:cNvPr id="856" name="Google Shape;856;p27"/>
          <p:cNvSpPr/>
          <p:nvPr/>
        </p:nvSpPr>
        <p:spPr>
          <a:xfrm>
            <a:off x="548640" y="5440680"/>
            <a:ext cx="11109900" cy="411600"/>
          </a:xfrm>
          <a:prstGeom prst="roundRect">
            <a:avLst>
              <a:gd fmla="val 13333" name="adj"/>
            </a:avLst>
          </a:prstGeom>
          <a:solidFill>
            <a:srgbClr val="E9E3F2"/>
          </a:solidFill>
          <a:ln cap="flat" cmpd="sng" w="9525">
            <a:solidFill>
              <a:srgbClr val="E9E3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27"/>
          <p:cNvSpPr txBox="1"/>
          <p:nvPr/>
        </p:nvSpPr>
        <p:spPr>
          <a:xfrm>
            <a:off x="731520" y="5440680"/>
            <a:ext cx="10789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4C9C"/>
              </a:buClr>
              <a:buSzPts val="1400"/>
              <a:buFont typeface="Calibri"/>
              <a:buNone/>
            </a:pPr>
            <a:r>
              <a:rPr b="1" lang="en-US" sz="1400">
                <a:solidFill>
                  <a:srgbClr val="6A4C9C"/>
                </a:solidFill>
                <a:latin typeface="Calibri"/>
                <a:ea typeface="Calibri"/>
                <a:cs typeface="Calibri"/>
                <a:sym typeface="Calibri"/>
              </a:rPr>
              <a:t>Decodable? Mixed: macro AUROC 0.978 at 44 over 8 of 10 holder classes; the registered twin probe is at chance (≈ 0.43)</a:t>
            </a:r>
            <a:endParaRPr sz="1400">
              <a:solidFill>
                <a:schemeClr val="dk1"/>
              </a:solidFill>
              <a:latin typeface="Calibri"/>
              <a:ea typeface="Calibri"/>
              <a:cs typeface="Calibri"/>
              <a:sym typeface="Calibri"/>
            </a:endParaRPr>
          </a:p>
        </p:txBody>
      </p:sp>
      <p:sp>
        <p:nvSpPr>
          <p:cNvPr id="858" name="Google Shape;858;p27"/>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19</a:t>
            </a:r>
            <a:endParaRPr/>
          </a:p>
        </p:txBody>
      </p:sp>
      <p:sp>
        <p:nvSpPr>
          <p:cNvPr id="859" name="Google Shape;859;p27"/>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20</a:t>
            </a:r>
            <a:endParaRPr/>
          </a:p>
        </p:txBody>
      </p:sp>
      <p:pic>
        <p:nvPicPr>
          <p:cNvPr id="860" name="Google Shape;860;p27"/>
          <p:cNvPicPr preferRelativeResize="0"/>
          <p:nvPr/>
        </p:nvPicPr>
        <p:blipFill>
          <a:blip r:embed="rId4">
            <a:alphaModFix/>
          </a:blip>
          <a:stretch>
            <a:fillRect/>
          </a:stretch>
        </p:blipFill>
        <p:spPr>
          <a:xfrm>
            <a:off x="6638150" y="1468788"/>
            <a:ext cx="4974800" cy="34999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28"/>
          <p:cNvSpPr txBox="1"/>
          <p:nvPr>
            <p:ph idx="1" type="body"/>
          </p:nvPr>
        </p:nvSpPr>
        <p:spPr>
          <a:xfrm>
            <a:off x="548640" y="292608"/>
            <a:ext cx="8778300" cy="27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1100"/>
              <a:buNone/>
            </a:pPr>
            <a:r>
              <a:t/>
            </a:r>
            <a:endParaRPr b="1" spc="150" sz="1100">
              <a:solidFill>
                <a:schemeClr val="dk2"/>
              </a:solidFill>
            </a:endParaRPr>
          </a:p>
        </p:txBody>
      </p:sp>
      <p:sp>
        <p:nvSpPr>
          <p:cNvPr id="866" name="Google Shape;866;p28"/>
          <p:cNvSpPr txBox="1"/>
          <p:nvPr>
            <p:ph type="title"/>
          </p:nvPr>
        </p:nvSpPr>
        <p:spPr>
          <a:xfrm>
            <a:off x="548640" y="566928"/>
            <a:ext cx="88698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700"/>
              <a:buFont typeface="Cambria"/>
              <a:buNone/>
            </a:pPr>
            <a:r>
              <a:t/>
            </a:r>
            <a:endParaRPr sz="2700">
              <a:solidFill>
                <a:schemeClr val="dk1"/>
              </a:solidFill>
              <a:latin typeface="Cambria"/>
              <a:ea typeface="Cambria"/>
              <a:cs typeface="Cambria"/>
              <a:sym typeface="Cambria"/>
            </a:endParaRPr>
          </a:p>
        </p:txBody>
      </p:sp>
      <p:sp>
        <p:nvSpPr>
          <p:cNvPr id="867" name="Google Shape;867;p28"/>
          <p:cNvSpPr txBox="1"/>
          <p:nvPr>
            <p:ph idx="2" type="body"/>
          </p:nvPr>
        </p:nvSpPr>
        <p:spPr>
          <a:xfrm>
            <a:off x="548640" y="5943600"/>
            <a:ext cx="110643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t/>
            </a:r>
            <a:endParaRPr sz="1200">
              <a:solidFill>
                <a:schemeClr val="dk1"/>
              </a:solidFill>
            </a:endParaRPr>
          </a:p>
        </p:txBody>
      </p:sp>
      <p:sp>
        <p:nvSpPr>
          <p:cNvPr id="868" name="Google Shape;868;p28"/>
          <p:cNvSpPr txBox="1"/>
          <p:nvPr>
            <p:ph idx="3" type="body"/>
          </p:nvPr>
        </p:nvSpPr>
        <p:spPr>
          <a:xfrm>
            <a:off x="548640" y="6437376"/>
            <a:ext cx="102414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1100"/>
              <a:buNone/>
            </a:pPr>
            <a:r>
              <a:t/>
            </a:r>
            <a:endParaRPr sz="1100">
              <a:solidFill>
                <a:schemeClr val="dk2"/>
              </a:solidFill>
            </a:endParaRPr>
          </a:p>
        </p:txBody>
      </p:sp>
      <p:sp>
        <p:nvSpPr>
          <p:cNvPr id="869" name="Google Shape;869;p28"/>
          <p:cNvSpPr/>
          <p:nvPr/>
        </p:nvSpPr>
        <p:spPr>
          <a:xfrm>
            <a:off x="0" y="0"/>
            <a:ext cx="12192000" cy="6858000"/>
          </a:xfrm>
          <a:prstGeom prst="rect">
            <a:avLst/>
          </a:prstGeom>
          <a:solidFill>
            <a:srgbClr val="F7F5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28"/>
          <p:cNvSpPr txBox="1"/>
          <p:nvPr/>
        </p:nvSpPr>
        <p:spPr>
          <a:xfrm>
            <a:off x="548640" y="283464"/>
            <a:ext cx="8549700" cy="197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100">
                <a:solidFill>
                  <a:srgbClr val="9A948A"/>
                </a:solidFill>
                <a:latin typeface="Calibri"/>
                <a:ea typeface="Calibri"/>
                <a:cs typeface="Calibri"/>
                <a:sym typeface="Calibri"/>
              </a:rPr>
              <a:t>A NECESSARY COUNTERWEIGHT</a:t>
            </a:r>
            <a:endParaRPr/>
          </a:p>
        </p:txBody>
      </p:sp>
      <p:sp>
        <p:nvSpPr>
          <p:cNvPr id="871" name="Google Shape;871;p28"/>
          <p:cNvSpPr txBox="1"/>
          <p:nvPr/>
        </p:nvSpPr>
        <p:spPr>
          <a:xfrm>
            <a:off x="548640" y="585216"/>
            <a:ext cx="10972800" cy="11052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lang="en-US" sz="3500">
                <a:solidFill>
                  <a:srgbClr val="1D232A"/>
                </a:solidFill>
                <a:latin typeface="Lora"/>
                <a:ea typeface="Lora"/>
                <a:cs typeface="Lora"/>
                <a:sym typeface="Lora"/>
              </a:rPr>
              <a:t>Some readouts align with subject-specific mistakes better than outside forecasters</a:t>
            </a:r>
            <a:endParaRPr/>
          </a:p>
        </p:txBody>
      </p:sp>
      <p:sp>
        <p:nvSpPr>
          <p:cNvPr id="872" name="Google Shape;872;p28"/>
          <p:cNvSpPr/>
          <p:nvPr/>
        </p:nvSpPr>
        <p:spPr>
          <a:xfrm>
            <a:off x="9500616" y="338328"/>
            <a:ext cx="164700" cy="164700"/>
          </a:xfrm>
          <a:prstGeom prst="ellipse">
            <a:avLst/>
          </a:prstGeom>
          <a:noFill/>
          <a:ln cap="flat" cmpd="sng" w="21575">
            <a:solidFill>
              <a:srgbClr val="6A4C9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28"/>
          <p:cNvSpPr txBox="1"/>
          <p:nvPr/>
        </p:nvSpPr>
        <p:spPr>
          <a:xfrm>
            <a:off x="9317736"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decodable</a:t>
            </a:r>
            <a:endParaRPr/>
          </a:p>
        </p:txBody>
      </p:sp>
      <p:sp>
        <p:nvSpPr>
          <p:cNvPr id="874" name="Google Shape;874;p28"/>
          <p:cNvSpPr/>
          <p:nvPr/>
        </p:nvSpPr>
        <p:spPr>
          <a:xfrm>
            <a:off x="10360152" y="338328"/>
            <a:ext cx="164700" cy="164700"/>
          </a:xfrm>
          <a:prstGeom prst="ellipse">
            <a:avLst/>
          </a:prstGeom>
          <a:noFill/>
          <a:ln cap="flat" cmpd="sng" w="21575">
            <a:solidFill>
              <a:srgbClr val="C8622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28"/>
          <p:cNvSpPr txBox="1"/>
          <p:nvPr/>
        </p:nvSpPr>
        <p:spPr>
          <a:xfrm>
            <a:off x="10177272"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causal here</a:t>
            </a:r>
            <a:endParaRPr/>
          </a:p>
        </p:txBody>
      </p:sp>
      <p:sp>
        <p:nvSpPr>
          <p:cNvPr id="876" name="Google Shape;876;p28"/>
          <p:cNvSpPr/>
          <p:nvPr/>
        </p:nvSpPr>
        <p:spPr>
          <a:xfrm>
            <a:off x="11219688" y="338328"/>
            <a:ext cx="164700" cy="164700"/>
          </a:xfrm>
          <a:prstGeom prst="ellipse">
            <a:avLst/>
          </a:prstGeom>
          <a:solidFill>
            <a:srgbClr val="B03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7" name="Google Shape;877;p28"/>
          <p:cNvSpPr txBox="1"/>
          <p:nvPr/>
        </p:nvSpPr>
        <p:spPr>
          <a:xfrm>
            <a:off x="11036808"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stated</a:t>
            </a:r>
            <a:endParaRPr/>
          </a:p>
        </p:txBody>
      </p:sp>
      <p:sp>
        <p:nvSpPr>
          <p:cNvPr id="878" name="Google Shape;878;p28"/>
          <p:cNvSpPr txBox="1"/>
          <p:nvPr/>
        </p:nvSpPr>
        <p:spPr>
          <a:xfrm>
            <a:off x="548640" y="5925312"/>
            <a:ext cx="11064300" cy="2046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150">
                <a:solidFill>
                  <a:srgbClr val="B03060"/>
                </a:solidFill>
                <a:latin typeface="Calibri"/>
                <a:ea typeface="Calibri"/>
                <a:cs typeface="Calibri"/>
                <a:sym typeface="Calibri"/>
              </a:rPr>
              <a:t>Does not show  Matched model-private access: E107b has unmatched denominators and E116 is post hoc on a selected cohort.</a:t>
            </a:r>
            <a:endParaRPr/>
          </a:p>
        </p:txBody>
      </p:sp>
      <p:sp>
        <p:nvSpPr>
          <p:cNvPr id="879" name="Google Shape;879;p28"/>
          <p:cNvSpPr/>
          <p:nvPr/>
        </p:nvSpPr>
        <p:spPr>
          <a:xfrm>
            <a:off x="694944" y="1746504"/>
            <a:ext cx="5340000" cy="3822300"/>
          </a:xfrm>
          <a:prstGeom prst="roundRect">
            <a:avLst>
              <a:gd fmla="val 11000" name="adj"/>
            </a:avLst>
          </a:prstGeom>
          <a:solidFill>
            <a:srgbClr val="FFFFFF"/>
          </a:solidFill>
          <a:ln cap="flat" cmpd="sng" w="12700">
            <a:solidFill>
              <a:srgbClr val="DBD6C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28"/>
          <p:cNvSpPr txBox="1"/>
          <p:nvPr/>
        </p:nvSpPr>
        <p:spPr>
          <a:xfrm>
            <a:off x="914400" y="1947672"/>
            <a:ext cx="4755000" cy="2739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600">
                <a:solidFill>
                  <a:srgbClr val="6A4C9C"/>
                </a:solidFill>
                <a:latin typeface="Calibri"/>
                <a:ea typeface="Calibri"/>
                <a:cs typeface="Calibri"/>
                <a:sym typeface="Calibri"/>
              </a:rPr>
              <a:t>E107b · NATURALLY WRONG ANSWERS</a:t>
            </a:r>
            <a:endParaRPr/>
          </a:p>
        </p:txBody>
      </p:sp>
      <p:sp>
        <p:nvSpPr>
          <p:cNvPr id="881" name="Google Shape;881;p28"/>
          <p:cNvSpPr txBox="1"/>
          <p:nvPr/>
        </p:nvSpPr>
        <p:spPr>
          <a:xfrm>
            <a:off x="914400" y="2468880"/>
            <a:ext cx="4709100" cy="2586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00">
                <a:solidFill>
                  <a:srgbClr val="56606B"/>
                </a:solidFill>
                <a:latin typeface="Calibri"/>
                <a:ea typeface="Calibri"/>
                <a:cs typeface="Calibri"/>
                <a:sym typeface="Calibri"/>
              </a:rPr>
              <a:t>Conditional on a value stated:</a:t>
            </a:r>
            <a:endParaRPr/>
          </a:p>
        </p:txBody>
      </p:sp>
      <p:sp>
        <p:nvSpPr>
          <p:cNvPr id="882" name="Google Shape;882;p28"/>
          <p:cNvSpPr txBox="1"/>
          <p:nvPr/>
        </p:nvSpPr>
        <p:spPr>
          <a:xfrm>
            <a:off x="932688" y="2880360"/>
            <a:ext cx="1600200" cy="2508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450">
                <a:solidFill>
                  <a:srgbClr val="1F2A33"/>
                </a:solidFill>
                <a:latin typeface="Calibri"/>
                <a:ea typeface="Calibri"/>
                <a:cs typeface="Calibri"/>
                <a:sym typeface="Calibri"/>
              </a:rPr>
              <a:t>Oracle@44</a:t>
            </a:r>
            <a:endParaRPr/>
          </a:p>
        </p:txBody>
      </p:sp>
      <p:sp>
        <p:nvSpPr>
          <p:cNvPr id="883" name="Google Shape;883;p28"/>
          <p:cNvSpPr/>
          <p:nvPr/>
        </p:nvSpPr>
        <p:spPr>
          <a:xfrm>
            <a:off x="2660904" y="2953512"/>
            <a:ext cx="2130600" cy="210300"/>
          </a:xfrm>
          <a:prstGeom prst="roundRect">
            <a:avLst>
              <a:gd fmla="val 13000" name="adj"/>
            </a:avLst>
          </a:prstGeom>
          <a:solidFill>
            <a:srgbClr val="EEEB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28"/>
          <p:cNvSpPr/>
          <p:nvPr/>
        </p:nvSpPr>
        <p:spPr>
          <a:xfrm>
            <a:off x="2660904" y="2953512"/>
            <a:ext cx="1389600" cy="210300"/>
          </a:xfrm>
          <a:prstGeom prst="roundRect">
            <a:avLst>
              <a:gd fmla="val 13000" name="adj"/>
            </a:avLst>
          </a:prstGeom>
          <a:solidFill>
            <a:srgbClr val="6A4C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28"/>
          <p:cNvSpPr txBox="1"/>
          <p:nvPr/>
        </p:nvSpPr>
        <p:spPr>
          <a:xfrm>
            <a:off x="4928616" y="2880360"/>
            <a:ext cx="960000" cy="2433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400">
                <a:solidFill>
                  <a:srgbClr val="1F2A33"/>
                </a:solidFill>
                <a:latin typeface="Calibri"/>
                <a:ea typeface="Calibri"/>
                <a:cs typeface="Calibri"/>
                <a:sym typeface="Calibri"/>
              </a:rPr>
              <a:t>60/92</a:t>
            </a:r>
            <a:endParaRPr/>
          </a:p>
        </p:txBody>
      </p:sp>
      <p:sp>
        <p:nvSpPr>
          <p:cNvPr id="886" name="Google Shape;886;p28"/>
          <p:cNvSpPr txBox="1"/>
          <p:nvPr/>
        </p:nvSpPr>
        <p:spPr>
          <a:xfrm>
            <a:off x="932688" y="3410712"/>
            <a:ext cx="1600200" cy="2508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450">
                <a:solidFill>
                  <a:srgbClr val="1F2A33"/>
                </a:solidFill>
                <a:latin typeface="Calibri"/>
                <a:ea typeface="Calibri"/>
                <a:cs typeface="Calibri"/>
                <a:sym typeface="Calibri"/>
              </a:rPr>
              <a:t>Outside forecaster</a:t>
            </a:r>
            <a:endParaRPr/>
          </a:p>
        </p:txBody>
      </p:sp>
      <p:sp>
        <p:nvSpPr>
          <p:cNvPr id="887" name="Google Shape;887;p28"/>
          <p:cNvSpPr/>
          <p:nvPr/>
        </p:nvSpPr>
        <p:spPr>
          <a:xfrm>
            <a:off x="2660904" y="3483864"/>
            <a:ext cx="2130600" cy="210300"/>
          </a:xfrm>
          <a:prstGeom prst="roundRect">
            <a:avLst>
              <a:gd fmla="val 13000" name="adj"/>
            </a:avLst>
          </a:prstGeom>
          <a:solidFill>
            <a:srgbClr val="EEEB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28"/>
          <p:cNvSpPr/>
          <p:nvPr/>
        </p:nvSpPr>
        <p:spPr>
          <a:xfrm>
            <a:off x="2660904" y="3483864"/>
            <a:ext cx="599700" cy="210300"/>
          </a:xfrm>
          <a:prstGeom prst="roundRect">
            <a:avLst>
              <a:gd fmla="val 13000" name="adj"/>
            </a:avLst>
          </a:prstGeom>
          <a:solidFill>
            <a:srgbClr val="566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p28"/>
          <p:cNvSpPr txBox="1"/>
          <p:nvPr/>
        </p:nvSpPr>
        <p:spPr>
          <a:xfrm>
            <a:off x="4928616" y="3410712"/>
            <a:ext cx="960000" cy="2433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400">
                <a:solidFill>
                  <a:srgbClr val="1F2A33"/>
                </a:solidFill>
                <a:latin typeface="Calibri"/>
                <a:ea typeface="Calibri"/>
                <a:cs typeface="Calibri"/>
                <a:sym typeface="Calibri"/>
              </a:rPr>
              <a:t>47/167</a:t>
            </a:r>
            <a:endParaRPr/>
          </a:p>
        </p:txBody>
      </p:sp>
      <p:sp>
        <p:nvSpPr>
          <p:cNvPr id="890" name="Google Shape;890;p28"/>
          <p:cNvSpPr txBox="1"/>
          <p:nvPr/>
        </p:nvSpPr>
        <p:spPr>
          <a:xfrm>
            <a:off x="932688" y="4297680"/>
            <a:ext cx="4736700" cy="515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00">
                <a:solidFill>
                  <a:srgbClr val="1F2A33"/>
                </a:solidFill>
                <a:latin typeface="Calibri"/>
                <a:ea typeface="Calibri"/>
                <a:cs typeface="Calibri"/>
                <a:sym typeface="Calibri"/>
              </a:rPr>
              <a:t>All-item rates: 60/187 vs 47/196.</a:t>
            </a:r>
            <a:endParaRPr/>
          </a:p>
          <a:p>
            <a:pPr indent="0" lvl="0" marL="0" marR="0" rtl="0" algn="l">
              <a:spcBef>
                <a:spcPts val="200"/>
              </a:spcBef>
              <a:spcAft>
                <a:spcPts val="0"/>
              </a:spcAft>
              <a:buNone/>
            </a:pPr>
            <a:r>
              <a:rPr b="0" i="0" lang="en-US" sz="1500">
                <a:solidFill>
                  <a:srgbClr val="1F2A33"/>
                </a:solidFill>
                <a:latin typeface="Calibri"/>
                <a:ea typeface="Calibri"/>
                <a:cs typeface="Calibri"/>
                <a:sym typeface="Calibri"/>
              </a:rPr>
              <a:t>Coverage / model-family mismatch matters.</a:t>
            </a:r>
            <a:endParaRPr/>
          </a:p>
        </p:txBody>
      </p:sp>
      <p:sp>
        <p:nvSpPr>
          <p:cNvPr id="891" name="Google Shape;891;p28"/>
          <p:cNvSpPr/>
          <p:nvPr/>
        </p:nvSpPr>
        <p:spPr>
          <a:xfrm>
            <a:off x="6227064" y="1746504"/>
            <a:ext cx="5285100" cy="3822300"/>
          </a:xfrm>
          <a:prstGeom prst="roundRect">
            <a:avLst>
              <a:gd fmla="val 11000" name="adj"/>
            </a:avLst>
          </a:prstGeom>
          <a:solidFill>
            <a:srgbClr val="FFFFFF"/>
          </a:solidFill>
          <a:ln cap="flat" cmpd="sng" w="12700">
            <a:solidFill>
              <a:srgbClr val="DBD6C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28"/>
          <p:cNvSpPr txBox="1"/>
          <p:nvPr/>
        </p:nvSpPr>
        <p:spPr>
          <a:xfrm>
            <a:off x="6446520" y="1947672"/>
            <a:ext cx="4681800" cy="2739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600">
                <a:solidFill>
                  <a:srgbClr val="2E7F7A"/>
                </a:solidFill>
                <a:latin typeface="Calibri"/>
                <a:ea typeface="Calibri"/>
                <a:cs typeface="Calibri"/>
                <a:sym typeface="Calibri"/>
              </a:rPr>
              <a:t>E116 · NON-MODAL ANSWERS (POST HOC)</a:t>
            </a:r>
            <a:endParaRPr/>
          </a:p>
        </p:txBody>
      </p:sp>
      <p:sp>
        <p:nvSpPr>
          <p:cNvPr id="893" name="Google Shape;893;p28"/>
          <p:cNvSpPr txBox="1"/>
          <p:nvPr/>
        </p:nvSpPr>
        <p:spPr>
          <a:xfrm>
            <a:off x="6446520" y="2468880"/>
            <a:ext cx="4590300" cy="2586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00">
                <a:solidFill>
                  <a:srgbClr val="56606B"/>
                </a:solidFill>
                <a:latin typeface="Calibri"/>
                <a:ea typeface="Calibri"/>
                <a:cs typeface="Calibri"/>
                <a:sym typeface="Calibri"/>
              </a:rPr>
              <a:t>Matched 110-item subset:</a:t>
            </a:r>
            <a:endParaRPr/>
          </a:p>
        </p:txBody>
      </p:sp>
      <p:sp>
        <p:nvSpPr>
          <p:cNvPr id="894" name="Google Shape;894;p28"/>
          <p:cNvSpPr txBox="1"/>
          <p:nvPr/>
        </p:nvSpPr>
        <p:spPr>
          <a:xfrm>
            <a:off x="6446520" y="2880360"/>
            <a:ext cx="1600200" cy="2508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450">
                <a:solidFill>
                  <a:srgbClr val="1F2A33"/>
                </a:solidFill>
                <a:latin typeface="Calibri"/>
                <a:ea typeface="Calibri"/>
                <a:cs typeface="Calibri"/>
                <a:sym typeface="Calibri"/>
              </a:rPr>
              <a:t>Oracle@60</a:t>
            </a:r>
            <a:endParaRPr/>
          </a:p>
        </p:txBody>
      </p:sp>
      <p:sp>
        <p:nvSpPr>
          <p:cNvPr id="895" name="Google Shape;895;p28"/>
          <p:cNvSpPr/>
          <p:nvPr/>
        </p:nvSpPr>
        <p:spPr>
          <a:xfrm>
            <a:off x="8174736" y="2953512"/>
            <a:ext cx="2084700" cy="210300"/>
          </a:xfrm>
          <a:prstGeom prst="roundRect">
            <a:avLst>
              <a:gd fmla="val 13000" name="adj"/>
            </a:avLst>
          </a:prstGeom>
          <a:solidFill>
            <a:srgbClr val="EEEB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28"/>
          <p:cNvSpPr/>
          <p:nvPr/>
        </p:nvSpPr>
        <p:spPr>
          <a:xfrm>
            <a:off x="8174736" y="2953512"/>
            <a:ext cx="1118100" cy="210300"/>
          </a:xfrm>
          <a:prstGeom prst="roundRect">
            <a:avLst>
              <a:gd fmla="val 13000" name="adj"/>
            </a:avLst>
          </a:prstGeom>
          <a:solidFill>
            <a:srgbClr val="2E7F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28"/>
          <p:cNvSpPr txBox="1"/>
          <p:nvPr/>
        </p:nvSpPr>
        <p:spPr>
          <a:xfrm>
            <a:off x="10396728" y="2880360"/>
            <a:ext cx="960000" cy="2433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400">
                <a:solidFill>
                  <a:srgbClr val="1F2A33"/>
                </a:solidFill>
                <a:latin typeface="Calibri"/>
                <a:ea typeface="Calibri"/>
                <a:cs typeface="Calibri"/>
                <a:sym typeface="Calibri"/>
              </a:rPr>
              <a:t>59/110</a:t>
            </a:r>
            <a:endParaRPr/>
          </a:p>
        </p:txBody>
      </p:sp>
      <p:sp>
        <p:nvSpPr>
          <p:cNvPr id="898" name="Google Shape;898;p28"/>
          <p:cNvSpPr txBox="1"/>
          <p:nvPr/>
        </p:nvSpPr>
        <p:spPr>
          <a:xfrm>
            <a:off x="6446520" y="3410712"/>
            <a:ext cx="1600200" cy="2508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450">
                <a:solidFill>
                  <a:srgbClr val="1F2A33"/>
                </a:solidFill>
                <a:latin typeface="Calibri"/>
                <a:ea typeface="Calibri"/>
                <a:cs typeface="Calibri"/>
                <a:sym typeface="Calibri"/>
              </a:rPr>
              <a:t>Outside forecaster</a:t>
            </a:r>
            <a:endParaRPr/>
          </a:p>
        </p:txBody>
      </p:sp>
      <p:sp>
        <p:nvSpPr>
          <p:cNvPr id="899" name="Google Shape;899;p28"/>
          <p:cNvSpPr/>
          <p:nvPr/>
        </p:nvSpPr>
        <p:spPr>
          <a:xfrm>
            <a:off x="8174736" y="3483864"/>
            <a:ext cx="2084700" cy="210300"/>
          </a:xfrm>
          <a:prstGeom prst="roundRect">
            <a:avLst>
              <a:gd fmla="val 13000" name="adj"/>
            </a:avLst>
          </a:prstGeom>
          <a:solidFill>
            <a:srgbClr val="EEEB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28"/>
          <p:cNvSpPr/>
          <p:nvPr/>
        </p:nvSpPr>
        <p:spPr>
          <a:xfrm>
            <a:off x="8174736" y="3483864"/>
            <a:ext cx="587400" cy="210300"/>
          </a:xfrm>
          <a:prstGeom prst="roundRect">
            <a:avLst>
              <a:gd fmla="val 13000" name="adj"/>
            </a:avLst>
          </a:prstGeom>
          <a:solidFill>
            <a:srgbClr val="566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28"/>
          <p:cNvSpPr txBox="1"/>
          <p:nvPr/>
        </p:nvSpPr>
        <p:spPr>
          <a:xfrm>
            <a:off x="10396728" y="3410712"/>
            <a:ext cx="960000" cy="2433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400">
                <a:solidFill>
                  <a:srgbClr val="1F2A33"/>
                </a:solidFill>
                <a:latin typeface="Calibri"/>
                <a:ea typeface="Calibri"/>
                <a:cs typeface="Calibri"/>
                <a:sym typeface="Calibri"/>
              </a:rPr>
              <a:t>31/110</a:t>
            </a:r>
            <a:endParaRPr/>
          </a:p>
        </p:txBody>
      </p:sp>
      <p:sp>
        <p:nvSpPr>
          <p:cNvPr id="902" name="Google Shape;902;p28"/>
          <p:cNvSpPr txBox="1"/>
          <p:nvPr/>
        </p:nvSpPr>
        <p:spPr>
          <a:xfrm>
            <a:off x="6446520" y="4297680"/>
            <a:ext cx="4672500" cy="515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00">
                <a:solidFill>
                  <a:srgbClr val="1F2A33"/>
                </a:solidFill>
                <a:latin typeface="Calibri"/>
                <a:ea typeface="Calibri"/>
                <a:cs typeface="Calibri"/>
                <a:sym typeface="Calibri"/>
              </a:rPr>
              <a:t>Paired advantage +25.5 pp</a:t>
            </a:r>
            <a:endParaRPr/>
          </a:p>
          <a:p>
            <a:pPr indent="0" lvl="0" marL="0" marR="0" rtl="0" algn="l">
              <a:spcBef>
                <a:spcPts val="200"/>
              </a:spcBef>
              <a:spcAft>
                <a:spcPts val="0"/>
              </a:spcAft>
              <a:buNone/>
            </a:pPr>
            <a:r>
              <a:rPr b="0" i="0" lang="en-US" sz="1500">
                <a:solidFill>
                  <a:srgbClr val="1F2A33"/>
                </a:solidFill>
                <a:latin typeface="Calibri"/>
                <a:ea typeface="Calibri"/>
                <a:cs typeface="Calibri"/>
                <a:sym typeface="Calibri"/>
              </a:rPr>
              <a:t>95% CI [+11.8, +38.2] pp</a:t>
            </a:r>
            <a:endParaRPr/>
          </a:p>
        </p:txBody>
      </p:sp>
      <p:sp>
        <p:nvSpPr>
          <p:cNvPr id="903" name="Google Shape;903;p28"/>
          <p:cNvSpPr txBox="1"/>
          <p:nvPr/>
        </p:nvSpPr>
        <p:spPr>
          <a:xfrm>
            <a:off x="713232" y="5605272"/>
            <a:ext cx="10927200" cy="186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210">
                <a:solidFill>
                  <a:srgbClr val="232528"/>
                </a:solidFill>
                <a:latin typeface="Calibri"/>
                <a:ea typeface="Calibri"/>
                <a:cs typeface="Calibri"/>
                <a:sym typeface="Calibri"/>
              </a:rPr>
              <a:t>E131 §246 (post hoc): Qwen generated the new answer in 43 cases; early Oracle@44 still said old in 26/43, while @52 said new in 43/43.</a:t>
            </a:r>
            <a:endParaRPr/>
          </a:p>
        </p:txBody>
      </p:sp>
      <p:sp>
        <p:nvSpPr>
          <p:cNvPr id="904" name="Google Shape;904;p28"/>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908" name="Shape 908"/>
        <p:cNvGrpSpPr/>
        <p:nvPr/>
      </p:nvGrpSpPr>
      <p:grpSpPr>
        <a:xfrm>
          <a:off x="0" y="0"/>
          <a:ext cx="0" cy="0"/>
          <a:chOff x="0" y="0"/>
          <a:chExt cx="0" cy="0"/>
        </a:xfrm>
      </p:grpSpPr>
      <p:sp>
        <p:nvSpPr>
          <p:cNvPr id="909" name="Google Shape;909;p29"/>
          <p:cNvSpPr txBox="1"/>
          <p:nvPr/>
        </p:nvSpPr>
        <p:spPr>
          <a:xfrm>
            <a:off x="566928" y="265176"/>
            <a:ext cx="9144000" cy="1707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1" i="0" lang="en-US" sz="1050">
                <a:solidFill>
                  <a:srgbClr val="5E646B"/>
                </a:solidFill>
                <a:latin typeface="Arial"/>
                <a:ea typeface="Arial"/>
                <a:cs typeface="Arial"/>
                <a:sym typeface="Arial"/>
              </a:rPr>
              <a:t>WHAT THE SPRINT TAUGHT US · NEEL’S CHALLENGE</a:t>
            </a:r>
            <a:endParaRPr/>
          </a:p>
        </p:txBody>
      </p:sp>
      <p:sp>
        <p:nvSpPr>
          <p:cNvPr id="910" name="Google Shape;910;p29"/>
          <p:cNvSpPr txBox="1"/>
          <p:nvPr/>
        </p:nvSpPr>
        <p:spPr>
          <a:xfrm>
            <a:off x="566928" y="486261"/>
            <a:ext cx="10515600" cy="10866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1" lang="en-US" sz="3500">
                <a:solidFill>
                  <a:srgbClr val="1D232A"/>
                </a:solidFill>
                <a:latin typeface="Lora"/>
                <a:ea typeface="Lora"/>
                <a:cs typeface="Lora"/>
                <a:sym typeface="Lora"/>
              </a:rPr>
              <a:t>What we got wrong—and why the remaining results might be boring</a:t>
            </a:r>
            <a:endParaRPr b="1" sz="3500">
              <a:solidFill>
                <a:srgbClr val="1D232A"/>
              </a:solidFill>
              <a:latin typeface="Lora"/>
              <a:ea typeface="Lora"/>
              <a:cs typeface="Lora"/>
              <a:sym typeface="Lora"/>
            </a:endParaRPr>
          </a:p>
        </p:txBody>
      </p:sp>
      <p:sp>
        <p:nvSpPr>
          <p:cNvPr id="911" name="Google Shape;911;p29"/>
          <p:cNvSpPr/>
          <p:nvPr/>
        </p:nvSpPr>
        <p:spPr>
          <a:xfrm>
            <a:off x="640080" y="1737360"/>
            <a:ext cx="5248800" cy="3575400"/>
          </a:xfrm>
          <a:prstGeom prst="roundRect">
            <a:avLst>
              <a:gd fmla="val 12000" name="adj"/>
            </a:avLst>
          </a:prstGeom>
          <a:solidFill>
            <a:srgbClr val="FFFFFF"/>
          </a:solidFill>
          <a:ln cap="flat" cmpd="sng" w="9525">
            <a:solidFill>
              <a:srgbClr val="DEDAD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p29"/>
          <p:cNvSpPr/>
          <p:nvPr/>
        </p:nvSpPr>
        <p:spPr>
          <a:xfrm>
            <a:off x="640080" y="1737360"/>
            <a:ext cx="59400" cy="3575400"/>
          </a:xfrm>
          <a:prstGeom prst="rect">
            <a:avLst/>
          </a:prstGeom>
          <a:solidFill>
            <a:srgbClr val="B02D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3" name="Google Shape;913;p29"/>
          <p:cNvSpPr/>
          <p:nvPr/>
        </p:nvSpPr>
        <p:spPr>
          <a:xfrm>
            <a:off x="6099048" y="1737360"/>
            <a:ext cx="5422500" cy="3575400"/>
          </a:xfrm>
          <a:prstGeom prst="roundRect">
            <a:avLst>
              <a:gd fmla="val 12000" name="adj"/>
            </a:avLst>
          </a:prstGeom>
          <a:solidFill>
            <a:srgbClr val="FFFFFF"/>
          </a:solidFill>
          <a:ln cap="flat" cmpd="sng" w="9525">
            <a:solidFill>
              <a:srgbClr val="DEDAD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29"/>
          <p:cNvSpPr/>
          <p:nvPr/>
        </p:nvSpPr>
        <p:spPr>
          <a:xfrm>
            <a:off x="6099048" y="1737360"/>
            <a:ext cx="59400" cy="3575400"/>
          </a:xfrm>
          <a:prstGeom prst="rect">
            <a:avLst/>
          </a:prstGeom>
          <a:solidFill>
            <a:srgbClr val="C766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29"/>
          <p:cNvSpPr txBox="1"/>
          <p:nvPr/>
        </p:nvSpPr>
        <p:spPr>
          <a:xfrm>
            <a:off x="905256" y="1947672"/>
            <a:ext cx="4663500" cy="2400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1" i="0" lang="en-US" sz="1500">
                <a:solidFill>
                  <a:srgbClr val="B02D60"/>
                </a:solidFill>
                <a:latin typeface="Arial"/>
                <a:ea typeface="Arial"/>
                <a:cs typeface="Arial"/>
                <a:sym typeface="Arial"/>
              </a:rPr>
              <a:t>FAILURES THAT CHANGED OUR PRACTICE</a:t>
            </a:r>
            <a:endParaRPr/>
          </a:p>
        </p:txBody>
      </p:sp>
      <p:sp>
        <p:nvSpPr>
          <p:cNvPr id="916" name="Google Shape;916;p29"/>
          <p:cNvSpPr txBox="1"/>
          <p:nvPr/>
        </p:nvSpPr>
        <p:spPr>
          <a:xfrm>
            <a:off x="914400" y="2404872"/>
            <a:ext cx="4645200" cy="25233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0" i="0" lang="en-US" sz="1500">
                <a:solidFill>
                  <a:srgbClr val="25282C"/>
                </a:solidFill>
                <a:latin typeface="Arial"/>
                <a:ea typeface="Arial"/>
                <a:cs typeface="Arial"/>
                <a:sym typeface="Arial"/>
              </a:rPr>
              <a:t>1. Judging inputs, not just outputs</a:t>
            </a:r>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E138 recipient answer split into characters.</a:t>
            </a:r>
            <a:endParaRPr/>
          </a:p>
          <a:p>
            <a:pPr indent="0" lvl="0" marL="0" marR="0" rtl="0" algn="l">
              <a:spcBef>
                <a:spcPts val="200"/>
              </a:spcBef>
              <a:spcAft>
                <a:spcPts val="0"/>
              </a:spcAft>
              <a:buNone/>
            </a:pPr>
            <a:r>
              <a:t/>
            </a:r>
            <a:endParaRPr b="0" i="0" sz="1500">
              <a:solidFill>
                <a:srgbClr val="25282C"/>
              </a:solidFill>
              <a:latin typeface="Arial"/>
              <a:ea typeface="Arial"/>
              <a:cs typeface="Arial"/>
              <a:sym typeface="Arial"/>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2. Trivial baselines before intricate rules</a:t>
            </a:r>
            <a:endParaRPr b="0" i="0" sz="1500">
              <a:solidFill>
                <a:srgbClr val="25282C"/>
              </a:solidFill>
              <a:latin typeface="Arial"/>
              <a:ea typeface="Arial"/>
              <a:cs typeface="Arial"/>
              <a:sym typeface="Arial"/>
            </a:endParaRPr>
          </a:p>
          <a:p>
            <a:pPr indent="0" lvl="0" marL="0" rtl="0" algn="l">
              <a:spcBef>
                <a:spcPts val="200"/>
              </a:spcBef>
              <a:spcAft>
                <a:spcPts val="0"/>
              </a:spcAft>
              <a:buNone/>
            </a:pPr>
            <a:r>
              <a:rPr lang="en-US" sz="1500">
                <a:solidFill>
                  <a:srgbClr val="25282C"/>
                </a:solidFill>
              </a:rPr>
              <a:t>S19: always-low 33/38 vs our 31/38.</a:t>
            </a:r>
            <a:endParaRPr sz="1500">
              <a:solidFill>
                <a:srgbClr val="25282C"/>
              </a:solidFill>
            </a:endParaRPr>
          </a:p>
          <a:p>
            <a:pPr indent="0" lvl="0" marL="0" marR="0" rtl="0" algn="l">
              <a:spcBef>
                <a:spcPts val="200"/>
              </a:spcBef>
              <a:spcAft>
                <a:spcPts val="0"/>
              </a:spcAft>
              <a:buNone/>
            </a:pPr>
            <a:r>
              <a:t/>
            </a:r>
            <a:endParaRPr b="0" i="0" sz="1500">
              <a:solidFill>
                <a:srgbClr val="25282C"/>
              </a:solidFill>
              <a:latin typeface="Arial"/>
              <a:ea typeface="Arial"/>
              <a:cs typeface="Arial"/>
              <a:sym typeface="Arial"/>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3. Generated behavior</a:t>
            </a:r>
            <a:r>
              <a:rPr lang="en-US" sz="1500">
                <a:solidFill>
                  <a:srgbClr val="25282C"/>
                </a:solidFill>
              </a:rPr>
              <a:t> instead of </a:t>
            </a:r>
            <a:r>
              <a:rPr b="0" i="0" lang="en-US" sz="1500">
                <a:solidFill>
                  <a:srgbClr val="25282C"/>
                </a:solidFill>
                <a:latin typeface="Arial"/>
                <a:ea typeface="Arial"/>
                <a:cs typeface="Arial"/>
                <a:sym typeface="Arial"/>
              </a:rPr>
              <a:t>logits</a:t>
            </a:r>
            <a:endParaRPr b="0" i="0" sz="1500">
              <a:solidFill>
                <a:srgbClr val="25282C"/>
              </a:solidFill>
              <a:latin typeface="Arial"/>
              <a:ea typeface="Arial"/>
              <a:cs typeface="Arial"/>
              <a:sym typeface="Arial"/>
            </a:endParaRPr>
          </a:p>
          <a:p>
            <a:pPr indent="0" lvl="0" marL="0" rtl="0" algn="l">
              <a:spcBef>
                <a:spcPts val="200"/>
              </a:spcBef>
              <a:spcAft>
                <a:spcPts val="0"/>
              </a:spcAft>
              <a:buNone/>
            </a:pPr>
            <a:r>
              <a:rPr lang="en-US" sz="1500">
                <a:solidFill>
                  <a:srgbClr val="25282C"/>
                </a:solidFill>
              </a:rPr>
              <a:t>E131: 84/84 pair preferences, only 43/84 generated target.</a:t>
            </a:r>
            <a:endParaRPr/>
          </a:p>
          <a:p>
            <a:pPr indent="0" lvl="0" marL="0" marR="0" rtl="0" algn="l">
              <a:spcBef>
                <a:spcPts val="200"/>
              </a:spcBef>
              <a:spcAft>
                <a:spcPts val="0"/>
              </a:spcAft>
              <a:buNone/>
            </a:pPr>
            <a:r>
              <a:t/>
            </a:r>
            <a:endParaRPr sz="1500">
              <a:solidFill>
                <a:srgbClr val="25282C"/>
              </a:solidFill>
            </a:endParaRPr>
          </a:p>
        </p:txBody>
      </p:sp>
      <p:sp>
        <p:nvSpPr>
          <p:cNvPr id="917" name="Google Shape;917;p29"/>
          <p:cNvSpPr txBox="1"/>
          <p:nvPr/>
        </p:nvSpPr>
        <p:spPr>
          <a:xfrm>
            <a:off x="6364224" y="1947672"/>
            <a:ext cx="4818900" cy="2385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1" i="0" lang="en-US" sz="1490">
                <a:solidFill>
                  <a:srgbClr val="C7662E"/>
                </a:solidFill>
                <a:latin typeface="Arial"/>
                <a:ea typeface="Arial"/>
                <a:cs typeface="Arial"/>
                <a:sym typeface="Arial"/>
              </a:rPr>
              <a:t>REASONS THE STORY COULD BE BORING</a:t>
            </a:r>
            <a:endParaRPr/>
          </a:p>
        </p:txBody>
      </p:sp>
      <p:sp>
        <p:nvSpPr>
          <p:cNvPr id="918" name="Google Shape;918;p29"/>
          <p:cNvSpPr txBox="1"/>
          <p:nvPr/>
        </p:nvSpPr>
        <p:spPr>
          <a:xfrm>
            <a:off x="6373368" y="2404872"/>
            <a:ext cx="4782300" cy="20358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0" i="0" lang="en-US" sz="1500">
                <a:solidFill>
                  <a:srgbClr val="25282C"/>
                </a:solidFill>
                <a:latin typeface="Arial"/>
                <a:ea typeface="Arial"/>
                <a:cs typeface="Arial"/>
                <a:sym typeface="Arial"/>
              </a:rPr>
              <a:t>1. One shared backbone and text-explainable tasks</a:t>
            </a:r>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Benchmark successes may not use private state.</a:t>
            </a:r>
            <a:endParaRPr/>
          </a:p>
          <a:p>
            <a:pPr indent="0" lvl="0" marL="0" marR="0" rtl="0" algn="l">
              <a:spcBef>
                <a:spcPts val="200"/>
              </a:spcBef>
              <a:spcAft>
                <a:spcPts val="0"/>
              </a:spcAft>
              <a:buNone/>
            </a:pPr>
            <a:r>
              <a:t/>
            </a:r>
            <a:endParaRPr b="0" i="0" sz="1500">
              <a:solidFill>
                <a:srgbClr val="25282C"/>
              </a:solidFill>
              <a:latin typeface="Arial"/>
              <a:ea typeface="Arial"/>
              <a:cs typeface="Arial"/>
              <a:sym typeface="Arial"/>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2. Many contexts, but few unique facts</a:t>
            </a:r>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The strongest steered fact result used one fact pair.</a:t>
            </a:r>
            <a:endParaRPr/>
          </a:p>
          <a:p>
            <a:pPr indent="0" lvl="0" marL="0" marR="0" rtl="0" algn="l">
              <a:spcBef>
                <a:spcPts val="200"/>
              </a:spcBef>
              <a:spcAft>
                <a:spcPts val="0"/>
              </a:spcAft>
              <a:buNone/>
            </a:pPr>
            <a:r>
              <a:t/>
            </a:r>
            <a:endParaRPr b="0" i="0" sz="1500">
              <a:solidFill>
                <a:srgbClr val="25282C"/>
              </a:solidFill>
              <a:latin typeface="Arial"/>
              <a:ea typeface="Arial"/>
              <a:cs typeface="Arial"/>
              <a:sym typeface="Arial"/>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3. Natural chains retain a shortcut</a:t>
            </a:r>
            <a:endParaRPr/>
          </a:p>
          <a:p>
            <a:pPr indent="0" lvl="0" marL="0" marR="0" rtl="0" algn="l">
              <a:spcBef>
                <a:spcPts val="200"/>
              </a:spcBef>
              <a:spcAft>
                <a:spcPts val="0"/>
              </a:spcAft>
              <a:buNone/>
            </a:pPr>
            <a:r>
              <a:rPr b="0" i="0" lang="en-US" sz="1500">
                <a:solidFill>
                  <a:srgbClr val="25282C"/>
                </a:solidFill>
                <a:latin typeface="Arial"/>
                <a:ea typeface="Arial"/>
                <a:cs typeface="Arial"/>
                <a:sym typeface="Arial"/>
              </a:rPr>
              <a:t>The last successful transfer still identifies the holder.</a:t>
            </a:r>
            <a:endParaRPr/>
          </a:p>
        </p:txBody>
      </p:sp>
      <p:sp>
        <p:nvSpPr>
          <p:cNvPr id="919" name="Google Shape;919;p29"/>
          <p:cNvSpPr/>
          <p:nvPr/>
        </p:nvSpPr>
        <p:spPr>
          <a:xfrm>
            <a:off x="768096" y="5477256"/>
            <a:ext cx="10542900" cy="283500"/>
          </a:xfrm>
          <a:prstGeom prst="roundRect">
            <a:avLst>
              <a:gd fmla="val 12000" name="adj"/>
            </a:avLst>
          </a:prstGeom>
          <a:solidFill>
            <a:srgbClr val="E3F1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29"/>
          <p:cNvSpPr txBox="1"/>
          <p:nvPr/>
        </p:nvSpPr>
        <p:spPr>
          <a:xfrm>
            <a:off x="905256" y="5527548"/>
            <a:ext cx="10350900" cy="212400"/>
          </a:xfrm>
          <a:prstGeom prst="rect">
            <a:avLst/>
          </a:prstGeom>
          <a:noFill/>
          <a:ln>
            <a:noFill/>
          </a:ln>
        </p:spPr>
        <p:txBody>
          <a:bodyPr anchorCtr="0" anchor="t" bIns="9125" lIns="18275" spcFirstLastPara="1" rIns="18275" wrap="square" tIns="0">
            <a:spAutoFit/>
          </a:bodyPr>
          <a:lstStyle/>
          <a:p>
            <a:pPr indent="0" lvl="0" marL="0" marR="0" rtl="0" algn="l">
              <a:spcBef>
                <a:spcPts val="0"/>
              </a:spcBef>
              <a:spcAft>
                <a:spcPts val="0"/>
              </a:spcAft>
              <a:buNone/>
            </a:pPr>
            <a:r>
              <a:rPr b="1" i="0" lang="en-US" sz="1320">
                <a:solidFill>
                  <a:srgbClr val="247B78"/>
                </a:solidFill>
                <a:latin typeface="Arial"/>
                <a:ea typeface="Arial"/>
                <a:cs typeface="Arial"/>
                <a:sym typeface="Arial"/>
              </a:rPr>
              <a:t>DO DIFFERENTLY: pre-register the trivial baseline; human-code a blind sample; test several fact pairs and negated transfers.</a:t>
            </a:r>
            <a:endParaRPr/>
          </a:p>
        </p:txBody>
      </p:sp>
      <p:sp>
        <p:nvSpPr>
          <p:cNvPr id="921" name="Google Shape;921;p29"/>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30"/>
          <p:cNvSpPr txBox="1"/>
          <p:nvPr>
            <p:ph idx="1" type="body"/>
          </p:nvPr>
        </p:nvSpPr>
        <p:spPr>
          <a:xfrm>
            <a:off x="548640" y="292608"/>
            <a:ext cx="8778300" cy="27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1100"/>
              <a:buNone/>
            </a:pPr>
            <a:r>
              <a:t/>
            </a:r>
            <a:endParaRPr b="1" spc="150" sz="1100">
              <a:solidFill>
                <a:schemeClr val="dk2"/>
              </a:solidFill>
            </a:endParaRPr>
          </a:p>
        </p:txBody>
      </p:sp>
      <p:sp>
        <p:nvSpPr>
          <p:cNvPr id="927" name="Google Shape;927;p30"/>
          <p:cNvSpPr txBox="1"/>
          <p:nvPr>
            <p:ph type="title"/>
          </p:nvPr>
        </p:nvSpPr>
        <p:spPr>
          <a:xfrm>
            <a:off x="548640" y="566928"/>
            <a:ext cx="88698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700"/>
              <a:buFont typeface="Cambria"/>
              <a:buNone/>
            </a:pPr>
            <a:r>
              <a:t/>
            </a:r>
            <a:endParaRPr sz="2700">
              <a:solidFill>
                <a:schemeClr val="dk1"/>
              </a:solidFill>
              <a:latin typeface="Cambria"/>
              <a:ea typeface="Cambria"/>
              <a:cs typeface="Cambria"/>
              <a:sym typeface="Cambria"/>
            </a:endParaRPr>
          </a:p>
        </p:txBody>
      </p:sp>
      <p:sp>
        <p:nvSpPr>
          <p:cNvPr id="928" name="Google Shape;928;p30"/>
          <p:cNvSpPr txBox="1"/>
          <p:nvPr>
            <p:ph idx="2" type="body"/>
          </p:nvPr>
        </p:nvSpPr>
        <p:spPr>
          <a:xfrm>
            <a:off x="548640" y="5943600"/>
            <a:ext cx="110643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t/>
            </a:r>
            <a:endParaRPr sz="1200">
              <a:solidFill>
                <a:schemeClr val="dk1"/>
              </a:solidFill>
            </a:endParaRPr>
          </a:p>
        </p:txBody>
      </p:sp>
      <p:sp>
        <p:nvSpPr>
          <p:cNvPr id="929" name="Google Shape;929;p30"/>
          <p:cNvSpPr txBox="1"/>
          <p:nvPr>
            <p:ph idx="3" type="body"/>
          </p:nvPr>
        </p:nvSpPr>
        <p:spPr>
          <a:xfrm>
            <a:off x="548640" y="6437376"/>
            <a:ext cx="102414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1100"/>
              <a:buNone/>
            </a:pPr>
            <a:r>
              <a:t/>
            </a:r>
            <a:endParaRPr sz="1100">
              <a:solidFill>
                <a:schemeClr val="dk2"/>
              </a:solidFill>
            </a:endParaRPr>
          </a:p>
        </p:txBody>
      </p:sp>
      <p:sp>
        <p:nvSpPr>
          <p:cNvPr id="930" name="Google Shape;930;p30"/>
          <p:cNvSpPr/>
          <p:nvPr/>
        </p:nvSpPr>
        <p:spPr>
          <a:xfrm>
            <a:off x="0" y="0"/>
            <a:ext cx="12192000" cy="6858000"/>
          </a:xfrm>
          <a:prstGeom prst="rect">
            <a:avLst/>
          </a:prstGeom>
          <a:solidFill>
            <a:srgbClr val="F7F5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1" name="Google Shape;931;p30"/>
          <p:cNvSpPr txBox="1"/>
          <p:nvPr/>
        </p:nvSpPr>
        <p:spPr>
          <a:xfrm>
            <a:off x="548640" y="283464"/>
            <a:ext cx="8549700" cy="197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100">
                <a:solidFill>
                  <a:srgbClr val="9A948A"/>
                </a:solidFill>
                <a:latin typeface="Calibri"/>
                <a:ea typeface="Calibri"/>
                <a:cs typeface="Calibri"/>
                <a:sym typeface="Calibri"/>
              </a:rPr>
              <a:t>MECHANISTIC CLOSURE IS THE NEXT PROJECT</a:t>
            </a:r>
            <a:endParaRPr/>
          </a:p>
        </p:txBody>
      </p:sp>
      <p:sp>
        <p:nvSpPr>
          <p:cNvPr id="932" name="Google Shape;932;p30"/>
          <p:cNvSpPr txBox="1"/>
          <p:nvPr/>
        </p:nvSpPr>
        <p:spPr>
          <a:xfrm>
            <a:off x="612590" y="702616"/>
            <a:ext cx="10972800" cy="4125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lang="en-US" sz="2500">
                <a:solidFill>
                  <a:srgbClr val="1D232A"/>
                </a:solidFill>
              </a:rPr>
              <a:t>Three explanations survive: the decisive test must separate them</a:t>
            </a:r>
            <a:endParaRPr b="1" sz="2500">
              <a:solidFill>
                <a:srgbClr val="1D232A"/>
              </a:solidFill>
            </a:endParaRPr>
          </a:p>
        </p:txBody>
      </p:sp>
      <p:sp>
        <p:nvSpPr>
          <p:cNvPr id="933" name="Google Shape;933;p30"/>
          <p:cNvSpPr/>
          <p:nvPr/>
        </p:nvSpPr>
        <p:spPr>
          <a:xfrm>
            <a:off x="9500616" y="338328"/>
            <a:ext cx="164700" cy="164700"/>
          </a:xfrm>
          <a:prstGeom prst="ellipse">
            <a:avLst/>
          </a:prstGeom>
          <a:solidFill>
            <a:srgbClr val="6A4C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4" name="Google Shape;934;p30"/>
          <p:cNvSpPr txBox="1"/>
          <p:nvPr/>
        </p:nvSpPr>
        <p:spPr>
          <a:xfrm>
            <a:off x="9317736"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decodable</a:t>
            </a:r>
            <a:endParaRPr/>
          </a:p>
        </p:txBody>
      </p:sp>
      <p:sp>
        <p:nvSpPr>
          <p:cNvPr id="935" name="Google Shape;935;p30"/>
          <p:cNvSpPr/>
          <p:nvPr/>
        </p:nvSpPr>
        <p:spPr>
          <a:xfrm>
            <a:off x="10360152" y="338328"/>
            <a:ext cx="164700" cy="164700"/>
          </a:xfrm>
          <a:prstGeom prst="ellipse">
            <a:avLst/>
          </a:prstGeom>
          <a:solidFill>
            <a:srgbClr val="C862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6" name="Google Shape;936;p30"/>
          <p:cNvSpPr txBox="1"/>
          <p:nvPr/>
        </p:nvSpPr>
        <p:spPr>
          <a:xfrm>
            <a:off x="10177272"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causal here</a:t>
            </a:r>
            <a:endParaRPr/>
          </a:p>
        </p:txBody>
      </p:sp>
      <p:sp>
        <p:nvSpPr>
          <p:cNvPr id="937" name="Google Shape;937;p30"/>
          <p:cNvSpPr/>
          <p:nvPr/>
        </p:nvSpPr>
        <p:spPr>
          <a:xfrm>
            <a:off x="11219688" y="338328"/>
            <a:ext cx="164700" cy="164700"/>
          </a:xfrm>
          <a:prstGeom prst="ellipse">
            <a:avLst/>
          </a:prstGeom>
          <a:solidFill>
            <a:srgbClr val="B03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8" name="Google Shape;938;p30"/>
          <p:cNvSpPr txBox="1"/>
          <p:nvPr/>
        </p:nvSpPr>
        <p:spPr>
          <a:xfrm>
            <a:off x="11036808" y="512064"/>
            <a:ext cx="932700" cy="181500"/>
          </a:xfrm>
          <a:prstGeom prst="rect">
            <a:avLst/>
          </a:prstGeom>
          <a:noFill/>
          <a:ln>
            <a:noFill/>
          </a:ln>
        </p:spPr>
        <p:txBody>
          <a:bodyPr anchorCtr="0" anchor="t" bIns="13700" lIns="0" spcFirstLastPara="1" rIns="0" wrap="square" tIns="13700">
            <a:spAutoFit/>
          </a:bodyPr>
          <a:lstStyle/>
          <a:p>
            <a:pPr indent="0" lvl="0" marL="0" marR="0" rtl="0" algn="ctr">
              <a:spcBef>
                <a:spcPts val="0"/>
              </a:spcBef>
              <a:spcAft>
                <a:spcPts val="0"/>
              </a:spcAft>
              <a:buNone/>
            </a:pPr>
            <a:r>
              <a:rPr b="0" i="0" lang="en-US" sz="1000">
                <a:solidFill>
                  <a:srgbClr val="9A948A"/>
                </a:solidFill>
                <a:latin typeface="Calibri"/>
                <a:ea typeface="Calibri"/>
                <a:cs typeface="Calibri"/>
                <a:sym typeface="Calibri"/>
              </a:rPr>
              <a:t>stated</a:t>
            </a:r>
            <a:endParaRPr/>
          </a:p>
        </p:txBody>
      </p:sp>
      <p:sp>
        <p:nvSpPr>
          <p:cNvPr id="939" name="Google Shape;939;p30"/>
          <p:cNvSpPr txBox="1"/>
          <p:nvPr/>
        </p:nvSpPr>
        <p:spPr>
          <a:xfrm>
            <a:off x="548640" y="5925312"/>
            <a:ext cx="11064300" cy="2046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150">
                <a:solidFill>
                  <a:srgbClr val="B03060"/>
                </a:solidFill>
                <a:latin typeface="Calibri"/>
                <a:ea typeface="Calibri"/>
                <a:cs typeface="Calibri"/>
                <a:sym typeface="Calibri"/>
              </a:rPr>
              <a:t>Does not show  That one positive probe, donor swap, reconstruction score, or readout is sufficient to identify a mechanism.</a:t>
            </a:r>
            <a:endParaRPr/>
          </a:p>
        </p:txBody>
      </p:sp>
      <p:sp>
        <p:nvSpPr>
          <p:cNvPr id="940" name="Google Shape;940;p30"/>
          <p:cNvSpPr/>
          <p:nvPr/>
        </p:nvSpPr>
        <p:spPr>
          <a:xfrm>
            <a:off x="704088" y="1755648"/>
            <a:ext cx="3456300" cy="3584400"/>
          </a:xfrm>
          <a:prstGeom prst="roundRect">
            <a:avLst>
              <a:gd fmla="val 12000" name="adj"/>
            </a:avLst>
          </a:prstGeom>
          <a:solidFill>
            <a:srgbClr val="FFFFFF"/>
          </a:solidFill>
          <a:ln cap="flat" cmpd="sng" w="12700">
            <a:solidFill>
              <a:srgbClr val="DBD6C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1" name="Google Shape;941;p30"/>
          <p:cNvSpPr/>
          <p:nvPr/>
        </p:nvSpPr>
        <p:spPr>
          <a:xfrm>
            <a:off x="704088" y="1755648"/>
            <a:ext cx="54900" cy="3584400"/>
          </a:xfrm>
          <a:prstGeom prst="rect">
            <a:avLst/>
          </a:prstGeom>
          <a:solidFill>
            <a:srgbClr val="6A4C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30"/>
          <p:cNvSpPr txBox="1"/>
          <p:nvPr/>
        </p:nvSpPr>
        <p:spPr>
          <a:xfrm>
            <a:off x="923544" y="1965960"/>
            <a:ext cx="3017400" cy="6126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900">
                <a:solidFill>
                  <a:srgbClr val="6A4C9C"/>
                </a:solidFill>
                <a:latin typeface="Calibri"/>
                <a:ea typeface="Calibri"/>
                <a:cs typeface="Calibri"/>
                <a:sym typeface="Calibri"/>
              </a:rPr>
              <a:t>1 · PROMPT RECONSTRUCTION</a:t>
            </a:r>
            <a:endParaRPr/>
          </a:p>
        </p:txBody>
      </p:sp>
      <p:sp>
        <p:nvSpPr>
          <p:cNvPr id="943" name="Google Shape;943;p30"/>
          <p:cNvSpPr txBox="1"/>
          <p:nvPr/>
        </p:nvSpPr>
        <p:spPr>
          <a:xfrm>
            <a:off x="923544" y="2596896"/>
            <a:ext cx="3017400" cy="15105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50">
                <a:solidFill>
                  <a:srgbClr val="1F2A33"/>
                </a:solidFill>
                <a:latin typeface="Calibri"/>
                <a:ea typeface="Calibri"/>
                <a:cs typeface="Calibri"/>
                <a:sym typeface="Calibri"/>
              </a:rPr>
              <a:t>Hypothesis: the reader infers the question and uses its own prior.</a:t>
            </a:r>
            <a:endParaRPr/>
          </a:p>
          <a:p>
            <a:pPr indent="0" lvl="0" marL="0" marR="0" rtl="0" algn="l">
              <a:spcBef>
                <a:spcPts val="200"/>
              </a:spcBef>
              <a:spcAft>
                <a:spcPts val="0"/>
              </a:spcAft>
              <a:buNone/>
            </a:pPr>
            <a:r>
              <a:t/>
            </a:r>
            <a:endParaRPr b="0" i="0" sz="1550">
              <a:solidFill>
                <a:srgbClr val="1F2A33"/>
              </a:solidFill>
              <a:latin typeface="Calibri"/>
              <a:ea typeface="Calibri"/>
              <a:cs typeface="Calibri"/>
              <a:sym typeface="Calibri"/>
            </a:endParaRPr>
          </a:p>
          <a:p>
            <a:pPr indent="0" lvl="0" marL="0" marR="0" rtl="0" algn="l">
              <a:spcBef>
                <a:spcPts val="200"/>
              </a:spcBef>
              <a:spcAft>
                <a:spcPts val="0"/>
              </a:spcAft>
              <a:buNone/>
            </a:pPr>
            <a:r>
              <a:rPr b="0" i="0" lang="en-US" sz="1550">
                <a:solidFill>
                  <a:srgbClr val="1F2A33"/>
                </a:solidFill>
                <a:latin typeface="Calibri"/>
                <a:ea typeface="Calibri"/>
                <a:cs typeface="Calibri"/>
                <a:sym typeface="Calibri"/>
              </a:rPr>
              <a:t>Test: fixed text, verified different subject states, matched text-only predictor.</a:t>
            </a:r>
            <a:endParaRPr/>
          </a:p>
        </p:txBody>
      </p:sp>
      <p:sp>
        <p:nvSpPr>
          <p:cNvPr id="944" name="Google Shape;944;p30"/>
          <p:cNvSpPr/>
          <p:nvPr/>
        </p:nvSpPr>
        <p:spPr>
          <a:xfrm>
            <a:off x="4370832" y="1755648"/>
            <a:ext cx="3456300" cy="3584400"/>
          </a:xfrm>
          <a:prstGeom prst="roundRect">
            <a:avLst>
              <a:gd fmla="val 12000" name="adj"/>
            </a:avLst>
          </a:prstGeom>
          <a:solidFill>
            <a:srgbClr val="FFFFFF"/>
          </a:solidFill>
          <a:ln cap="flat" cmpd="sng" w="12700">
            <a:solidFill>
              <a:srgbClr val="DBD6C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5" name="Google Shape;945;p30"/>
          <p:cNvSpPr/>
          <p:nvPr/>
        </p:nvSpPr>
        <p:spPr>
          <a:xfrm>
            <a:off x="4370832" y="1755648"/>
            <a:ext cx="54900" cy="3584400"/>
          </a:xfrm>
          <a:prstGeom prst="rect">
            <a:avLst/>
          </a:prstGeom>
          <a:solidFill>
            <a:srgbClr val="B03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p30"/>
          <p:cNvSpPr txBox="1"/>
          <p:nvPr/>
        </p:nvSpPr>
        <p:spPr>
          <a:xfrm>
            <a:off x="4590288" y="1965960"/>
            <a:ext cx="3017400" cy="320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900">
                <a:solidFill>
                  <a:srgbClr val="B03060"/>
                </a:solidFill>
                <a:latin typeface="Calibri"/>
                <a:ea typeface="Calibri"/>
                <a:cs typeface="Calibri"/>
                <a:sym typeface="Calibri"/>
              </a:rPr>
              <a:t>2 · OUTPUT REGISTER</a:t>
            </a:r>
            <a:endParaRPr/>
          </a:p>
        </p:txBody>
      </p:sp>
      <p:sp>
        <p:nvSpPr>
          <p:cNvPr id="947" name="Google Shape;947;p30"/>
          <p:cNvSpPr txBox="1"/>
          <p:nvPr/>
        </p:nvSpPr>
        <p:spPr>
          <a:xfrm>
            <a:off x="4590288" y="2596896"/>
            <a:ext cx="3017400" cy="15105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50">
                <a:solidFill>
                  <a:srgbClr val="1F2A33"/>
                </a:solidFill>
                <a:latin typeface="Calibri"/>
                <a:ea typeface="Calibri"/>
                <a:cs typeface="Calibri"/>
                <a:sym typeface="Calibri"/>
              </a:rPr>
              <a:t>Hypothesis: state is accessible but normal generation rarely expresses it.</a:t>
            </a:r>
            <a:endParaRPr/>
          </a:p>
          <a:p>
            <a:pPr indent="0" lvl="0" marL="0" marR="0" rtl="0" algn="l">
              <a:spcBef>
                <a:spcPts val="200"/>
              </a:spcBef>
              <a:spcAft>
                <a:spcPts val="0"/>
              </a:spcAft>
              <a:buNone/>
            </a:pPr>
            <a:r>
              <a:t/>
            </a:r>
            <a:endParaRPr b="0" i="0" sz="1550">
              <a:solidFill>
                <a:srgbClr val="1F2A33"/>
              </a:solidFill>
              <a:latin typeface="Calibri"/>
              <a:ea typeface="Calibri"/>
              <a:cs typeface="Calibri"/>
              <a:sym typeface="Calibri"/>
            </a:endParaRPr>
          </a:p>
          <a:p>
            <a:pPr indent="0" lvl="0" marL="0" marR="0" rtl="0" algn="l">
              <a:spcBef>
                <a:spcPts val="200"/>
              </a:spcBef>
              <a:spcAft>
                <a:spcPts val="0"/>
              </a:spcAft>
              <a:buNone/>
            </a:pPr>
            <a:r>
              <a:rPr b="0" i="0" lang="en-US" sz="1550">
                <a:solidFill>
                  <a:srgbClr val="1F2A33"/>
                </a:solidFill>
                <a:latin typeface="Calibri"/>
                <a:ea typeface="Calibri"/>
                <a:cs typeface="Calibri"/>
                <a:sym typeface="Calibri"/>
              </a:rPr>
              <a:t>Test: fixed activation, controlled output elicitation; human-validated naming.</a:t>
            </a:r>
            <a:endParaRPr/>
          </a:p>
        </p:txBody>
      </p:sp>
      <p:sp>
        <p:nvSpPr>
          <p:cNvPr id="948" name="Google Shape;948;p30"/>
          <p:cNvSpPr/>
          <p:nvPr/>
        </p:nvSpPr>
        <p:spPr>
          <a:xfrm>
            <a:off x="8037575" y="1755648"/>
            <a:ext cx="3456300" cy="3584400"/>
          </a:xfrm>
          <a:prstGeom prst="roundRect">
            <a:avLst>
              <a:gd fmla="val 12000" name="adj"/>
            </a:avLst>
          </a:prstGeom>
          <a:solidFill>
            <a:srgbClr val="FFFFFF"/>
          </a:solidFill>
          <a:ln cap="flat" cmpd="sng" w="12700">
            <a:solidFill>
              <a:srgbClr val="DBD6C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30"/>
          <p:cNvSpPr/>
          <p:nvPr/>
        </p:nvSpPr>
        <p:spPr>
          <a:xfrm>
            <a:off x="8037575" y="1755648"/>
            <a:ext cx="54900" cy="3584400"/>
          </a:xfrm>
          <a:prstGeom prst="rect">
            <a:avLst/>
          </a:prstGeom>
          <a:solidFill>
            <a:srgbClr val="C862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p30"/>
          <p:cNvSpPr txBox="1"/>
          <p:nvPr/>
        </p:nvSpPr>
        <p:spPr>
          <a:xfrm>
            <a:off x="8257031" y="1965960"/>
            <a:ext cx="3017400" cy="3201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1" i="0" lang="en-US" sz="1900">
                <a:solidFill>
                  <a:srgbClr val="C8622B"/>
                </a:solidFill>
                <a:latin typeface="Calibri"/>
                <a:ea typeface="Calibri"/>
                <a:cs typeface="Calibri"/>
                <a:sym typeface="Calibri"/>
              </a:rPr>
              <a:t>3 · TRAINING OBJECTIVE</a:t>
            </a:r>
            <a:endParaRPr/>
          </a:p>
        </p:txBody>
      </p:sp>
      <p:sp>
        <p:nvSpPr>
          <p:cNvPr id="951" name="Google Shape;951;p30"/>
          <p:cNvSpPr txBox="1"/>
          <p:nvPr/>
        </p:nvSpPr>
        <p:spPr>
          <a:xfrm>
            <a:off x="8257031" y="2596896"/>
            <a:ext cx="3017400" cy="1749000"/>
          </a:xfrm>
          <a:prstGeom prst="rect">
            <a:avLst/>
          </a:prstGeom>
          <a:noFill/>
          <a:ln>
            <a:noFill/>
          </a:ln>
        </p:spPr>
        <p:txBody>
          <a:bodyPr anchorCtr="0" anchor="t" bIns="13700" lIns="0" spcFirstLastPara="1" rIns="0" wrap="square" tIns="13700">
            <a:spAutoFit/>
          </a:bodyPr>
          <a:lstStyle/>
          <a:p>
            <a:pPr indent="0" lvl="0" marL="0" marR="0" rtl="0" algn="l">
              <a:spcBef>
                <a:spcPts val="0"/>
              </a:spcBef>
              <a:spcAft>
                <a:spcPts val="0"/>
              </a:spcAft>
              <a:buNone/>
            </a:pPr>
            <a:r>
              <a:rPr b="0" i="0" lang="en-US" sz="1550">
                <a:solidFill>
                  <a:srgbClr val="1F2A33"/>
                </a:solidFill>
                <a:latin typeface="Calibri"/>
                <a:ea typeface="Calibri"/>
                <a:cs typeface="Calibri"/>
                <a:sym typeface="Calibri"/>
              </a:rPr>
              <a:t>Hypothesis: reconstruction optimization fails to reward truthful statements.</a:t>
            </a:r>
            <a:endParaRPr/>
          </a:p>
          <a:p>
            <a:pPr indent="0" lvl="0" marL="0" marR="0" rtl="0" algn="l">
              <a:spcBef>
                <a:spcPts val="200"/>
              </a:spcBef>
              <a:spcAft>
                <a:spcPts val="0"/>
              </a:spcAft>
              <a:buNone/>
            </a:pPr>
            <a:r>
              <a:t/>
            </a:r>
            <a:endParaRPr b="0" i="0" sz="1550">
              <a:solidFill>
                <a:srgbClr val="1F2A33"/>
              </a:solidFill>
              <a:latin typeface="Calibri"/>
              <a:ea typeface="Calibri"/>
              <a:cs typeface="Calibri"/>
              <a:sym typeface="Calibri"/>
            </a:endParaRPr>
          </a:p>
          <a:p>
            <a:pPr indent="0" lvl="0" marL="0" marR="0" rtl="0" algn="l">
              <a:spcBef>
                <a:spcPts val="200"/>
              </a:spcBef>
              <a:spcAft>
                <a:spcPts val="0"/>
              </a:spcAft>
              <a:buNone/>
            </a:pPr>
            <a:r>
              <a:rPr b="0" i="0" lang="en-US" sz="1550">
                <a:solidFill>
                  <a:srgbClr val="1F2A33"/>
                </a:solidFill>
                <a:latin typeface="Calibri"/>
                <a:ea typeface="Calibri"/>
                <a:cs typeface="Calibri"/>
                <a:sym typeface="Calibri"/>
              </a:rPr>
              <a:t>Test: matched warm start, reward-only ablation and held-out generalization.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31"/>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RESEARCH PHASE · FIRST PRIORITY</a:t>
            </a:r>
            <a:endParaRPr sz="1100"/>
          </a:p>
        </p:txBody>
      </p:sp>
      <p:sp>
        <p:nvSpPr>
          <p:cNvPr id="958" name="Google Shape;958;p31"/>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500">
                <a:solidFill>
                  <a:srgbClr val="1D232A"/>
                </a:solidFill>
                <a:latin typeface="Arial"/>
                <a:ea typeface="Arial"/>
                <a:cs typeface="Arial"/>
                <a:sym typeface="Arial"/>
              </a:rPr>
              <a:t>A benchmark of model-private state, verified causally, against strong text-only baselines</a:t>
            </a:r>
            <a:endParaRPr sz="2500">
              <a:latin typeface="Arial"/>
              <a:ea typeface="Arial"/>
              <a:cs typeface="Arial"/>
              <a:sym typeface="Arial"/>
            </a:endParaRPr>
          </a:p>
        </p:txBody>
      </p:sp>
      <p:sp>
        <p:nvSpPr>
          <p:cNvPr id="959" name="Google Shape;959;p31"/>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Falsifier   </a:t>
            </a:r>
            <a:r>
              <a:rPr lang="en-US" sz="1200">
                <a:solidFill>
                  <a:schemeClr val="dk1"/>
                </a:solidFill>
              </a:rPr>
              <a:t>The readout follows question identity rather than verified state, or a powered interval excludes a useful edge over the best text-only baseline. Mining is the cost: the 58 discordant pairs came from 300 screened.</a:t>
            </a:r>
            <a:endParaRPr sz="1200"/>
          </a:p>
        </p:txBody>
      </p:sp>
      <p:sp>
        <p:nvSpPr>
          <p:cNvPr id="960" name="Google Shape;960;p31"/>
          <p:cNvSpPr txBox="1"/>
          <p:nvPr/>
        </p:nvSpPr>
        <p:spPr>
          <a:xfrm>
            <a:off x="548640" y="1691640"/>
            <a:ext cx="3657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Manipulation</a:t>
            </a:r>
            <a:endParaRPr sz="1400">
              <a:solidFill>
                <a:schemeClr val="dk1"/>
              </a:solidFill>
              <a:latin typeface="Calibri"/>
              <a:ea typeface="Calibri"/>
              <a:cs typeface="Calibri"/>
              <a:sym typeface="Calibri"/>
            </a:endParaRPr>
          </a:p>
        </p:txBody>
      </p:sp>
      <p:sp>
        <p:nvSpPr>
          <p:cNvPr id="961" name="Google Shape;961;p31"/>
          <p:cNvSpPr/>
          <p:nvPr/>
        </p:nvSpPr>
        <p:spPr>
          <a:xfrm>
            <a:off x="548640" y="2011680"/>
            <a:ext cx="3566100" cy="3612000"/>
          </a:xfrm>
          <a:prstGeom prst="roundRect">
            <a:avLst>
              <a:gd fmla="val 2051" name="adj"/>
            </a:avLst>
          </a:prstGeom>
          <a:solidFill>
            <a:srgbClr val="F5E2D5"/>
          </a:solidFill>
          <a:ln cap="flat" cmpd="sng" w="9525">
            <a:solidFill>
              <a:srgbClr val="F5E2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31"/>
          <p:cNvSpPr txBox="1"/>
          <p:nvPr/>
        </p:nvSpPr>
        <p:spPr>
          <a:xfrm>
            <a:off x="731520" y="2148840"/>
            <a:ext cx="3200400" cy="338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Items where Qwen's answer is not recoverable from the text alone: wording-dependent answers (58 of 300 screened in E140), facts Qwen gets consistently wrong, two-step questions through a wrong intermediate.</a:t>
            </a:r>
            <a:endParaRPr sz="15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50"/>
              <a:buFont typeface="Calibri"/>
              <a:buNone/>
            </a:pPr>
            <a:r>
              <a:t/>
            </a:r>
            <a:endParaRPr sz="15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Verify each item's state twice: repeated sampling of Qwen, and a read-token patch that moves the answer.</a:t>
            </a:r>
            <a:endParaRPr sz="1550">
              <a:solidFill>
                <a:schemeClr val="dk1"/>
              </a:solidFill>
              <a:latin typeface="Calibri"/>
              <a:ea typeface="Calibri"/>
              <a:cs typeface="Calibri"/>
              <a:sym typeface="Calibri"/>
            </a:endParaRPr>
          </a:p>
        </p:txBody>
      </p:sp>
      <p:cxnSp>
        <p:nvCxnSpPr>
          <p:cNvPr id="963" name="Google Shape;963;p31"/>
          <p:cNvCxnSpPr/>
          <p:nvPr/>
        </p:nvCxnSpPr>
        <p:spPr>
          <a:xfrm>
            <a:off x="4160520" y="3794760"/>
            <a:ext cx="365700" cy="900"/>
          </a:xfrm>
          <a:prstGeom prst="straightConnector1">
            <a:avLst/>
          </a:prstGeom>
          <a:noFill/>
          <a:ln cap="flat" cmpd="sng" w="25400">
            <a:solidFill>
              <a:srgbClr val="56606B"/>
            </a:solidFill>
            <a:prstDash val="solid"/>
            <a:round/>
            <a:headEnd len="sm" w="sm" type="none"/>
            <a:tailEnd len="med" w="med" type="triangle"/>
          </a:ln>
        </p:spPr>
      </p:cxnSp>
      <p:sp>
        <p:nvSpPr>
          <p:cNvPr id="964" name="Google Shape;964;p31"/>
          <p:cNvSpPr txBox="1"/>
          <p:nvPr/>
        </p:nvSpPr>
        <p:spPr>
          <a:xfrm>
            <a:off x="4572000" y="1691640"/>
            <a:ext cx="3657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Arms and matched baselines</a:t>
            </a:r>
            <a:endParaRPr sz="1400">
              <a:solidFill>
                <a:schemeClr val="dk1"/>
              </a:solidFill>
              <a:latin typeface="Calibri"/>
              <a:ea typeface="Calibri"/>
              <a:cs typeface="Calibri"/>
              <a:sym typeface="Calibri"/>
            </a:endParaRPr>
          </a:p>
        </p:txBody>
      </p:sp>
      <p:sp>
        <p:nvSpPr>
          <p:cNvPr id="965" name="Google Shape;965;p31"/>
          <p:cNvSpPr/>
          <p:nvPr/>
        </p:nvSpPr>
        <p:spPr>
          <a:xfrm>
            <a:off x="4572000" y="2011680"/>
            <a:ext cx="3429000" cy="793200"/>
          </a:xfrm>
          <a:prstGeom prst="roundRect">
            <a:avLst>
              <a:gd fmla="val 6916"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 name="Google Shape;966;p31"/>
          <p:cNvSpPr txBox="1"/>
          <p:nvPr/>
        </p:nvSpPr>
        <p:spPr>
          <a:xfrm>
            <a:off x="4736592" y="206654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Reader on the activation (Oracle, NLA; several blocks)</a:t>
            </a:r>
            <a:endParaRPr sz="1500">
              <a:solidFill>
                <a:schemeClr val="dk1"/>
              </a:solidFill>
              <a:latin typeface="Calibri"/>
              <a:ea typeface="Calibri"/>
              <a:cs typeface="Calibri"/>
              <a:sym typeface="Calibri"/>
            </a:endParaRPr>
          </a:p>
        </p:txBody>
      </p:sp>
      <p:sp>
        <p:nvSpPr>
          <p:cNvPr id="967" name="Google Shape;967;p31"/>
          <p:cNvSpPr/>
          <p:nvPr/>
        </p:nvSpPr>
        <p:spPr>
          <a:xfrm>
            <a:off x="4572000" y="2914650"/>
            <a:ext cx="3429000" cy="793200"/>
          </a:xfrm>
          <a:prstGeom prst="roundRect">
            <a:avLst>
              <a:gd fmla="val 6916" name="adj"/>
            </a:avLst>
          </a:prstGeom>
          <a:solidFill>
            <a:srgbClr val="E4DFD5"/>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 name="Google Shape;968;p31"/>
          <p:cNvSpPr txBox="1"/>
          <p:nvPr/>
        </p:nvSpPr>
        <p:spPr>
          <a:xfrm>
            <a:off x="4736592" y="296951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Same backbone given only the text the reader decodes</a:t>
            </a:r>
            <a:endParaRPr sz="1500">
              <a:solidFill>
                <a:schemeClr val="dk1"/>
              </a:solidFill>
              <a:latin typeface="Calibri"/>
              <a:ea typeface="Calibri"/>
              <a:cs typeface="Calibri"/>
              <a:sym typeface="Calibri"/>
            </a:endParaRPr>
          </a:p>
        </p:txBody>
      </p:sp>
      <p:sp>
        <p:nvSpPr>
          <p:cNvPr id="969" name="Google Shape;969;p31"/>
          <p:cNvSpPr/>
          <p:nvPr/>
        </p:nvSpPr>
        <p:spPr>
          <a:xfrm>
            <a:off x="4572000" y="3817620"/>
            <a:ext cx="3429000" cy="793200"/>
          </a:xfrm>
          <a:prstGeom prst="roundRect">
            <a:avLst>
              <a:gd fmla="val 6916" name="adj"/>
            </a:avLst>
          </a:prstGeom>
          <a:solidFill>
            <a:srgbClr val="E4DFD5"/>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 name="Google Shape;970;p31"/>
          <p:cNvSpPr txBox="1"/>
          <p:nvPr/>
        </p:nvSpPr>
        <p:spPr>
          <a:xfrm>
            <a:off x="4736592" y="387248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Same backbone given the prompt, k-matched samples</a:t>
            </a:r>
            <a:endParaRPr sz="1500">
              <a:solidFill>
                <a:schemeClr val="dk1"/>
              </a:solidFill>
              <a:latin typeface="Calibri"/>
              <a:ea typeface="Calibri"/>
              <a:cs typeface="Calibri"/>
              <a:sym typeface="Calibri"/>
            </a:endParaRPr>
          </a:p>
        </p:txBody>
      </p:sp>
      <p:sp>
        <p:nvSpPr>
          <p:cNvPr id="971" name="Google Shape;971;p31"/>
          <p:cNvSpPr/>
          <p:nvPr/>
        </p:nvSpPr>
        <p:spPr>
          <a:xfrm>
            <a:off x="4572000" y="4720590"/>
            <a:ext cx="3429000" cy="793200"/>
          </a:xfrm>
          <a:prstGeom prst="roundRect">
            <a:avLst>
              <a:gd fmla="val 6916" name="adj"/>
            </a:avLst>
          </a:prstGeom>
          <a:solidFill>
            <a:srgbClr val="E4DFD5"/>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 name="Google Shape;972;p31"/>
          <p:cNvSpPr txBox="1"/>
          <p:nvPr/>
        </p:nvSpPr>
        <p:spPr>
          <a:xfrm>
            <a:off x="4736592" y="477545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Linear probe on the answer logit</a:t>
            </a:r>
            <a:endParaRPr sz="1500">
              <a:solidFill>
                <a:schemeClr val="dk1"/>
              </a:solidFill>
              <a:latin typeface="Calibri"/>
              <a:ea typeface="Calibri"/>
              <a:cs typeface="Calibri"/>
              <a:sym typeface="Calibri"/>
            </a:endParaRPr>
          </a:p>
        </p:txBody>
      </p:sp>
      <p:cxnSp>
        <p:nvCxnSpPr>
          <p:cNvPr id="973" name="Google Shape;973;p31"/>
          <p:cNvCxnSpPr/>
          <p:nvPr/>
        </p:nvCxnSpPr>
        <p:spPr>
          <a:xfrm>
            <a:off x="8046720" y="3794760"/>
            <a:ext cx="365700" cy="900"/>
          </a:xfrm>
          <a:prstGeom prst="straightConnector1">
            <a:avLst/>
          </a:prstGeom>
          <a:noFill/>
          <a:ln cap="flat" cmpd="sng" w="25400">
            <a:solidFill>
              <a:srgbClr val="56606B"/>
            </a:solidFill>
            <a:prstDash val="solid"/>
            <a:round/>
            <a:headEnd len="sm" w="sm" type="none"/>
            <a:tailEnd len="med" w="med" type="triangle"/>
          </a:ln>
        </p:spPr>
      </p:cxnSp>
      <p:sp>
        <p:nvSpPr>
          <p:cNvPr id="974" name="Google Shape;974;p31"/>
          <p:cNvSpPr txBox="1"/>
          <p:nvPr/>
        </p:nvSpPr>
        <p:spPr>
          <a:xfrm>
            <a:off x="8458200" y="1691640"/>
            <a:ext cx="32004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Endpoint</a:t>
            </a:r>
            <a:endParaRPr sz="1400">
              <a:solidFill>
                <a:schemeClr val="dk1"/>
              </a:solidFill>
              <a:latin typeface="Calibri"/>
              <a:ea typeface="Calibri"/>
              <a:cs typeface="Calibri"/>
              <a:sym typeface="Calibri"/>
            </a:endParaRPr>
          </a:p>
        </p:txBody>
      </p:sp>
      <p:sp>
        <p:nvSpPr>
          <p:cNvPr id="975" name="Google Shape;975;p31"/>
          <p:cNvSpPr/>
          <p:nvPr/>
        </p:nvSpPr>
        <p:spPr>
          <a:xfrm>
            <a:off x="8458200" y="2011680"/>
            <a:ext cx="3200400" cy="3612000"/>
          </a:xfrm>
          <a:prstGeom prst="roundRect">
            <a:avLst>
              <a:gd fmla="val 2286" name="adj"/>
            </a:avLst>
          </a:prstGeom>
          <a:solidFill>
            <a:srgbClr val="FFFFFF"/>
          </a:solidFill>
          <a:ln cap="flat" cmpd="sng" w="19050">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31"/>
          <p:cNvSpPr txBox="1"/>
          <p:nvPr/>
        </p:nvSpPr>
        <p:spPr>
          <a:xfrm>
            <a:off x="8641080" y="2148840"/>
            <a:ext cx="2834700" cy="338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Tracking rate: the readout states Qwen's own per-item answer, crossed with question identity (same / different) × verified state (same / different).</a:t>
            </a:r>
            <a:endParaRPr sz="15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50"/>
              <a:buFont typeface="Calibri"/>
              <a:buNone/>
            </a:pPr>
            <a:r>
              <a:t/>
            </a:r>
            <a:endParaRPr sz="15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Powered for a 0.15 difference over the best baseline at matched coverage; missing readouts counted as failures.</a:t>
            </a:r>
            <a:endParaRPr sz="1550">
              <a:solidFill>
                <a:schemeClr val="dk1"/>
              </a:solidFill>
              <a:latin typeface="Calibri"/>
              <a:ea typeface="Calibri"/>
              <a:cs typeface="Calibri"/>
              <a:sym typeface="Calibri"/>
            </a:endParaRPr>
          </a:p>
        </p:txBody>
      </p:sp>
      <p:sp>
        <p:nvSpPr>
          <p:cNvPr id="977" name="Google Shape;977;p31"/>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24</a:t>
            </a:r>
            <a:endParaRPr/>
          </a:p>
        </p:txBody>
      </p:sp>
      <p:sp>
        <p:nvSpPr>
          <p:cNvPr id="978" name="Google Shape;978;p31"/>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32"/>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RESEARCH PHASE · SECOND, ONCE THE BENCHMARK EXISTS</a:t>
            </a:r>
            <a:endParaRPr sz="1100"/>
          </a:p>
        </p:txBody>
      </p:sp>
      <p:sp>
        <p:nvSpPr>
          <p:cNvPr id="985" name="Google Shape;985;p32"/>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b="1" lang="en-US" sz="2500">
                <a:solidFill>
                  <a:srgbClr val="1D232A"/>
                </a:solidFill>
                <a:latin typeface="Arial"/>
                <a:ea typeface="Arial"/>
                <a:cs typeface="Arial"/>
                <a:sym typeface="Arial"/>
              </a:rPr>
              <a:t>Pay the reader for true statements the prompt text cannot predict, and measure false claims</a:t>
            </a:r>
            <a:endParaRPr sz="2700"/>
          </a:p>
        </p:txBody>
      </p:sp>
      <p:sp>
        <p:nvSpPr>
          <p:cNvPr id="986" name="Google Shape;986;p32"/>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Falsifier   </a:t>
            </a:r>
            <a:r>
              <a:rPr lang="en-US" sz="1200">
                <a:solidFill>
                  <a:schemeClr val="dk1"/>
                </a:solidFill>
              </a:rPr>
              <a:t>Naming does not rise with learning confirmed, or false claims rise as fast as correct ones (the exp 30 random-position pattern), or FVE drops.</a:t>
            </a:r>
            <a:endParaRPr sz="1200"/>
          </a:p>
        </p:txBody>
      </p:sp>
      <p:sp>
        <p:nvSpPr>
          <p:cNvPr id="987" name="Google Shape;987;p32"/>
          <p:cNvSpPr txBox="1"/>
          <p:nvPr/>
        </p:nvSpPr>
        <p:spPr>
          <a:xfrm>
            <a:off x="548640" y="1691640"/>
            <a:ext cx="3657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Manipulation</a:t>
            </a:r>
            <a:endParaRPr sz="1400">
              <a:solidFill>
                <a:schemeClr val="dk1"/>
              </a:solidFill>
              <a:latin typeface="Calibri"/>
              <a:ea typeface="Calibri"/>
              <a:cs typeface="Calibri"/>
              <a:sym typeface="Calibri"/>
            </a:endParaRPr>
          </a:p>
        </p:txBody>
      </p:sp>
      <p:sp>
        <p:nvSpPr>
          <p:cNvPr id="988" name="Google Shape;988;p32"/>
          <p:cNvSpPr/>
          <p:nvPr/>
        </p:nvSpPr>
        <p:spPr>
          <a:xfrm>
            <a:off x="548640" y="2011680"/>
            <a:ext cx="3566100" cy="3612000"/>
          </a:xfrm>
          <a:prstGeom prst="roundRect">
            <a:avLst>
              <a:gd fmla="val 2051" name="adj"/>
            </a:avLst>
          </a:prstGeom>
          <a:solidFill>
            <a:srgbClr val="DCEBE8"/>
          </a:solidFill>
          <a:ln cap="flat" cmpd="sng" w="9525">
            <a:solidFill>
              <a:srgbClr val="DCEB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32"/>
          <p:cNvSpPr txBox="1"/>
          <p:nvPr/>
        </p:nvSpPr>
        <p:spPr>
          <a:xfrm>
            <a:off x="731520" y="2148840"/>
            <a:ext cx="3200400" cy="338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Step 0, no training: score true, false, neutral and exhibiting statements under the exact NLA training reward (E139 only had a proxy).</a:t>
            </a:r>
            <a:endParaRPr sz="15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50"/>
              <a:buFont typeface="Calibri"/>
              <a:buNone/>
            </a:pPr>
            <a:r>
              <a:t/>
            </a:r>
            <a:endParaRPr sz="15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Then train from one warm start, ≥ 3 seeds per arm, with the reward as the only difference between arms.</a:t>
            </a:r>
            <a:endParaRPr sz="1550">
              <a:solidFill>
                <a:schemeClr val="dk1"/>
              </a:solidFill>
              <a:latin typeface="Calibri"/>
              <a:ea typeface="Calibri"/>
              <a:cs typeface="Calibri"/>
              <a:sym typeface="Calibri"/>
            </a:endParaRPr>
          </a:p>
        </p:txBody>
      </p:sp>
      <p:cxnSp>
        <p:nvCxnSpPr>
          <p:cNvPr id="990" name="Google Shape;990;p32"/>
          <p:cNvCxnSpPr/>
          <p:nvPr/>
        </p:nvCxnSpPr>
        <p:spPr>
          <a:xfrm>
            <a:off x="4160520" y="3794760"/>
            <a:ext cx="365700" cy="900"/>
          </a:xfrm>
          <a:prstGeom prst="straightConnector1">
            <a:avLst/>
          </a:prstGeom>
          <a:noFill/>
          <a:ln cap="flat" cmpd="sng" w="25400">
            <a:solidFill>
              <a:srgbClr val="56606B"/>
            </a:solidFill>
            <a:prstDash val="solid"/>
            <a:round/>
            <a:headEnd len="sm" w="sm" type="none"/>
            <a:tailEnd len="med" w="med" type="triangle"/>
          </a:ln>
        </p:spPr>
      </p:cxnSp>
      <p:sp>
        <p:nvSpPr>
          <p:cNvPr id="991" name="Google Shape;991;p32"/>
          <p:cNvSpPr txBox="1"/>
          <p:nvPr/>
        </p:nvSpPr>
        <p:spPr>
          <a:xfrm>
            <a:off x="4572000" y="1691640"/>
            <a:ext cx="3657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Arms and matched baselines</a:t>
            </a:r>
            <a:endParaRPr sz="1400">
              <a:solidFill>
                <a:schemeClr val="dk1"/>
              </a:solidFill>
              <a:latin typeface="Calibri"/>
              <a:ea typeface="Calibri"/>
              <a:cs typeface="Calibri"/>
              <a:sym typeface="Calibri"/>
            </a:endParaRPr>
          </a:p>
        </p:txBody>
      </p:sp>
      <p:sp>
        <p:nvSpPr>
          <p:cNvPr id="992" name="Google Shape;992;p32"/>
          <p:cNvSpPr/>
          <p:nvPr/>
        </p:nvSpPr>
        <p:spPr>
          <a:xfrm>
            <a:off x="4572000" y="2011680"/>
            <a:ext cx="3429000" cy="793200"/>
          </a:xfrm>
          <a:prstGeom prst="roundRect">
            <a:avLst>
              <a:gd fmla="val 6916" name="adj"/>
            </a:avLst>
          </a:prstGeom>
          <a:solidFill>
            <a:srgbClr val="E4DFD5"/>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32"/>
          <p:cNvSpPr txBox="1"/>
          <p:nvPr/>
        </p:nvSpPr>
        <p:spPr>
          <a:xfrm>
            <a:off x="4736592" y="206654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Reconstruction only (current objective)</a:t>
            </a:r>
            <a:endParaRPr sz="1500">
              <a:solidFill>
                <a:schemeClr val="dk1"/>
              </a:solidFill>
              <a:latin typeface="Calibri"/>
              <a:ea typeface="Calibri"/>
              <a:cs typeface="Calibri"/>
              <a:sym typeface="Calibri"/>
            </a:endParaRPr>
          </a:p>
        </p:txBody>
      </p:sp>
      <p:sp>
        <p:nvSpPr>
          <p:cNvPr id="994" name="Google Shape;994;p32"/>
          <p:cNvSpPr/>
          <p:nvPr/>
        </p:nvSpPr>
        <p:spPr>
          <a:xfrm>
            <a:off x="4572000" y="2914650"/>
            <a:ext cx="3429000" cy="793200"/>
          </a:xfrm>
          <a:prstGeom prst="roundRect">
            <a:avLst>
              <a:gd fmla="val 6916"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32"/>
          <p:cNvSpPr txBox="1"/>
          <p:nvPr/>
        </p:nvSpPr>
        <p:spPr>
          <a:xfrm>
            <a:off x="4736592" y="296951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 reward for statements a held-out probe or patch confirms</a:t>
            </a:r>
            <a:endParaRPr sz="1500">
              <a:solidFill>
                <a:schemeClr val="dk1"/>
              </a:solidFill>
              <a:latin typeface="Calibri"/>
              <a:ea typeface="Calibri"/>
              <a:cs typeface="Calibri"/>
              <a:sym typeface="Calibri"/>
            </a:endParaRPr>
          </a:p>
        </p:txBody>
      </p:sp>
      <p:sp>
        <p:nvSpPr>
          <p:cNvPr id="996" name="Google Shape;996;p32"/>
          <p:cNvSpPr/>
          <p:nvPr/>
        </p:nvSpPr>
        <p:spPr>
          <a:xfrm>
            <a:off x="4572000" y="3817620"/>
            <a:ext cx="3429000" cy="793200"/>
          </a:xfrm>
          <a:prstGeom prst="roundRect">
            <a:avLst>
              <a:gd fmla="val 6916"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32"/>
          <p:cNvSpPr txBox="1"/>
          <p:nvPr/>
        </p:nvSpPr>
        <p:spPr>
          <a:xfrm>
            <a:off x="4736592" y="387248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Reconstruction scored only on what a text-only model misses</a:t>
            </a:r>
            <a:endParaRPr sz="1500">
              <a:solidFill>
                <a:schemeClr val="dk1"/>
              </a:solidFill>
              <a:latin typeface="Calibri"/>
              <a:ea typeface="Calibri"/>
              <a:cs typeface="Calibri"/>
              <a:sym typeface="Calibri"/>
            </a:endParaRPr>
          </a:p>
        </p:txBody>
      </p:sp>
      <p:sp>
        <p:nvSpPr>
          <p:cNvPr id="998" name="Google Shape;998;p32"/>
          <p:cNvSpPr/>
          <p:nvPr/>
        </p:nvSpPr>
        <p:spPr>
          <a:xfrm>
            <a:off x="4572000" y="4720590"/>
            <a:ext cx="3429000" cy="793200"/>
          </a:xfrm>
          <a:prstGeom prst="roundRect">
            <a:avLst>
              <a:gd fmla="val 6916" name="adj"/>
            </a:avLst>
          </a:prstGeom>
          <a:solidFill>
            <a:srgbClr val="E4DFD5"/>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32"/>
          <p:cNvSpPr txBox="1"/>
          <p:nvPr/>
        </p:nvSpPr>
        <p:spPr>
          <a:xfrm>
            <a:off x="4736592" y="4775454"/>
            <a:ext cx="3108900" cy="68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lang="en-US" sz="1500">
                <a:solidFill>
                  <a:srgbClr val="1F2A33"/>
                </a:solidFill>
                <a:latin typeface="Calibri"/>
                <a:ea typeface="Calibri"/>
                <a:cs typeface="Calibri"/>
                <a:sym typeface="Calibri"/>
              </a:rPr>
              <a:t>Supervised statements as a reference</a:t>
            </a:r>
            <a:endParaRPr sz="1500">
              <a:solidFill>
                <a:schemeClr val="dk1"/>
              </a:solidFill>
              <a:latin typeface="Calibri"/>
              <a:ea typeface="Calibri"/>
              <a:cs typeface="Calibri"/>
              <a:sym typeface="Calibri"/>
            </a:endParaRPr>
          </a:p>
        </p:txBody>
      </p:sp>
      <p:cxnSp>
        <p:nvCxnSpPr>
          <p:cNvPr id="1000" name="Google Shape;1000;p32"/>
          <p:cNvCxnSpPr/>
          <p:nvPr/>
        </p:nvCxnSpPr>
        <p:spPr>
          <a:xfrm>
            <a:off x="8046720" y="3794760"/>
            <a:ext cx="365700" cy="900"/>
          </a:xfrm>
          <a:prstGeom prst="straightConnector1">
            <a:avLst/>
          </a:prstGeom>
          <a:noFill/>
          <a:ln cap="flat" cmpd="sng" w="25400">
            <a:solidFill>
              <a:srgbClr val="56606B"/>
            </a:solidFill>
            <a:prstDash val="solid"/>
            <a:round/>
            <a:headEnd len="sm" w="sm" type="none"/>
            <a:tailEnd len="med" w="med" type="triangle"/>
          </a:ln>
        </p:spPr>
      </p:cxnSp>
      <p:sp>
        <p:nvSpPr>
          <p:cNvPr id="1001" name="Google Shape;1001;p32"/>
          <p:cNvSpPr txBox="1"/>
          <p:nvPr/>
        </p:nvSpPr>
        <p:spPr>
          <a:xfrm>
            <a:off x="8458200" y="1691640"/>
            <a:ext cx="32004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Endpoint</a:t>
            </a:r>
            <a:endParaRPr sz="1400">
              <a:solidFill>
                <a:schemeClr val="dk1"/>
              </a:solidFill>
              <a:latin typeface="Calibri"/>
              <a:ea typeface="Calibri"/>
              <a:cs typeface="Calibri"/>
              <a:sym typeface="Calibri"/>
            </a:endParaRPr>
          </a:p>
        </p:txBody>
      </p:sp>
      <p:sp>
        <p:nvSpPr>
          <p:cNvPr id="1002" name="Google Shape;1002;p32"/>
          <p:cNvSpPr/>
          <p:nvPr/>
        </p:nvSpPr>
        <p:spPr>
          <a:xfrm>
            <a:off x="8458200" y="2011680"/>
            <a:ext cx="3200400" cy="3612000"/>
          </a:xfrm>
          <a:prstGeom prst="roundRect">
            <a:avLst>
              <a:gd fmla="val 2286" name="adj"/>
            </a:avLst>
          </a:prstGeom>
          <a:solidFill>
            <a:srgbClr val="FFFFFF"/>
          </a:solidFill>
          <a:ln cap="flat" cmpd="sng" w="1905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32"/>
          <p:cNvSpPr txBox="1"/>
          <p:nvPr/>
        </p:nvSpPr>
        <p:spPr>
          <a:xfrm>
            <a:off x="8641080" y="2148840"/>
            <a:ext cx="2834700" cy="338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On held-out properties and read positions: correct statements, false statements and FVE, reported together.</a:t>
            </a:r>
            <a:endParaRPr sz="15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50"/>
              <a:buFont typeface="Calibri"/>
              <a:buNone/>
            </a:pPr>
            <a:r>
              <a:t/>
            </a:r>
            <a:endParaRPr sz="1550">
              <a:solidFill>
                <a:schemeClr val="dk1"/>
              </a:solidFill>
              <a:latin typeface="Calibri"/>
              <a:ea typeface="Calibri"/>
              <a:cs typeface="Calibri"/>
              <a:sym typeface="Calibri"/>
            </a:endParaRPr>
          </a:p>
          <a:p>
            <a:pPr indent="0" lvl="0" marL="0" marR="0" rtl="0" algn="l">
              <a:spcBef>
                <a:spcPts val="0"/>
              </a:spcBef>
              <a:spcAft>
                <a:spcPts val="0"/>
              </a:spcAft>
              <a:buClr>
                <a:srgbClr val="1F2A33"/>
              </a:buClr>
              <a:buSzPts val="1550"/>
              <a:buFont typeface="Calibri"/>
              <a:buNone/>
            </a:pPr>
            <a:r>
              <a:rPr lang="en-US" sz="1550">
                <a:solidFill>
                  <a:srgbClr val="1F2A33"/>
                </a:solidFill>
                <a:latin typeface="Calibri"/>
                <a:ea typeface="Calibri"/>
                <a:cs typeface="Calibri"/>
                <a:sym typeface="Calibri"/>
              </a:rPr>
              <a:t>Success: naming rises ≥ 0.10 with learning confirmed, false claims rise less than correct ones, FVE within 0.02 of control.</a:t>
            </a:r>
            <a:endParaRPr sz="1550">
              <a:solidFill>
                <a:schemeClr val="dk1"/>
              </a:solidFill>
              <a:latin typeface="Calibri"/>
              <a:ea typeface="Calibri"/>
              <a:cs typeface="Calibri"/>
              <a:sym typeface="Calibri"/>
            </a:endParaRPr>
          </a:p>
        </p:txBody>
      </p:sp>
      <p:sp>
        <p:nvSpPr>
          <p:cNvPr id="1004" name="Google Shape;1004;p32"/>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56606B"/>
                </a:solidFill>
              </a:rPr>
              <a:t>25</a:t>
            </a:r>
            <a:endParaRPr/>
          </a:p>
        </p:txBody>
      </p:sp>
      <p:sp>
        <p:nvSpPr>
          <p:cNvPr id="1005" name="Google Shape;1005;p32"/>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33"/>
          <p:cNvSpPr txBox="1"/>
          <p:nvPr>
            <p:ph idx="1" type="body"/>
          </p:nvPr>
        </p:nvSpPr>
        <p:spPr>
          <a:xfrm>
            <a:off x="731520" y="640080"/>
            <a:ext cx="100584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9B3A7"/>
              </a:buClr>
              <a:buSzPts val="1200"/>
              <a:buNone/>
            </a:pPr>
            <a:r>
              <a:rPr b="1" lang="en-US" spc="150" sz="1200">
                <a:solidFill>
                  <a:srgbClr val="B9B3A7"/>
                </a:solidFill>
              </a:rPr>
              <a:t>CLOSING</a:t>
            </a:r>
            <a:endParaRPr sz="1200"/>
          </a:p>
        </p:txBody>
      </p:sp>
      <p:sp>
        <p:nvSpPr>
          <p:cNvPr id="1012" name="Google Shape;1012;p33"/>
          <p:cNvSpPr txBox="1"/>
          <p:nvPr>
            <p:ph type="title"/>
          </p:nvPr>
        </p:nvSpPr>
        <p:spPr>
          <a:xfrm>
            <a:off x="731520" y="1325880"/>
            <a:ext cx="7680900" cy="237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7F5EF"/>
              </a:buClr>
              <a:buSzPts val="3800"/>
              <a:buFont typeface="Cambria"/>
              <a:buNone/>
            </a:pPr>
            <a:r>
              <a:rPr lang="en-US" sz="3800">
                <a:solidFill>
                  <a:srgbClr val="F7F5EF"/>
                </a:solidFill>
                <a:latin typeface="Cambria"/>
                <a:ea typeface="Cambria"/>
                <a:cs typeface="Cambria"/>
                <a:sym typeface="Cambria"/>
              </a:rPr>
              <a:t>Decodable, causal here, and stated are different. A reader faithful to the text is not yet faithful to the model.</a:t>
            </a:r>
            <a:endParaRPr sz="3800"/>
          </a:p>
        </p:txBody>
      </p:sp>
      <p:sp>
        <p:nvSpPr>
          <p:cNvPr id="1013" name="Google Shape;1013;p33"/>
          <p:cNvSpPr txBox="1"/>
          <p:nvPr>
            <p:ph idx="2" type="body"/>
          </p:nvPr>
        </p:nvSpPr>
        <p:spPr>
          <a:xfrm>
            <a:off x="731525" y="3492324"/>
            <a:ext cx="7315200" cy="178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D9D4CA"/>
              </a:buClr>
              <a:buSzPts val="1700"/>
              <a:buNone/>
            </a:pPr>
            <a:r>
              <a:rPr lang="en-US" sz="1700">
                <a:solidFill>
                  <a:srgbClr val="D9D4CA"/>
                </a:solidFill>
              </a:rPr>
              <a:t>What would convince us a reader reports model-private state: a powered benchmark of verified private state, read causally, where the reader beats a same-backbone model given only the text.</a:t>
            </a:r>
            <a:endParaRPr sz="1700"/>
          </a:p>
          <a:p>
            <a:pPr indent="0" lvl="0" marL="0" rtl="0" algn="l">
              <a:spcBef>
                <a:spcPts val="200"/>
              </a:spcBef>
              <a:spcAft>
                <a:spcPts val="0"/>
              </a:spcAft>
              <a:buClr>
                <a:srgbClr val="D9D4CA"/>
              </a:buClr>
              <a:buSzPts val="1000"/>
              <a:buNone/>
            </a:pPr>
            <a:r>
              <a:rPr lang="en-US" sz="1000">
                <a:solidFill>
                  <a:srgbClr val="D9D4CA"/>
                </a:solidFill>
              </a:rPr>
              <a:t> </a:t>
            </a:r>
            <a:endParaRPr sz="1700"/>
          </a:p>
          <a:p>
            <a:pPr indent="0" lvl="0" marL="0" rtl="0" algn="l">
              <a:spcBef>
                <a:spcPts val="340"/>
              </a:spcBef>
              <a:spcAft>
                <a:spcPts val="0"/>
              </a:spcAft>
              <a:buClr>
                <a:srgbClr val="B9B3A7"/>
              </a:buClr>
              <a:buSzPts val="1700"/>
              <a:buNone/>
            </a:pPr>
            <a:r>
              <a:rPr i="1" lang="en-US" sz="1700">
                <a:solidFill>
                  <a:srgbClr val="B9B3A7"/>
                </a:solidFill>
              </a:rPr>
              <a:t>We have built the parts of that test that failed for us. The next two experiments are designed to fail too, if we are wrong.</a:t>
            </a:r>
            <a:endParaRPr sz="1700"/>
          </a:p>
        </p:txBody>
      </p:sp>
      <p:sp>
        <p:nvSpPr>
          <p:cNvPr id="1014" name="Google Shape;1014;p33"/>
          <p:cNvSpPr/>
          <p:nvPr/>
        </p:nvSpPr>
        <p:spPr>
          <a:xfrm>
            <a:off x="9052560" y="1600200"/>
            <a:ext cx="640200" cy="640200"/>
          </a:xfrm>
          <a:prstGeom prst="ellipse">
            <a:avLst/>
          </a:prstGeom>
          <a:solidFill>
            <a:srgbClr val="6A4C9C"/>
          </a:solidFill>
          <a:ln cap="flat" cmpd="sng" w="12700">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33"/>
          <p:cNvSpPr txBox="1"/>
          <p:nvPr/>
        </p:nvSpPr>
        <p:spPr>
          <a:xfrm>
            <a:off x="9875520" y="1691640"/>
            <a:ext cx="210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decodable</a:t>
            </a:r>
            <a:endParaRPr sz="2000">
              <a:solidFill>
                <a:schemeClr val="dk1"/>
              </a:solidFill>
              <a:latin typeface="Calibri"/>
              <a:ea typeface="Calibri"/>
              <a:cs typeface="Calibri"/>
              <a:sym typeface="Calibri"/>
            </a:endParaRPr>
          </a:p>
        </p:txBody>
      </p:sp>
      <p:sp>
        <p:nvSpPr>
          <p:cNvPr id="1016" name="Google Shape;1016;p33"/>
          <p:cNvSpPr/>
          <p:nvPr/>
        </p:nvSpPr>
        <p:spPr>
          <a:xfrm>
            <a:off x="9052560" y="2743200"/>
            <a:ext cx="640200" cy="640200"/>
          </a:xfrm>
          <a:prstGeom prst="ellipse">
            <a:avLst/>
          </a:prstGeom>
          <a:solidFill>
            <a:srgbClr val="C8622B"/>
          </a:solidFill>
          <a:ln cap="flat" cmpd="sng" w="12700">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p33"/>
          <p:cNvSpPr txBox="1"/>
          <p:nvPr/>
        </p:nvSpPr>
        <p:spPr>
          <a:xfrm>
            <a:off x="9875520" y="2834640"/>
            <a:ext cx="210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causal here</a:t>
            </a:r>
            <a:endParaRPr sz="2000">
              <a:solidFill>
                <a:schemeClr val="dk1"/>
              </a:solidFill>
              <a:latin typeface="Calibri"/>
              <a:ea typeface="Calibri"/>
              <a:cs typeface="Calibri"/>
              <a:sym typeface="Calibri"/>
            </a:endParaRPr>
          </a:p>
        </p:txBody>
      </p:sp>
      <p:sp>
        <p:nvSpPr>
          <p:cNvPr id="1018" name="Google Shape;1018;p33"/>
          <p:cNvSpPr/>
          <p:nvPr/>
        </p:nvSpPr>
        <p:spPr>
          <a:xfrm>
            <a:off x="9052560" y="3886200"/>
            <a:ext cx="640200" cy="640200"/>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33"/>
          <p:cNvSpPr txBox="1"/>
          <p:nvPr/>
        </p:nvSpPr>
        <p:spPr>
          <a:xfrm>
            <a:off x="9875520" y="3977640"/>
            <a:ext cx="210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stated</a:t>
            </a:r>
            <a:endParaRPr sz="2000">
              <a:solidFill>
                <a:schemeClr val="dk1"/>
              </a:solidFill>
              <a:latin typeface="Calibri"/>
              <a:ea typeface="Calibri"/>
              <a:cs typeface="Calibri"/>
              <a:sym typeface="Calibri"/>
            </a:endParaRPr>
          </a:p>
        </p:txBody>
      </p:sp>
      <p:sp>
        <p:nvSpPr>
          <p:cNvPr id="1020" name="Google Shape;1020;p33"/>
          <p:cNvSpPr txBox="1"/>
          <p:nvPr/>
        </p:nvSpPr>
        <p:spPr>
          <a:xfrm>
            <a:off x="11567160" y="6547104"/>
            <a:ext cx="393300" cy="164700"/>
          </a:xfrm>
          <a:prstGeom prst="rect">
            <a:avLst/>
          </a:prstGeom>
          <a:noFill/>
          <a:ln>
            <a:noFill/>
          </a:ln>
        </p:spPr>
        <p:txBody>
          <a:bodyPr anchorCtr="0" anchor="t" bIns="9125" lIns="18275" spcFirstLastPara="1" rIns="18275" wrap="square" tIns="0">
            <a:spAutoFit/>
          </a:bodyPr>
          <a:lstStyle/>
          <a:p>
            <a:pPr indent="0" lvl="0" marL="0" marR="0" rtl="0" algn="r">
              <a:spcBef>
                <a:spcPts val="0"/>
              </a:spcBef>
              <a:spcAft>
                <a:spcPts val="0"/>
              </a:spcAft>
              <a:buNone/>
            </a:pPr>
            <a:r>
              <a:rPr b="0" i="0" lang="en-US" sz="1010">
                <a:solidFill>
                  <a:srgbClr val="5E646B"/>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34"/>
          <p:cNvSpPr txBox="1"/>
          <p:nvPr>
            <p:ph idx="1" type="body"/>
          </p:nvPr>
        </p:nvSpPr>
        <p:spPr>
          <a:xfrm>
            <a:off x="548640" y="292608"/>
            <a:ext cx="87783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APPENDIX A1 · MAP AND PROVENANCE</a:t>
            </a:r>
            <a:endParaRPr sz="1100"/>
          </a:p>
        </p:txBody>
      </p:sp>
      <p:sp>
        <p:nvSpPr>
          <p:cNvPr id="1027" name="Google Shape;1027;p34"/>
          <p:cNvSpPr txBox="1"/>
          <p:nvPr>
            <p:ph type="title"/>
          </p:nvPr>
        </p:nvSpPr>
        <p:spPr>
          <a:xfrm>
            <a:off x="548640" y="566928"/>
            <a:ext cx="88698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Appendix map, frozen sources and who checked what</a:t>
            </a:r>
            <a:endParaRPr sz="2700"/>
          </a:p>
        </p:txBody>
      </p:sp>
      <p:sp>
        <p:nvSpPr>
          <p:cNvPr id="1028" name="Google Shape;1028;p34"/>
          <p:cNvSpPr/>
          <p:nvPr/>
        </p:nvSpPr>
        <p:spPr>
          <a:xfrm>
            <a:off x="9930384" y="310896"/>
            <a:ext cx="183000" cy="18300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34"/>
          <p:cNvSpPr txBox="1"/>
          <p:nvPr/>
        </p:nvSpPr>
        <p:spPr>
          <a:xfrm>
            <a:off x="955548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030" name="Google Shape;1030;p34"/>
          <p:cNvSpPr/>
          <p:nvPr/>
        </p:nvSpPr>
        <p:spPr>
          <a:xfrm>
            <a:off x="10753344" y="310896"/>
            <a:ext cx="183000" cy="18300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34"/>
          <p:cNvSpPr txBox="1"/>
          <p:nvPr/>
        </p:nvSpPr>
        <p:spPr>
          <a:xfrm>
            <a:off x="1037844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032" name="Google Shape;1032;p34"/>
          <p:cNvSpPr/>
          <p:nvPr/>
        </p:nvSpPr>
        <p:spPr>
          <a:xfrm>
            <a:off x="11576304" y="310896"/>
            <a:ext cx="183000" cy="183000"/>
          </a:xfrm>
          <a:prstGeom prst="ellipse">
            <a:avLst/>
          </a:prstGeom>
          <a:solidFill>
            <a:srgbClr val="F7F5EF"/>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34"/>
          <p:cNvSpPr txBox="1"/>
          <p:nvPr/>
        </p:nvSpPr>
        <p:spPr>
          <a:xfrm>
            <a:off x="11201400" y="530352"/>
            <a:ext cx="914400" cy="21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034" name="Google Shape;1034;p34"/>
          <p:cNvSpPr txBox="1"/>
          <p:nvPr>
            <p:ph idx="2" type="body"/>
          </p:nvPr>
        </p:nvSpPr>
        <p:spPr>
          <a:xfrm>
            <a:off x="548640" y="5943600"/>
            <a:ext cx="110643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No file in the repository tallies registrations by verdict, so we do not quote one. "139" counts distinct experiment numbers in the brief (E1–E140 without E55), not registrations.</a:t>
            </a:r>
            <a:endParaRPr sz="1200"/>
          </a:p>
        </p:txBody>
      </p:sp>
      <p:graphicFrame>
        <p:nvGraphicFramePr>
          <p:cNvPr id="1035" name="Google Shape;1035;p34"/>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822950"/>
                <a:gridCol w="4709150"/>
                <a:gridCol w="822950"/>
                <a:gridCol w="4754875"/>
              </a:tblGrid>
              <a:tr h="365750">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Slide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Contents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Slide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Contents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A2</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Registered rules that failed, and what we now say</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A9</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Exp 29: every row, every checkpoint</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A3</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Read sites and injection, per experiment</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A10</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Exp 30: registered P1–P5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A4</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Three interventions, three questions (E138R, E109, E140)</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A11</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E139: the proxy reward for true vs false</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E100 and E113 in detail</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A12</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Steering bank: dose, controls, free text (E104–E135)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A6</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The cue experiments (E85, E120, E136)</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A13</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Transfer chains and cross-depth table (E133, E137, E95)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A7</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Suraj exp 06 in detail</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A14</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The human audit (E71) and the E138 timeline</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A8</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S16 vs E7, and exp 28's withdrawn rule</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A15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Cheap monitoring checks (E121, E118, E123, E134)</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036" name="Google Shape;1036;p34"/>
          <p:cNvSpPr txBox="1"/>
          <p:nvPr>
            <p:ph idx="4294967295" type="sldNum"/>
          </p:nvPr>
        </p:nvSpPr>
        <p:spPr>
          <a:xfrm>
            <a:off x="11109960" y="6437376"/>
            <a:ext cx="548700" cy="255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040" name="Shape 1040"/>
        <p:cNvGrpSpPr/>
        <p:nvPr/>
      </p:nvGrpSpPr>
      <p:grpSpPr>
        <a:xfrm>
          <a:off x="0" y="0"/>
          <a:ext cx="0" cy="0"/>
          <a:chOff x="0" y="0"/>
          <a:chExt cx="0" cy="0"/>
        </a:xfrm>
      </p:grpSpPr>
      <p:sp>
        <p:nvSpPr>
          <p:cNvPr id="1041" name="Google Shape;1041;p35"/>
          <p:cNvSpPr txBox="1"/>
          <p:nvPr/>
        </p:nvSpPr>
        <p:spPr>
          <a:xfrm>
            <a:off x="609600" y="36576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Hypotheses</a:t>
            </a:r>
            <a:endParaRPr b="1" sz="3500">
              <a:solidFill>
                <a:srgbClr val="1D232A"/>
              </a:solidFill>
              <a:latin typeface="Lora"/>
              <a:ea typeface="Lora"/>
              <a:cs typeface="Lora"/>
              <a:sym typeface="Lora"/>
            </a:endParaRPr>
          </a:p>
        </p:txBody>
      </p:sp>
      <p:sp>
        <p:nvSpPr>
          <p:cNvPr id="1042" name="Google Shape;1042;p35"/>
          <p:cNvSpPr/>
          <p:nvPr/>
        </p:nvSpPr>
        <p:spPr>
          <a:xfrm>
            <a:off x="609600" y="1235416"/>
            <a:ext cx="10972800" cy="1328700"/>
          </a:xfrm>
          <a:prstGeom prst="rect">
            <a:avLst/>
          </a:prstGeom>
          <a:solidFill>
            <a:srgbClr val="EEE9D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43" name="Google Shape;1043;p35"/>
          <p:cNvSpPr/>
          <p:nvPr/>
        </p:nvSpPr>
        <p:spPr>
          <a:xfrm>
            <a:off x="609600" y="1235416"/>
            <a:ext cx="73200" cy="1328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44" name="Google Shape;1044;p35"/>
          <p:cNvSpPr txBox="1"/>
          <p:nvPr/>
        </p:nvSpPr>
        <p:spPr>
          <a:xfrm>
            <a:off x="792480" y="1235456"/>
            <a:ext cx="10728900" cy="132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i="1" lang="en-US" sz="2300">
                <a:solidFill>
                  <a:srgbClr val="1D232A"/>
                </a:solidFill>
                <a:latin typeface="Lora"/>
                <a:ea typeface="Lora"/>
                <a:cs typeface="Lora"/>
                <a:sym typeface="Lora"/>
              </a:rPr>
              <a:t>Both readers carry structural state in what they write. Oracle Lens never states it; the NLA states it in about one readout in four, often loosely, and that rate looks set by its warm start.</a:t>
            </a:r>
            <a:endParaRPr i="1" sz="2300">
              <a:solidFill>
                <a:srgbClr val="1D232A"/>
              </a:solidFill>
              <a:latin typeface="Lora"/>
              <a:ea typeface="Lora"/>
              <a:cs typeface="Lora"/>
              <a:sym typeface="Lora"/>
            </a:endParaRPr>
          </a:p>
        </p:txBody>
      </p:sp>
      <p:sp>
        <p:nvSpPr>
          <p:cNvPr id="1045" name="Google Shape;1045;p35"/>
          <p:cNvSpPr/>
          <p:nvPr/>
        </p:nvSpPr>
        <p:spPr>
          <a:xfrm>
            <a:off x="609600" y="2759416"/>
            <a:ext cx="1341300" cy="390000"/>
          </a:xfrm>
          <a:prstGeom prst="roundRect">
            <a:avLst>
              <a:gd fmla="val 16667" name="adj"/>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46" name="Google Shape;1046;p35"/>
          <p:cNvSpPr txBox="1"/>
          <p:nvPr/>
        </p:nvSpPr>
        <p:spPr>
          <a:xfrm>
            <a:off x="609600" y="2692400"/>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FFFFFF"/>
                </a:solidFill>
                <a:latin typeface="Source Sans 3"/>
                <a:ea typeface="Source Sans 3"/>
                <a:cs typeface="Source Sans 3"/>
                <a:sym typeface="Source Sans 3"/>
              </a:rPr>
              <a:t>H1 · 85%</a:t>
            </a:r>
            <a:endParaRPr b="1" sz="1900">
              <a:solidFill>
                <a:srgbClr val="FFFFFF"/>
              </a:solidFill>
              <a:latin typeface="Source Sans 3"/>
              <a:ea typeface="Source Sans 3"/>
              <a:cs typeface="Source Sans 3"/>
              <a:sym typeface="Source Sans 3"/>
            </a:endParaRPr>
          </a:p>
        </p:txBody>
      </p:sp>
      <p:sp>
        <p:nvSpPr>
          <p:cNvPr id="1047" name="Google Shape;1047;p35"/>
          <p:cNvSpPr txBox="1"/>
          <p:nvPr/>
        </p:nvSpPr>
        <p:spPr>
          <a:xfrm>
            <a:off x="2133600" y="2680208"/>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2000">
                <a:solidFill>
                  <a:srgbClr val="1D232A"/>
                </a:solidFill>
                <a:latin typeface="Source Sans 3"/>
                <a:ea typeface="Source Sans 3"/>
                <a:cs typeface="Source Sans 3"/>
                <a:sym typeface="Source Sans 3"/>
              </a:rPr>
              <a:t>Readers carry structural state but don't state it.</a:t>
            </a:r>
            <a:endParaRPr b="1" sz="2000">
              <a:solidFill>
                <a:srgbClr val="1D232A"/>
              </a:solidFill>
              <a:latin typeface="Source Sans 3"/>
              <a:ea typeface="Source Sans 3"/>
              <a:cs typeface="Source Sans 3"/>
              <a:sym typeface="Source Sans 3"/>
            </a:endParaRPr>
          </a:p>
        </p:txBody>
      </p:sp>
      <p:sp>
        <p:nvSpPr>
          <p:cNvPr id="1048" name="Google Shape;1048;p35"/>
          <p:cNvSpPr/>
          <p:nvPr/>
        </p:nvSpPr>
        <p:spPr>
          <a:xfrm>
            <a:off x="609600" y="3228808"/>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49" name="Google Shape;1049;p35"/>
          <p:cNvSpPr txBox="1"/>
          <p:nvPr/>
        </p:nvSpPr>
        <p:spPr>
          <a:xfrm>
            <a:off x="609600" y="3161792"/>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1-(a).</a:t>
            </a:r>
            <a:endParaRPr b="1" sz="1900">
              <a:solidFill>
                <a:srgbClr val="1D232A"/>
              </a:solidFill>
              <a:latin typeface="Source Sans 3"/>
              <a:ea typeface="Source Sans 3"/>
              <a:cs typeface="Source Sans 3"/>
              <a:sym typeface="Source Sans 3"/>
            </a:endParaRPr>
          </a:p>
        </p:txBody>
      </p:sp>
      <p:sp>
        <p:nvSpPr>
          <p:cNvPr id="1050" name="Google Shape;1050;p35"/>
          <p:cNvSpPr txBox="1"/>
          <p:nvPr/>
        </p:nvSpPr>
        <p:spPr>
          <a:xfrm>
            <a:off x="2133600" y="3149600"/>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The state is recoverable from what they write.</a:t>
            </a:r>
            <a:endParaRPr sz="2000">
              <a:solidFill>
                <a:srgbClr val="1D232A"/>
              </a:solidFill>
              <a:latin typeface="Source Sans 3"/>
              <a:ea typeface="Source Sans 3"/>
              <a:cs typeface="Source Sans 3"/>
              <a:sym typeface="Source Sans 3"/>
            </a:endParaRPr>
          </a:p>
        </p:txBody>
      </p:sp>
      <p:sp>
        <p:nvSpPr>
          <p:cNvPr id="1051" name="Google Shape;1051;p35"/>
          <p:cNvSpPr/>
          <p:nvPr/>
        </p:nvSpPr>
        <p:spPr>
          <a:xfrm>
            <a:off x="609600" y="3679912"/>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52" name="Google Shape;1052;p35"/>
          <p:cNvSpPr txBox="1"/>
          <p:nvPr/>
        </p:nvSpPr>
        <p:spPr>
          <a:xfrm>
            <a:off x="609600" y="3612896"/>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1-(b).</a:t>
            </a:r>
            <a:endParaRPr b="1" sz="1900">
              <a:solidFill>
                <a:srgbClr val="1D232A"/>
              </a:solidFill>
              <a:latin typeface="Source Sans 3"/>
              <a:ea typeface="Source Sans 3"/>
              <a:cs typeface="Source Sans 3"/>
              <a:sym typeface="Source Sans 3"/>
            </a:endParaRPr>
          </a:p>
        </p:txBody>
      </p:sp>
      <p:sp>
        <p:nvSpPr>
          <p:cNvPr id="1053" name="Google Shape;1053;p35"/>
          <p:cNvSpPr txBox="1"/>
          <p:nvPr/>
        </p:nvSpPr>
        <p:spPr>
          <a:xfrm>
            <a:off x="2133600" y="3600704"/>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Oracle Lens never states it.</a:t>
            </a:r>
            <a:endParaRPr sz="2000">
              <a:solidFill>
                <a:srgbClr val="1D232A"/>
              </a:solidFill>
              <a:latin typeface="Source Sans 3"/>
              <a:ea typeface="Source Sans 3"/>
              <a:cs typeface="Source Sans 3"/>
              <a:sym typeface="Source Sans 3"/>
            </a:endParaRPr>
          </a:p>
        </p:txBody>
      </p:sp>
      <p:sp>
        <p:nvSpPr>
          <p:cNvPr id="1054" name="Google Shape;1054;p35"/>
          <p:cNvSpPr/>
          <p:nvPr/>
        </p:nvSpPr>
        <p:spPr>
          <a:xfrm>
            <a:off x="609600" y="4131016"/>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55" name="Google Shape;1055;p35"/>
          <p:cNvSpPr txBox="1"/>
          <p:nvPr/>
        </p:nvSpPr>
        <p:spPr>
          <a:xfrm>
            <a:off x="609600" y="4064000"/>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1-(c).</a:t>
            </a:r>
            <a:endParaRPr b="1" sz="1900">
              <a:solidFill>
                <a:srgbClr val="1D232A"/>
              </a:solidFill>
              <a:latin typeface="Source Sans 3"/>
              <a:ea typeface="Source Sans 3"/>
              <a:cs typeface="Source Sans 3"/>
              <a:sym typeface="Source Sans 3"/>
            </a:endParaRPr>
          </a:p>
        </p:txBody>
      </p:sp>
      <p:sp>
        <p:nvSpPr>
          <p:cNvPr id="1056" name="Google Shape;1056;p35"/>
          <p:cNvSpPr txBox="1"/>
          <p:nvPr/>
        </p:nvSpPr>
        <p:spPr>
          <a:xfrm>
            <a:off x="2133600" y="4051808"/>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The NLA states it in a minority of readouts (about 1 in 4), often loosely.</a:t>
            </a:r>
            <a:endParaRPr sz="2000">
              <a:solidFill>
                <a:srgbClr val="1D232A"/>
              </a:solidFill>
              <a:latin typeface="Source Sans 3"/>
              <a:ea typeface="Source Sans 3"/>
              <a:cs typeface="Source Sans 3"/>
              <a:sym typeface="Source Sans 3"/>
            </a:endParaRPr>
          </a:p>
        </p:txBody>
      </p:sp>
      <p:sp>
        <p:nvSpPr>
          <p:cNvPr id="1057" name="Google Shape;1057;p35"/>
          <p:cNvSpPr/>
          <p:nvPr/>
        </p:nvSpPr>
        <p:spPr>
          <a:xfrm>
            <a:off x="609600" y="4600408"/>
            <a:ext cx="1341300" cy="390000"/>
          </a:xfrm>
          <a:prstGeom prst="roundRect">
            <a:avLst>
              <a:gd fmla="val 16667" name="adj"/>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58" name="Google Shape;1058;p35"/>
          <p:cNvSpPr txBox="1"/>
          <p:nvPr/>
        </p:nvSpPr>
        <p:spPr>
          <a:xfrm>
            <a:off x="609600" y="4533392"/>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FFFFFF"/>
                </a:solidFill>
                <a:latin typeface="Source Sans 3"/>
                <a:ea typeface="Source Sans 3"/>
                <a:cs typeface="Source Sans 3"/>
                <a:sym typeface="Source Sans 3"/>
              </a:rPr>
              <a:t>H2 · 55%</a:t>
            </a:r>
            <a:endParaRPr b="1" sz="1900">
              <a:solidFill>
                <a:srgbClr val="FFFFFF"/>
              </a:solidFill>
              <a:latin typeface="Source Sans 3"/>
              <a:ea typeface="Source Sans 3"/>
              <a:cs typeface="Source Sans 3"/>
              <a:sym typeface="Source Sans 3"/>
            </a:endParaRPr>
          </a:p>
        </p:txBody>
      </p:sp>
      <p:sp>
        <p:nvSpPr>
          <p:cNvPr id="1059" name="Google Shape;1059;p35"/>
          <p:cNvSpPr txBox="1"/>
          <p:nvPr/>
        </p:nvSpPr>
        <p:spPr>
          <a:xfrm>
            <a:off x="2133600" y="4521200"/>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2000">
                <a:solidFill>
                  <a:srgbClr val="1D232A"/>
                </a:solidFill>
                <a:latin typeface="Source Sans 3"/>
                <a:ea typeface="Source Sans 3"/>
                <a:cs typeface="Source Sans 3"/>
                <a:sym typeface="Source Sans 3"/>
              </a:rPr>
              <a:t>The NLA's silence is a warm-start habit.</a:t>
            </a:r>
            <a:endParaRPr b="1" sz="2000">
              <a:solidFill>
                <a:srgbClr val="1D232A"/>
              </a:solidFill>
              <a:latin typeface="Source Sans 3"/>
              <a:ea typeface="Source Sans 3"/>
              <a:cs typeface="Source Sans 3"/>
              <a:sym typeface="Source Sans 3"/>
            </a:endParaRPr>
          </a:p>
        </p:txBody>
      </p:sp>
      <p:sp>
        <p:nvSpPr>
          <p:cNvPr id="1060" name="Google Shape;1060;p35"/>
          <p:cNvSpPr/>
          <p:nvPr/>
        </p:nvSpPr>
        <p:spPr>
          <a:xfrm>
            <a:off x="609600" y="5069800"/>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61" name="Google Shape;1061;p35"/>
          <p:cNvSpPr txBox="1"/>
          <p:nvPr/>
        </p:nvSpPr>
        <p:spPr>
          <a:xfrm>
            <a:off x="609600" y="5002784"/>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2-(a).</a:t>
            </a:r>
            <a:endParaRPr b="1" sz="1900">
              <a:solidFill>
                <a:srgbClr val="1D232A"/>
              </a:solidFill>
              <a:latin typeface="Source Sans 3"/>
              <a:ea typeface="Source Sans 3"/>
              <a:cs typeface="Source Sans 3"/>
              <a:sym typeface="Source Sans 3"/>
            </a:endParaRPr>
          </a:p>
        </p:txBody>
      </p:sp>
      <p:sp>
        <p:nvSpPr>
          <p:cNvPr id="1062" name="Google Shape;1062;p35"/>
          <p:cNvSpPr txBox="1"/>
          <p:nvPr/>
        </p:nvSpPr>
        <p:spPr>
          <a:xfrm>
            <a:off x="2133600" y="4990592"/>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RL's reward doesn't pay for structural statements.</a:t>
            </a:r>
            <a:endParaRPr sz="2000">
              <a:solidFill>
                <a:srgbClr val="1D232A"/>
              </a:solidFill>
              <a:latin typeface="Source Sans 3"/>
              <a:ea typeface="Source Sans 3"/>
              <a:cs typeface="Source Sans 3"/>
              <a:sym typeface="Source Sans 3"/>
            </a:endParaRPr>
          </a:p>
        </p:txBody>
      </p:sp>
      <p:sp>
        <p:nvSpPr>
          <p:cNvPr id="1063" name="Google Shape;1063;p35"/>
          <p:cNvSpPr/>
          <p:nvPr/>
        </p:nvSpPr>
        <p:spPr>
          <a:xfrm>
            <a:off x="609600" y="5520904"/>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64" name="Google Shape;1064;p35"/>
          <p:cNvSpPr txBox="1"/>
          <p:nvPr/>
        </p:nvSpPr>
        <p:spPr>
          <a:xfrm>
            <a:off x="609600" y="5453888"/>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2-(b).</a:t>
            </a:r>
            <a:endParaRPr b="1" sz="1900">
              <a:solidFill>
                <a:srgbClr val="1D232A"/>
              </a:solidFill>
              <a:latin typeface="Source Sans 3"/>
              <a:ea typeface="Source Sans 3"/>
              <a:cs typeface="Source Sans 3"/>
              <a:sym typeface="Source Sans 3"/>
            </a:endParaRPr>
          </a:p>
        </p:txBody>
      </p:sp>
      <p:sp>
        <p:nvSpPr>
          <p:cNvPr id="1065" name="Google Shape;1065;p35"/>
          <p:cNvSpPr txBox="1"/>
          <p:nvPr/>
        </p:nvSpPr>
        <p:spPr>
          <a:xfrm>
            <a:off x="2133600" y="5441696"/>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Naming isn't blocked by capacity.</a:t>
            </a:r>
            <a:endParaRPr sz="2000">
              <a:solidFill>
                <a:srgbClr val="1D232A"/>
              </a:solidFill>
              <a:latin typeface="Source Sans 3"/>
              <a:ea typeface="Source Sans 3"/>
              <a:cs typeface="Source Sans 3"/>
              <a:sym typeface="Source Sans 3"/>
            </a:endParaRPr>
          </a:p>
        </p:txBody>
      </p:sp>
      <p:sp>
        <p:nvSpPr>
          <p:cNvPr id="1066" name="Google Shape;1066;p35"/>
          <p:cNvSpPr/>
          <p:nvPr/>
        </p:nvSpPr>
        <p:spPr>
          <a:xfrm>
            <a:off x="609600" y="5972008"/>
            <a:ext cx="1341300" cy="390000"/>
          </a:xfrm>
          <a:prstGeom prst="roundRect">
            <a:avLst>
              <a:gd fmla="val 16667" name="adj"/>
            </a:avLst>
          </a:prstGeom>
          <a:solidFill>
            <a:srgbClr val="FFFFFF"/>
          </a:solidFill>
          <a:ln cap="flat" cmpd="sng" w="12700">
            <a:solidFill>
              <a:srgbClr val="CFC9B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67" name="Google Shape;1067;p35"/>
          <p:cNvSpPr txBox="1"/>
          <p:nvPr/>
        </p:nvSpPr>
        <p:spPr>
          <a:xfrm>
            <a:off x="609600" y="5904992"/>
            <a:ext cx="13413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900">
                <a:solidFill>
                  <a:srgbClr val="1D232A"/>
                </a:solidFill>
                <a:latin typeface="Source Sans 3"/>
                <a:ea typeface="Source Sans 3"/>
                <a:cs typeface="Source Sans 3"/>
                <a:sym typeface="Source Sans 3"/>
              </a:rPr>
              <a:t>2-(c).</a:t>
            </a:r>
            <a:endParaRPr b="1" sz="1900">
              <a:solidFill>
                <a:srgbClr val="1D232A"/>
              </a:solidFill>
              <a:latin typeface="Source Sans 3"/>
              <a:ea typeface="Source Sans 3"/>
              <a:cs typeface="Source Sans 3"/>
              <a:sym typeface="Source Sans 3"/>
            </a:endParaRPr>
          </a:p>
        </p:txBody>
      </p:sp>
      <p:sp>
        <p:nvSpPr>
          <p:cNvPr id="1068" name="Google Shape;1068;p35"/>
          <p:cNvSpPr txBox="1"/>
          <p:nvPr/>
        </p:nvSpPr>
        <p:spPr>
          <a:xfrm>
            <a:off x="2133600" y="5892800"/>
            <a:ext cx="9448800" cy="54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000">
                <a:solidFill>
                  <a:srgbClr val="1D232A"/>
                </a:solidFill>
                <a:latin typeface="Source Sans 3"/>
                <a:ea typeface="Source Sans 3"/>
                <a:cs typeface="Source Sans 3"/>
                <a:sym typeface="Source Sans 3"/>
              </a:rPr>
              <a:t>The habit is set before RL.</a:t>
            </a:r>
            <a:endParaRPr sz="2000">
              <a:solidFill>
                <a:srgbClr val="1D232A"/>
              </a:solidFill>
              <a:latin typeface="Source Sans 3"/>
              <a:ea typeface="Source Sans 3"/>
              <a:cs typeface="Source Sans 3"/>
              <a:sym typeface="Source Sans 3"/>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072" name="Shape 1072"/>
        <p:cNvGrpSpPr/>
        <p:nvPr/>
      </p:nvGrpSpPr>
      <p:grpSpPr>
        <a:xfrm>
          <a:off x="0" y="0"/>
          <a:ext cx="0" cy="0"/>
          <a:chOff x="0" y="0"/>
          <a:chExt cx="0" cy="0"/>
        </a:xfrm>
      </p:grpSpPr>
      <p:sp>
        <p:nvSpPr>
          <p:cNvPr id="1073" name="Google Shape;1073;p36"/>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SETUP · THREE READERS</a:t>
            </a:r>
            <a:endParaRPr b="1" sz="1500">
              <a:solidFill>
                <a:srgbClr val="8A8478"/>
              </a:solidFill>
              <a:latin typeface="Source Sans 3"/>
              <a:ea typeface="Source Sans 3"/>
              <a:cs typeface="Source Sans 3"/>
              <a:sym typeface="Source Sans 3"/>
            </a:endParaRPr>
          </a:p>
        </p:txBody>
      </p:sp>
      <p:sp>
        <p:nvSpPr>
          <p:cNvPr id="1074" name="Google Shape;1074;p36"/>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One activation, three readers, no prompt</a:t>
            </a:r>
            <a:endParaRPr b="1" sz="3500">
              <a:solidFill>
                <a:srgbClr val="1D232A"/>
              </a:solidFill>
              <a:latin typeface="Lora"/>
              <a:ea typeface="Lora"/>
              <a:cs typeface="Lora"/>
              <a:sym typeface="Lora"/>
            </a:endParaRPr>
          </a:p>
        </p:txBody>
      </p:sp>
      <p:sp>
        <p:nvSpPr>
          <p:cNvPr id="1075" name="Google Shape;1075;p36"/>
          <p:cNvSpPr/>
          <p:nvPr/>
        </p:nvSpPr>
        <p:spPr>
          <a:xfrm>
            <a:off x="609600" y="1479256"/>
            <a:ext cx="3535500" cy="14304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76" name="Google Shape;1076;p36"/>
          <p:cNvSpPr/>
          <p:nvPr/>
        </p:nvSpPr>
        <p:spPr>
          <a:xfrm>
            <a:off x="609600" y="1479256"/>
            <a:ext cx="60900" cy="14304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77" name="Google Shape;1077;p36"/>
          <p:cNvSpPr txBox="1"/>
          <p:nvPr/>
        </p:nvSpPr>
        <p:spPr>
          <a:xfrm>
            <a:off x="743712" y="1503680"/>
            <a:ext cx="3352800" cy="1381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solidFill>
                  <a:srgbClr val="C2552E"/>
                </a:solidFill>
                <a:latin typeface="Source Sans 3"/>
                <a:ea typeface="Source Sans 3"/>
                <a:cs typeface="Source Sans 3"/>
                <a:sym typeface="Source Sans 3"/>
              </a:rPr>
              <a:t>NLA</a:t>
            </a:r>
            <a:endParaRPr b="1" sz="2000">
              <a:solidFill>
                <a:srgbClr val="C2552E"/>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Activation added to its prompt; writes an explanation.</a:t>
            </a:r>
            <a:endParaRPr sz="1900">
              <a:solidFill>
                <a:srgbClr val="1D232A"/>
              </a:solidFill>
              <a:latin typeface="Source Sans 3"/>
              <a:ea typeface="Source Sans 3"/>
              <a:cs typeface="Source Sans 3"/>
              <a:sym typeface="Source Sans 3"/>
            </a:endParaRPr>
          </a:p>
        </p:txBody>
      </p:sp>
      <p:sp>
        <p:nvSpPr>
          <p:cNvPr id="1078" name="Google Shape;1078;p36"/>
          <p:cNvSpPr/>
          <p:nvPr/>
        </p:nvSpPr>
        <p:spPr>
          <a:xfrm>
            <a:off x="4328160" y="1479256"/>
            <a:ext cx="3535500" cy="14304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79" name="Google Shape;1079;p36"/>
          <p:cNvSpPr/>
          <p:nvPr/>
        </p:nvSpPr>
        <p:spPr>
          <a:xfrm>
            <a:off x="4328160" y="1479256"/>
            <a:ext cx="60900" cy="14304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0" name="Google Shape;1080;p36"/>
          <p:cNvSpPr txBox="1"/>
          <p:nvPr/>
        </p:nvSpPr>
        <p:spPr>
          <a:xfrm>
            <a:off x="4462272" y="1503680"/>
            <a:ext cx="3352800" cy="1381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solidFill>
                  <a:srgbClr val="6A5AA6"/>
                </a:solidFill>
                <a:latin typeface="Source Sans 3"/>
                <a:ea typeface="Source Sans 3"/>
                <a:cs typeface="Source Sans 3"/>
                <a:sym typeface="Source Sans 3"/>
              </a:rPr>
              <a:t>Oracle Lens</a:t>
            </a:r>
            <a:endParaRPr b="1" sz="2000">
              <a:solidFill>
                <a:srgbClr val="6A5AA6"/>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Activation as one character's embedding; writes bullets.</a:t>
            </a:r>
            <a:endParaRPr sz="1900">
              <a:solidFill>
                <a:srgbClr val="1D232A"/>
              </a:solidFill>
              <a:latin typeface="Source Sans 3"/>
              <a:ea typeface="Source Sans 3"/>
              <a:cs typeface="Source Sans 3"/>
              <a:sym typeface="Source Sans 3"/>
            </a:endParaRPr>
          </a:p>
        </p:txBody>
      </p:sp>
      <p:sp>
        <p:nvSpPr>
          <p:cNvPr id="1081" name="Google Shape;1081;p36"/>
          <p:cNvSpPr/>
          <p:nvPr/>
        </p:nvSpPr>
        <p:spPr>
          <a:xfrm>
            <a:off x="8046720" y="1479256"/>
            <a:ext cx="3535500" cy="14304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2" name="Google Shape;1082;p36"/>
          <p:cNvSpPr/>
          <p:nvPr/>
        </p:nvSpPr>
        <p:spPr>
          <a:xfrm>
            <a:off x="8046720" y="1479256"/>
            <a:ext cx="60900" cy="1430400"/>
          </a:xfrm>
          <a:prstGeom prst="rect">
            <a:avLst/>
          </a:prstGeom>
          <a:solidFill>
            <a:srgbClr val="2F7A74"/>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3" name="Google Shape;1083;p36"/>
          <p:cNvSpPr txBox="1"/>
          <p:nvPr/>
        </p:nvSpPr>
        <p:spPr>
          <a:xfrm>
            <a:off x="8180832" y="1503680"/>
            <a:ext cx="3352800" cy="1381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solidFill>
                  <a:srgbClr val="2F7A74"/>
                </a:solidFill>
                <a:latin typeface="Source Sans 3"/>
                <a:ea typeface="Source Sans 3"/>
                <a:cs typeface="Source Sans 3"/>
                <a:sym typeface="Source Sans 3"/>
              </a:rPr>
              <a:t>J-lens</a:t>
            </a:r>
            <a:endParaRPr b="1" sz="2000">
              <a:solidFill>
                <a:srgbClr val="2F7A74"/>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Projects onto the J-space; lists top tokens.</a:t>
            </a:r>
            <a:endParaRPr sz="1900">
              <a:solidFill>
                <a:srgbClr val="1D232A"/>
              </a:solidFill>
              <a:latin typeface="Source Sans 3"/>
              <a:ea typeface="Source Sans 3"/>
              <a:cs typeface="Source Sans 3"/>
              <a:sym typeface="Source Sans 3"/>
            </a:endParaRPr>
          </a:p>
        </p:txBody>
      </p:sp>
      <p:sp>
        <p:nvSpPr>
          <p:cNvPr id="1084" name="Google Shape;1084;p36"/>
          <p:cNvSpPr txBox="1"/>
          <p:nvPr/>
        </p:nvSpPr>
        <p:spPr>
          <a:xfrm>
            <a:off x="609600" y="303174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Same activation, Python source, read at ▌:</a:t>
            </a:r>
            <a:r>
              <a:rPr lang="en-US" sz="1900">
                <a:solidFill>
                  <a:srgbClr val="1D232A"/>
                </a:solidFill>
                <a:latin typeface="Roboto Mono"/>
                <a:ea typeface="Roboto Mono"/>
                <a:cs typeface="Roboto Mono"/>
                <a:sym typeface="Roboto Mono"/>
              </a:rPr>
              <a:t>   "is not supported. Support for▌</a:t>
            </a:r>
            <a:endParaRPr sz="1900">
              <a:solidFill>
                <a:srgbClr val="1D232A"/>
              </a:solidFill>
              <a:latin typeface="Roboto Mono"/>
              <a:ea typeface="Roboto Mono"/>
              <a:cs typeface="Roboto Mono"/>
              <a:sym typeface="Roboto Mono"/>
            </a:endParaRPr>
          </a:p>
        </p:txBody>
      </p:sp>
      <p:sp>
        <p:nvSpPr>
          <p:cNvPr id="1085" name="Google Shape;1085;p36"/>
          <p:cNvSpPr/>
          <p:nvPr/>
        </p:nvSpPr>
        <p:spPr>
          <a:xfrm>
            <a:off x="609600" y="3580424"/>
            <a:ext cx="3535500" cy="1739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6" name="Google Shape;1086;p36"/>
          <p:cNvSpPr/>
          <p:nvPr/>
        </p:nvSpPr>
        <p:spPr>
          <a:xfrm>
            <a:off x="609600" y="3580424"/>
            <a:ext cx="60900" cy="1739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7" name="Google Shape;1087;p36"/>
          <p:cNvSpPr txBox="1"/>
          <p:nvPr/>
        </p:nvSpPr>
        <p:spPr>
          <a:xfrm>
            <a:off x="743712" y="3604768"/>
            <a:ext cx="33528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is mid-sentence, requiring completion of this standard ONNX export error pattern …</a:t>
            </a:r>
            <a:endParaRPr i="1" sz="1900">
              <a:solidFill>
                <a:srgbClr val="1D232A"/>
              </a:solidFill>
              <a:latin typeface="Lora"/>
              <a:ea typeface="Lora"/>
              <a:cs typeface="Lora"/>
              <a:sym typeface="Lora"/>
            </a:endParaRPr>
          </a:p>
        </p:txBody>
      </p:sp>
      <p:sp>
        <p:nvSpPr>
          <p:cNvPr id="1088" name="Google Shape;1088;p36"/>
          <p:cNvSpPr/>
          <p:nvPr/>
        </p:nvSpPr>
        <p:spPr>
          <a:xfrm>
            <a:off x="4328160" y="3580424"/>
            <a:ext cx="35355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9" name="Google Shape;1089;p36"/>
          <p:cNvSpPr/>
          <p:nvPr/>
        </p:nvSpPr>
        <p:spPr>
          <a:xfrm>
            <a:off x="4328160" y="3580424"/>
            <a:ext cx="60900" cy="1454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90" name="Google Shape;1090;p36"/>
          <p:cNvSpPr txBox="1"/>
          <p:nvPr/>
        </p:nvSpPr>
        <p:spPr>
          <a:xfrm>
            <a:off x="4462272" y="3604768"/>
            <a:ext cx="33528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Oracle Lens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某些 operators is in progress. Please open an issue on GitHub to request support</a:t>
            </a:r>
            <a:endParaRPr i="1" sz="1900">
              <a:solidFill>
                <a:srgbClr val="1D232A"/>
              </a:solidFill>
              <a:latin typeface="Lora"/>
              <a:ea typeface="Lora"/>
              <a:cs typeface="Lora"/>
              <a:sym typeface="Lora"/>
            </a:endParaRPr>
          </a:p>
        </p:txBody>
      </p:sp>
      <p:sp>
        <p:nvSpPr>
          <p:cNvPr id="1091" name="Google Shape;1091;p36"/>
          <p:cNvSpPr/>
          <p:nvPr/>
        </p:nvSpPr>
        <p:spPr>
          <a:xfrm>
            <a:off x="8046720" y="3580424"/>
            <a:ext cx="35355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92" name="Google Shape;1092;p36"/>
          <p:cNvSpPr/>
          <p:nvPr/>
        </p:nvSpPr>
        <p:spPr>
          <a:xfrm>
            <a:off x="8046720" y="3580424"/>
            <a:ext cx="60900" cy="1454700"/>
          </a:xfrm>
          <a:prstGeom prst="rect">
            <a:avLst/>
          </a:prstGeom>
          <a:solidFill>
            <a:srgbClr val="2F7A74"/>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93" name="Google Shape;1093;p36"/>
          <p:cNvSpPr txBox="1"/>
          <p:nvPr/>
        </p:nvSpPr>
        <p:spPr>
          <a:xfrm>
            <a:off x="8180832" y="3604768"/>
            <a:ext cx="33528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J-lens, top tokens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この · implementation · этого · implementations · Generic …</a:t>
            </a:r>
            <a:endParaRPr i="1" sz="1900">
              <a:solidFill>
                <a:srgbClr val="1D232A"/>
              </a:solidFill>
              <a:latin typeface="Lora"/>
              <a:ea typeface="Lora"/>
              <a:cs typeface="Lora"/>
              <a:sym typeface="Lora"/>
            </a:endParaRPr>
          </a:p>
        </p:txBody>
      </p:sp>
      <p:sp>
        <p:nvSpPr>
          <p:cNvPr id="1094" name="Google Shape;1094;p36"/>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95" name="Google Shape;1095;p36"/>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NLA: ceselder iter_000400. Oracle Lens: agu18dec rl600 (trained at layers 20–60, step 4). J-lens: n1000. Layer 42.</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Item: first in exp 22 where neither reader's first readout uses a string word (5 of 20; the NLA usually does).</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099" name="Shape 1099"/>
        <p:cNvGrpSpPr/>
        <p:nvPr/>
      </p:nvGrpSpPr>
      <p:grpSpPr>
        <a:xfrm>
          <a:off x="0" y="0"/>
          <a:ext cx="0" cy="0"/>
          <a:chOff x="0" y="0"/>
          <a:chExt cx="0" cy="0"/>
        </a:xfrm>
      </p:grpSpPr>
      <p:sp>
        <p:nvSpPr>
          <p:cNvPr id="1100" name="Google Shape;1100;p37"/>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SETUP · FOUR MEASURES</a:t>
            </a:r>
            <a:endParaRPr b="1" sz="1500">
              <a:solidFill>
                <a:srgbClr val="8A8478"/>
              </a:solidFill>
              <a:latin typeface="Source Sans 3"/>
              <a:ea typeface="Source Sans 3"/>
              <a:cs typeface="Source Sans 3"/>
              <a:sym typeface="Source Sans 3"/>
            </a:endParaRPr>
          </a:p>
        </p:txBody>
      </p:sp>
      <p:sp>
        <p:nvSpPr>
          <p:cNvPr id="1101" name="Google Shape;1101;p37"/>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Four measures per state, fixed in advance</a:t>
            </a:r>
            <a:endParaRPr b="1" sz="3500">
              <a:solidFill>
                <a:srgbClr val="1D232A"/>
              </a:solidFill>
              <a:latin typeface="Lora"/>
              <a:ea typeface="Lora"/>
              <a:cs typeface="Lora"/>
              <a:sym typeface="Lora"/>
            </a:endParaRPr>
          </a:p>
        </p:txBody>
      </p:sp>
      <p:sp>
        <p:nvSpPr>
          <p:cNvPr id="1102" name="Google Shape;1102;p37"/>
          <p:cNvSpPr/>
          <p:nvPr/>
        </p:nvSpPr>
        <p:spPr>
          <a:xfrm>
            <a:off x="609600" y="1479256"/>
            <a:ext cx="2606100" cy="2852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3" name="Google Shape;1103;p37"/>
          <p:cNvSpPr/>
          <p:nvPr/>
        </p:nvSpPr>
        <p:spPr>
          <a:xfrm>
            <a:off x="609600" y="1479256"/>
            <a:ext cx="60900" cy="28527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4" name="Google Shape;1104;p37"/>
          <p:cNvSpPr txBox="1"/>
          <p:nvPr/>
        </p:nvSpPr>
        <p:spPr>
          <a:xfrm>
            <a:off x="743712" y="1503680"/>
            <a:ext cx="2423100" cy="280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Readable</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 probe on the activation separates the two values: AUROC ≥ 0.80, folds grouped by source file.</a:t>
            </a:r>
            <a:endParaRPr sz="1900">
              <a:solidFill>
                <a:srgbClr val="1D232A"/>
              </a:solidFill>
              <a:latin typeface="Source Sans 3"/>
              <a:ea typeface="Source Sans 3"/>
              <a:cs typeface="Source Sans 3"/>
              <a:sym typeface="Source Sans 3"/>
            </a:endParaRPr>
          </a:p>
        </p:txBody>
      </p:sp>
      <p:sp>
        <p:nvSpPr>
          <p:cNvPr id="1105" name="Google Shape;1105;p37"/>
          <p:cNvSpPr/>
          <p:nvPr/>
        </p:nvSpPr>
        <p:spPr>
          <a:xfrm>
            <a:off x="3398520" y="1479256"/>
            <a:ext cx="2606100" cy="2852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6" name="Google Shape;1106;p37"/>
          <p:cNvSpPr/>
          <p:nvPr/>
        </p:nvSpPr>
        <p:spPr>
          <a:xfrm>
            <a:off x="3398520" y="1479256"/>
            <a:ext cx="60900" cy="2852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7" name="Google Shape;1107;p37"/>
          <p:cNvSpPr txBox="1"/>
          <p:nvPr/>
        </p:nvSpPr>
        <p:spPr>
          <a:xfrm>
            <a:off x="3532632" y="1503680"/>
            <a:ext cx="2423100" cy="280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Carries</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The reader's text brings the state back: the critic rebuilds the activation from it and a frozen probe scores it, or a word-count classifier reads it.</a:t>
            </a:r>
            <a:endParaRPr sz="1900">
              <a:solidFill>
                <a:srgbClr val="1D232A"/>
              </a:solidFill>
              <a:latin typeface="Source Sans 3"/>
              <a:ea typeface="Source Sans 3"/>
              <a:cs typeface="Source Sans 3"/>
              <a:sym typeface="Source Sans 3"/>
            </a:endParaRPr>
          </a:p>
        </p:txBody>
      </p:sp>
      <p:sp>
        <p:nvSpPr>
          <p:cNvPr id="1108" name="Google Shape;1108;p37"/>
          <p:cNvSpPr/>
          <p:nvPr/>
        </p:nvSpPr>
        <p:spPr>
          <a:xfrm>
            <a:off x="6187440" y="1479256"/>
            <a:ext cx="2606100" cy="2852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9" name="Google Shape;1109;p37"/>
          <p:cNvSpPr/>
          <p:nvPr/>
        </p:nvSpPr>
        <p:spPr>
          <a:xfrm>
            <a:off x="6187440" y="1479256"/>
            <a:ext cx="60900" cy="2852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10" name="Google Shape;1110;p37"/>
          <p:cNvSpPr txBox="1"/>
          <p:nvPr/>
        </p:nvSpPr>
        <p:spPr>
          <a:xfrm>
            <a:off x="6321552" y="1503680"/>
            <a:ext cx="2423100" cy="280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States</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 blind judge (Gemini 3.8 Flash) reads only the readout and says whether it names the value. 'Names' means a strict regex.</a:t>
            </a:r>
            <a:endParaRPr sz="1900">
              <a:solidFill>
                <a:srgbClr val="1D232A"/>
              </a:solidFill>
              <a:latin typeface="Source Sans 3"/>
              <a:ea typeface="Source Sans 3"/>
              <a:cs typeface="Source Sans 3"/>
              <a:sym typeface="Source Sans 3"/>
            </a:endParaRPr>
          </a:p>
        </p:txBody>
      </p:sp>
      <p:sp>
        <p:nvSpPr>
          <p:cNvPr id="1111" name="Google Shape;1111;p37"/>
          <p:cNvSpPr/>
          <p:nvPr/>
        </p:nvSpPr>
        <p:spPr>
          <a:xfrm>
            <a:off x="8976360" y="1479256"/>
            <a:ext cx="2606100" cy="2852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12" name="Google Shape;1112;p37"/>
          <p:cNvSpPr/>
          <p:nvPr/>
        </p:nvSpPr>
        <p:spPr>
          <a:xfrm>
            <a:off x="8976360" y="1479256"/>
            <a:ext cx="60900" cy="28527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13" name="Google Shape;1113;p37"/>
          <p:cNvSpPr txBox="1"/>
          <p:nvPr/>
        </p:nvSpPr>
        <p:spPr>
          <a:xfrm>
            <a:off x="9110472" y="1503680"/>
            <a:ext cx="2423100" cy="280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Used</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Push the activation 11% of its norm along the state's direction; the model's next-token shift is a z against 20 random directions.</a:t>
            </a:r>
            <a:endParaRPr sz="1900">
              <a:solidFill>
                <a:srgbClr val="1D232A"/>
              </a:solidFill>
              <a:latin typeface="Source Sans 3"/>
              <a:ea typeface="Source Sans 3"/>
              <a:cs typeface="Source Sans 3"/>
              <a:sym typeface="Source Sans 3"/>
            </a:endParaRPr>
          </a:p>
        </p:txBody>
      </p:sp>
      <p:sp>
        <p:nvSpPr>
          <p:cNvPr id="1114" name="Google Shape;1114;p37"/>
          <p:cNvSpPr txBox="1"/>
          <p:nvPr/>
        </p:nvSpPr>
        <p:spPr>
          <a:xfrm>
            <a:off x="609600" y="4502912"/>
            <a:ext cx="10972800" cy="812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900">
                <a:solidFill>
                  <a:srgbClr val="6F6A60"/>
                </a:solidFill>
                <a:latin typeface="Source Sans 3"/>
                <a:ea typeface="Source Sans 3"/>
                <a:cs typeface="Source Sans 3"/>
                <a:sym typeface="Source Sans 3"/>
              </a:rPr>
              <a:t>Banks: synthetic (exps 12–18), natural (exp 19, withheld, hashed), public (exp 22), random points (exps 23, 27). Predictions written first; hashed for exps 18, 19, 22.</a:t>
            </a:r>
            <a:endParaRPr sz="1900">
              <a:solidFill>
                <a:srgbClr val="6F6A60"/>
              </a:solidFill>
              <a:latin typeface="Source Sans 3"/>
              <a:ea typeface="Source Sans 3"/>
              <a:cs typeface="Source Sans 3"/>
              <a:sym typeface="Source Sans 3"/>
            </a:endParaRPr>
          </a:p>
        </p:txBody>
      </p:sp>
      <p:sp>
        <p:nvSpPr>
          <p:cNvPr id="1115" name="Google Shape;1115;p37"/>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16" name="Google Shape;1116;p37"/>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New relative to the papers</a:t>
            </a:r>
            <a:r>
              <a:rPr lang="en-US" sz="1900">
                <a:solidFill>
                  <a:srgbClr val="1D232A"/>
                </a:solidFill>
                <a:latin typeface="Source Sans 3"/>
                <a:ea typeface="Source Sans 3"/>
                <a:cs typeface="Source Sans 3"/>
                <a:sym typeface="Source Sans 3"/>
              </a:rPr>
              <a:t>: they score what readers say; we ask what their words carry unsaid.</a:t>
            </a:r>
            <a:endParaRPr sz="1900">
              <a:solidFill>
                <a:srgbClr val="1D232A"/>
              </a:solidFill>
              <a:latin typeface="Source Sans 3"/>
              <a:ea typeface="Source Sans 3"/>
              <a:cs typeface="Source Sans 3"/>
              <a:sym typeface="Source Sans 3"/>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38"/>
          <p:cNvSpPr txBox="1"/>
          <p:nvPr/>
        </p:nvSpPr>
        <p:spPr>
          <a:xfrm>
            <a:off x="609600" y="304800"/>
            <a:ext cx="10972800" cy="7923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200">
                <a:solidFill>
                  <a:srgbClr val="15222C"/>
                </a:solidFill>
              </a:rPr>
              <a:t>The objects and instruments behind every number</a:t>
            </a:r>
            <a:endParaRPr b="1" sz="3200">
              <a:solidFill>
                <a:srgbClr val="15222C"/>
              </a:solidFill>
            </a:endParaRPr>
          </a:p>
        </p:txBody>
      </p:sp>
      <p:graphicFrame>
        <p:nvGraphicFramePr>
          <p:cNvPr id="1122" name="Google Shape;1122;p38"/>
          <p:cNvGraphicFramePr/>
          <p:nvPr/>
        </p:nvGraphicFramePr>
        <p:xfrm>
          <a:off x="609600" y="1243584"/>
          <a:ext cx="3000000" cy="3000000"/>
        </p:xfrm>
        <a:graphic>
          <a:graphicData uri="http://schemas.openxmlformats.org/drawingml/2006/table">
            <a:tbl>
              <a:tblPr>
                <a:noFill/>
                <a:tableStyleId>{FA4568F9-5AD6-445C-B7C7-6825933DB074}</a:tableStyleId>
              </a:tblPr>
              <a:tblGrid>
                <a:gridCol w="2926075"/>
                <a:gridCol w="8046700"/>
              </a:tblGrid>
              <a:tr h="780300">
                <a:tc>
                  <a:txBody>
                    <a:bodyPr/>
                    <a:lstStyle/>
                    <a:p>
                      <a:pPr indent="0" lvl="0" marL="0" rtl="0" algn="l">
                        <a:spcBef>
                          <a:spcPts val="0"/>
                        </a:spcBef>
                        <a:spcAft>
                          <a:spcPts val="0"/>
                        </a:spcAft>
                        <a:buNone/>
                      </a:pPr>
                      <a:r>
                        <a:rPr b="1" lang="en-US" sz="1900">
                          <a:solidFill>
                            <a:srgbClr val="15222C"/>
                          </a:solidFill>
                        </a:rPr>
                        <a:t>Qwen3.6-27B, layer 42</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Subject model. Every read is the residual activation at one token, layer 42; the NLA is hard-wired to it.</a:t>
                      </a:r>
                      <a:endParaRPr sz="1900">
                        <a:solidFill>
                          <a:srgbClr val="15222C"/>
                        </a:solidFill>
                      </a:endParaRPr>
                    </a:p>
                  </a:txBody>
                  <a:tcPr marT="121900" marB="121900" marR="121900" marL="121900"/>
                </a:tc>
              </a:tr>
              <a:tr h="780300">
                <a:tc>
                  <a:txBody>
                    <a:bodyPr/>
                    <a:lstStyle/>
                    <a:p>
                      <a:pPr indent="0" lvl="0" marL="0" rtl="0" algn="l">
                        <a:spcBef>
                          <a:spcPts val="0"/>
                        </a:spcBef>
                        <a:spcAft>
                          <a:spcPts val="0"/>
                        </a:spcAft>
                        <a:buNone/>
                      </a:pPr>
                      <a:r>
                        <a:rPr b="1" lang="en-US" sz="1900">
                          <a:solidFill>
                            <a:srgbClr val="15222C"/>
                          </a:solidFill>
                        </a:rPr>
                        <a:t>NLA, ceselder iter_000400</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Actor writes an explanation of the injected vector; its critic rebuilds the vector from the words; RL pays for the rebuild.</a:t>
                      </a:r>
                      <a:endParaRPr sz="1900">
                        <a:solidFill>
                          <a:srgbClr val="15222C"/>
                        </a:solidFill>
                      </a:endParaRPr>
                    </a:p>
                  </a:txBody>
                  <a:tcPr marT="121900" marB="121900" marR="121900" marL="121900"/>
                </a:tc>
              </a:tr>
              <a:tr h="780300">
                <a:tc>
                  <a:txBody>
                    <a:bodyPr/>
                    <a:lstStyle/>
                    <a:p>
                      <a:pPr indent="0" lvl="0" marL="0" rtl="0" algn="l">
                        <a:spcBef>
                          <a:spcPts val="0"/>
                        </a:spcBef>
                        <a:spcAft>
                          <a:spcPts val="0"/>
                        </a:spcAft>
                        <a:buNone/>
                      </a:pPr>
                      <a:r>
                        <a:rPr b="1" lang="en-US" sz="1900">
                          <a:solidFill>
                            <a:srgbClr val="15222C"/>
                          </a:solidFill>
                        </a:rPr>
                        <a:t>Oracle Lens, agu18dec rl600</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LoRA on the same model, trained at layers 20–60 in steps of 4, so 42 is off its grid. Vector goes in one slot character; writes bullets.</a:t>
                      </a:r>
                      <a:endParaRPr sz="1900">
                        <a:solidFill>
                          <a:srgbClr val="15222C"/>
                        </a:solidFill>
                      </a:endParaRPr>
                    </a:p>
                  </a:txBody>
                  <a:tcPr marT="121900" marB="121900" marR="121900" marL="121900"/>
                </a:tc>
              </a:tr>
              <a:tr h="780300">
                <a:tc>
                  <a:txBody>
                    <a:bodyPr/>
                    <a:lstStyle/>
                    <a:p>
                      <a:pPr indent="0" lvl="0" marL="0" rtl="0" algn="l">
                        <a:spcBef>
                          <a:spcPts val="0"/>
                        </a:spcBef>
                        <a:spcAft>
                          <a:spcPts val="0"/>
                        </a:spcAft>
                        <a:buNone/>
                      </a:pPr>
                      <a:r>
                        <a:rPr b="1" lang="en-US" sz="1900">
                          <a:solidFill>
                            <a:srgbClr val="15222C"/>
                          </a:solidFill>
                        </a:rPr>
                        <a:t>J-lens, n1000</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Projects the vector onto the rank-1,536 J-space at layer 42 and lists the top tokens. Generates no text.</a:t>
                      </a:r>
                      <a:endParaRPr sz="1900">
                        <a:solidFill>
                          <a:srgbClr val="15222C"/>
                        </a:solidFill>
                      </a:endParaRPr>
                    </a:p>
                  </a:txBody>
                  <a:tcPr marT="121900" marB="121900" marR="121900" marL="121900"/>
                </a:tc>
              </a:tr>
              <a:tr h="780300">
                <a:tc>
                  <a:txBody>
                    <a:bodyPr/>
                    <a:lstStyle/>
                    <a:p>
                      <a:pPr indent="0" lvl="0" marL="0" rtl="0" algn="l">
                        <a:spcBef>
                          <a:spcPts val="0"/>
                        </a:spcBef>
                        <a:spcAft>
                          <a:spcPts val="0"/>
                        </a:spcAft>
                        <a:buNone/>
                      </a:pPr>
                      <a:r>
                        <a:rPr b="1" lang="en-US" sz="1900">
                          <a:solidFill>
                            <a:srgbClr val="15222C"/>
                          </a:solidFill>
                        </a:rPr>
                        <a:t>WorkspaceBench</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The benchmark these readers were built against. Regex-scored; four families, 400 items in our runs.</a:t>
                      </a:r>
                      <a:endParaRPr sz="1900">
                        <a:solidFill>
                          <a:srgbClr val="15222C"/>
                        </a:solidFill>
                      </a:endParaRPr>
                    </a:p>
                  </a:txBody>
                  <a:tcPr marT="121900" marB="121900" marR="121900" marL="121900"/>
                </a:tc>
              </a:tr>
              <a:tr h="780300">
                <a:tc>
                  <a:txBody>
                    <a:bodyPr/>
                    <a:lstStyle/>
                    <a:p>
                      <a:pPr indent="0" lvl="0" marL="0" rtl="0" algn="l">
                        <a:spcBef>
                          <a:spcPts val="0"/>
                        </a:spcBef>
                        <a:spcAft>
                          <a:spcPts val="0"/>
                        </a:spcAft>
                        <a:buNone/>
                      </a:pPr>
                      <a:r>
                        <a:rPr b="1" lang="en-US" sz="1900">
                          <a:solidFill>
                            <a:srgbClr val="15222C"/>
                          </a:solidFill>
                        </a:rPr>
                        <a:t>Our instruments</a:t>
                      </a:r>
                      <a:endParaRPr b="1" sz="1900">
                        <a:solidFill>
                          <a:srgbClr val="15222C"/>
                        </a:solidFill>
                      </a:endParaRPr>
                    </a:p>
                  </a:txBody>
                  <a:tcPr marT="121900" marB="121900" marR="121900" marL="121900"/>
                </a:tc>
                <a:tc>
                  <a:txBody>
                    <a:bodyPr/>
                    <a:lstStyle/>
                    <a:p>
                      <a:pPr indent="0" lvl="0" marL="0" rtl="0" algn="l">
                        <a:spcBef>
                          <a:spcPts val="0"/>
                        </a:spcBef>
                        <a:spcAft>
                          <a:spcPts val="0"/>
                        </a:spcAft>
                        <a:buNone/>
                      </a:pPr>
                      <a:r>
                        <a:rPr lang="en-US" sz="1900">
                          <a:solidFill>
                            <a:srgbClr val="15222C"/>
                          </a:solidFill>
                        </a:rPr>
                        <a:t>Readable: probe AUROC ≥ 0.80. Sayable: critic rebuild from 32 real tokens ≥ 0.80. Used: 11% push, |z| ≥ 3.</a:t>
                      </a:r>
                      <a:endParaRPr sz="1900">
                        <a:solidFill>
                          <a:srgbClr val="15222C"/>
                        </a:solidFill>
                      </a:endParaRPr>
                    </a:p>
                  </a:txBody>
                  <a:tcPr marT="121900" marB="121900" marR="121900" marL="1219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126" name="Shape 1126"/>
        <p:cNvGrpSpPr/>
        <p:nvPr/>
      </p:nvGrpSpPr>
      <p:grpSpPr>
        <a:xfrm>
          <a:off x="0" y="0"/>
          <a:ext cx="0" cy="0"/>
          <a:chOff x="0" y="0"/>
          <a:chExt cx="0" cy="0"/>
        </a:xfrm>
      </p:grpSpPr>
      <p:sp>
        <p:nvSpPr>
          <p:cNvPr id="1127" name="Google Shape;1127;p39"/>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POSITION IN TEXT · FREE READOUTS, 40 ITEMS × 8 PER ROW</a:t>
            </a:r>
            <a:endParaRPr b="1" sz="1500">
              <a:solidFill>
                <a:srgbClr val="8A8478"/>
              </a:solidFill>
              <a:latin typeface="Source Sans 3"/>
              <a:ea typeface="Source Sans 3"/>
              <a:cs typeface="Source Sans 3"/>
              <a:sym typeface="Source Sans 3"/>
            </a:endParaRPr>
          </a:p>
        </p:txBody>
      </p:sp>
      <p:sp>
        <p:nvSpPr>
          <p:cNvPr id="1128" name="Google Shape;1128;p39"/>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Unprompted → only the NLA states position</a:t>
            </a:r>
            <a:endParaRPr b="1" sz="3500">
              <a:solidFill>
                <a:srgbClr val="1D232A"/>
              </a:solidFill>
              <a:latin typeface="Lora"/>
              <a:ea typeface="Lora"/>
              <a:cs typeface="Lora"/>
              <a:sym typeface="Lora"/>
            </a:endParaRPr>
          </a:p>
        </p:txBody>
      </p:sp>
      <p:sp>
        <p:nvSpPr>
          <p:cNvPr id="1129" name="Google Shape;1129;p39"/>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States the value (judge, share of 320 readouts)</a:t>
            </a:r>
            <a:endParaRPr b="1" sz="1900">
              <a:solidFill>
                <a:srgbClr val="1D232A"/>
              </a:solidFill>
              <a:latin typeface="Source Sans 3"/>
              <a:ea typeface="Source Sans 3"/>
              <a:cs typeface="Source Sans 3"/>
              <a:sym typeface="Source Sans 3"/>
            </a:endParaRPr>
          </a:p>
        </p:txBody>
      </p:sp>
      <p:sp>
        <p:nvSpPr>
          <p:cNvPr id="1130" name="Google Shape;1130;p39"/>
          <p:cNvSpPr txBox="1"/>
          <p:nvPr/>
        </p:nvSpPr>
        <p:spPr>
          <a:xfrm>
            <a:off x="609600" y="1924304"/>
            <a:ext cx="30480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table column</a:t>
            </a:r>
            <a:endParaRPr sz="1900">
              <a:solidFill>
                <a:srgbClr val="1D232A"/>
              </a:solidFill>
              <a:latin typeface="Source Sans 3"/>
              <a:ea typeface="Source Sans 3"/>
              <a:cs typeface="Source Sans 3"/>
              <a:sym typeface="Source Sans 3"/>
            </a:endParaRPr>
          </a:p>
        </p:txBody>
      </p:sp>
      <p:sp>
        <p:nvSpPr>
          <p:cNvPr id="1131" name="Google Shape;1131;p39"/>
          <p:cNvSpPr/>
          <p:nvPr/>
        </p:nvSpPr>
        <p:spPr>
          <a:xfrm>
            <a:off x="3803904" y="2064472"/>
            <a:ext cx="16845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2" name="Google Shape;1132;p39"/>
          <p:cNvSpPr/>
          <p:nvPr/>
        </p:nvSpPr>
        <p:spPr>
          <a:xfrm>
            <a:off x="3803904" y="2064472"/>
            <a:ext cx="684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3" name="Google Shape;1133;p39"/>
          <p:cNvSpPr/>
          <p:nvPr/>
        </p:nvSpPr>
        <p:spPr>
          <a:xfrm>
            <a:off x="4267200" y="2171761"/>
            <a:ext cx="458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4" name="Google Shape;1134;p39"/>
          <p:cNvSpPr txBox="1"/>
          <p:nvPr/>
        </p:nvSpPr>
        <p:spPr>
          <a:xfrm>
            <a:off x="5561584" y="189992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41%</a:t>
            </a:r>
            <a:r>
              <a:rPr lang="en-US" sz="1900">
                <a:solidFill>
                  <a:srgbClr val="6F6A60"/>
                </a:solidFill>
                <a:latin typeface="Source Sans 3"/>
                <a:ea typeface="Source Sans 3"/>
                <a:cs typeface="Source Sans 3"/>
                <a:sym typeface="Source Sans 3"/>
              </a:rPr>
              <a:t>  130/320</a:t>
            </a:r>
            <a:endParaRPr sz="1900">
              <a:solidFill>
                <a:srgbClr val="6F6A60"/>
              </a:solidFill>
              <a:latin typeface="Source Sans 3"/>
              <a:ea typeface="Source Sans 3"/>
              <a:cs typeface="Source Sans 3"/>
              <a:sym typeface="Source Sans 3"/>
            </a:endParaRPr>
          </a:p>
        </p:txBody>
      </p:sp>
      <p:sp>
        <p:nvSpPr>
          <p:cNvPr id="1135" name="Google Shape;1135;p39"/>
          <p:cNvSpPr txBox="1"/>
          <p:nvPr/>
        </p:nvSpPr>
        <p:spPr>
          <a:xfrm>
            <a:off x="609600" y="2411984"/>
            <a:ext cx="30480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inside parentheses</a:t>
            </a:r>
            <a:endParaRPr sz="1900">
              <a:solidFill>
                <a:srgbClr val="1D232A"/>
              </a:solidFill>
              <a:latin typeface="Source Sans 3"/>
              <a:ea typeface="Source Sans 3"/>
              <a:cs typeface="Source Sans 3"/>
              <a:sym typeface="Source Sans 3"/>
            </a:endParaRPr>
          </a:p>
        </p:txBody>
      </p:sp>
      <p:sp>
        <p:nvSpPr>
          <p:cNvPr id="1136" name="Google Shape;1136;p39"/>
          <p:cNvSpPr/>
          <p:nvPr/>
        </p:nvSpPr>
        <p:spPr>
          <a:xfrm>
            <a:off x="3803904" y="2552152"/>
            <a:ext cx="16845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7" name="Google Shape;1137;p39"/>
          <p:cNvSpPr/>
          <p:nvPr/>
        </p:nvSpPr>
        <p:spPr>
          <a:xfrm>
            <a:off x="3803904" y="2552152"/>
            <a:ext cx="510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8" name="Google Shape;1138;p39"/>
          <p:cNvSpPr/>
          <p:nvPr/>
        </p:nvSpPr>
        <p:spPr>
          <a:xfrm>
            <a:off x="4103705" y="2659441"/>
            <a:ext cx="443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39" name="Google Shape;1139;p39"/>
          <p:cNvSpPr txBox="1"/>
          <p:nvPr/>
        </p:nvSpPr>
        <p:spPr>
          <a:xfrm>
            <a:off x="5561584" y="238760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30%</a:t>
            </a:r>
            <a:r>
              <a:rPr lang="en-US" sz="1900">
                <a:solidFill>
                  <a:srgbClr val="6F6A60"/>
                </a:solidFill>
                <a:latin typeface="Source Sans 3"/>
                <a:ea typeface="Source Sans 3"/>
                <a:cs typeface="Source Sans 3"/>
                <a:sym typeface="Source Sans 3"/>
              </a:rPr>
              <a:t>  97/320</a:t>
            </a:r>
            <a:endParaRPr sz="1900">
              <a:solidFill>
                <a:srgbClr val="6F6A60"/>
              </a:solidFill>
              <a:latin typeface="Source Sans 3"/>
              <a:ea typeface="Source Sans 3"/>
              <a:cs typeface="Source Sans 3"/>
              <a:sym typeface="Source Sans 3"/>
            </a:endParaRPr>
          </a:p>
        </p:txBody>
      </p:sp>
      <p:sp>
        <p:nvSpPr>
          <p:cNvPr id="1140" name="Google Shape;1140;p39"/>
          <p:cNvSpPr txBox="1"/>
          <p:nvPr/>
        </p:nvSpPr>
        <p:spPr>
          <a:xfrm>
            <a:off x="609600" y="2899664"/>
            <a:ext cx="30480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list nesting depth</a:t>
            </a:r>
            <a:endParaRPr sz="1900">
              <a:solidFill>
                <a:srgbClr val="1D232A"/>
              </a:solidFill>
              <a:latin typeface="Source Sans 3"/>
              <a:ea typeface="Source Sans 3"/>
              <a:cs typeface="Source Sans 3"/>
              <a:sym typeface="Source Sans 3"/>
            </a:endParaRPr>
          </a:p>
        </p:txBody>
      </p:sp>
      <p:sp>
        <p:nvSpPr>
          <p:cNvPr id="1141" name="Google Shape;1141;p39"/>
          <p:cNvSpPr/>
          <p:nvPr/>
        </p:nvSpPr>
        <p:spPr>
          <a:xfrm>
            <a:off x="3803904" y="3039832"/>
            <a:ext cx="16845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42" name="Google Shape;1142;p39"/>
          <p:cNvSpPr/>
          <p:nvPr/>
        </p:nvSpPr>
        <p:spPr>
          <a:xfrm>
            <a:off x="3803904" y="3039832"/>
            <a:ext cx="21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43" name="Google Shape;1143;p39"/>
          <p:cNvSpPr/>
          <p:nvPr/>
        </p:nvSpPr>
        <p:spPr>
          <a:xfrm>
            <a:off x="3830848" y="3147121"/>
            <a:ext cx="99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44" name="Google Shape;1144;p39"/>
          <p:cNvSpPr txBox="1"/>
          <p:nvPr/>
        </p:nvSpPr>
        <p:spPr>
          <a:xfrm>
            <a:off x="5561584" y="287528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4%</a:t>
            </a:r>
            <a:r>
              <a:rPr lang="en-US" sz="1900">
                <a:solidFill>
                  <a:srgbClr val="6F6A60"/>
                </a:solidFill>
                <a:latin typeface="Source Sans 3"/>
                <a:ea typeface="Source Sans 3"/>
                <a:cs typeface="Source Sans 3"/>
                <a:sym typeface="Source Sans 3"/>
              </a:rPr>
              <a:t>  14/320</a:t>
            </a:r>
            <a:endParaRPr sz="1900">
              <a:solidFill>
                <a:srgbClr val="6F6A60"/>
              </a:solidFill>
              <a:latin typeface="Source Sans 3"/>
              <a:ea typeface="Source Sans 3"/>
              <a:cs typeface="Source Sans 3"/>
              <a:sym typeface="Source Sans 3"/>
            </a:endParaRPr>
          </a:p>
        </p:txBody>
      </p:sp>
      <p:sp>
        <p:nvSpPr>
          <p:cNvPr id="1145" name="Google Shape;1145;p39"/>
          <p:cNvSpPr txBox="1"/>
          <p:nvPr/>
        </p:nvSpPr>
        <p:spPr>
          <a:xfrm>
            <a:off x="609600" y="3387344"/>
            <a:ext cx="30480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Oracle Lens · all three</a:t>
            </a:r>
            <a:endParaRPr sz="1900">
              <a:solidFill>
                <a:srgbClr val="1D232A"/>
              </a:solidFill>
              <a:latin typeface="Source Sans 3"/>
              <a:ea typeface="Source Sans 3"/>
              <a:cs typeface="Source Sans 3"/>
              <a:sym typeface="Source Sans 3"/>
            </a:endParaRPr>
          </a:p>
        </p:txBody>
      </p:sp>
      <p:sp>
        <p:nvSpPr>
          <p:cNvPr id="1146" name="Google Shape;1146;p39"/>
          <p:cNvSpPr/>
          <p:nvPr/>
        </p:nvSpPr>
        <p:spPr>
          <a:xfrm>
            <a:off x="3803904" y="3527512"/>
            <a:ext cx="16845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47" name="Google Shape;1147;p39"/>
          <p:cNvSpPr txBox="1"/>
          <p:nvPr/>
        </p:nvSpPr>
        <p:spPr>
          <a:xfrm>
            <a:off x="5561584" y="336296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a:t>
            </a:r>
            <a:r>
              <a:rPr lang="en-US" sz="1900">
                <a:solidFill>
                  <a:srgbClr val="6F6A60"/>
                </a:solidFill>
                <a:latin typeface="Source Sans 3"/>
                <a:ea typeface="Source Sans 3"/>
                <a:cs typeface="Source Sans 3"/>
                <a:sym typeface="Source Sans 3"/>
              </a:rPr>
              <a:t>  0/960</a:t>
            </a:r>
            <a:endParaRPr sz="1900">
              <a:solidFill>
                <a:srgbClr val="6F6A60"/>
              </a:solidFill>
              <a:latin typeface="Source Sans 3"/>
              <a:ea typeface="Source Sans 3"/>
              <a:cs typeface="Source Sans 3"/>
              <a:sym typeface="Source Sans 3"/>
            </a:endParaRPr>
          </a:p>
        </p:txBody>
      </p:sp>
      <p:sp>
        <p:nvSpPr>
          <p:cNvPr id="1148" name="Google Shape;1148;p39"/>
          <p:cNvSpPr txBox="1"/>
          <p:nvPr/>
        </p:nvSpPr>
        <p:spPr>
          <a:xfrm>
            <a:off x="609600" y="3875024"/>
            <a:ext cx="30480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language (control)</a:t>
            </a:r>
            <a:endParaRPr sz="1900">
              <a:solidFill>
                <a:srgbClr val="1D232A"/>
              </a:solidFill>
              <a:latin typeface="Source Sans 3"/>
              <a:ea typeface="Source Sans 3"/>
              <a:cs typeface="Source Sans 3"/>
              <a:sym typeface="Source Sans 3"/>
            </a:endParaRPr>
          </a:p>
        </p:txBody>
      </p:sp>
      <p:sp>
        <p:nvSpPr>
          <p:cNvPr id="1149" name="Google Shape;1149;p39"/>
          <p:cNvSpPr/>
          <p:nvPr/>
        </p:nvSpPr>
        <p:spPr>
          <a:xfrm>
            <a:off x="3803904" y="4015192"/>
            <a:ext cx="16845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0" name="Google Shape;1150;p39"/>
          <p:cNvSpPr/>
          <p:nvPr/>
        </p:nvSpPr>
        <p:spPr>
          <a:xfrm>
            <a:off x="3803904" y="4015192"/>
            <a:ext cx="13581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1" name="Google Shape;1151;p39"/>
          <p:cNvSpPr/>
          <p:nvPr/>
        </p:nvSpPr>
        <p:spPr>
          <a:xfrm>
            <a:off x="4961168" y="4122481"/>
            <a:ext cx="385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2" name="Google Shape;1152;p39"/>
          <p:cNvSpPr txBox="1"/>
          <p:nvPr/>
        </p:nvSpPr>
        <p:spPr>
          <a:xfrm>
            <a:off x="5561584" y="385064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81%</a:t>
            </a:r>
            <a:r>
              <a:rPr lang="en-US" sz="1900">
                <a:solidFill>
                  <a:srgbClr val="6F6A60"/>
                </a:solidFill>
                <a:latin typeface="Source Sans 3"/>
                <a:ea typeface="Source Sans 3"/>
                <a:cs typeface="Source Sans 3"/>
                <a:sym typeface="Source Sans 3"/>
              </a:rPr>
              <a:t>  258/320</a:t>
            </a:r>
            <a:endParaRPr sz="1900">
              <a:solidFill>
                <a:srgbClr val="6F6A60"/>
              </a:solidFill>
              <a:latin typeface="Source Sans 3"/>
              <a:ea typeface="Source Sans 3"/>
              <a:cs typeface="Source Sans 3"/>
              <a:sym typeface="Source Sans 3"/>
            </a:endParaRPr>
          </a:p>
        </p:txBody>
      </p:sp>
      <p:sp>
        <p:nvSpPr>
          <p:cNvPr id="1153" name="Google Shape;1153;p39"/>
          <p:cNvSpPr/>
          <p:nvPr/>
        </p:nvSpPr>
        <p:spPr>
          <a:xfrm>
            <a:off x="609600" y="4527256"/>
            <a:ext cx="6888300" cy="8859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4" name="Google Shape;1154;p39"/>
          <p:cNvSpPr/>
          <p:nvPr/>
        </p:nvSpPr>
        <p:spPr>
          <a:xfrm>
            <a:off x="609600" y="4527256"/>
            <a:ext cx="60900" cy="8859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5" name="Google Shape;1155;p39"/>
          <p:cNvSpPr txBox="1"/>
          <p:nvPr/>
        </p:nvSpPr>
        <p:spPr>
          <a:xfrm>
            <a:off x="743712" y="4551680"/>
            <a:ext cx="6705600" cy="8373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Oracle Lens, first item (writes cells)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/Farid | France | Asie | 32 | 10 | Informatique |</a:t>
            </a:r>
            <a:endParaRPr i="1" sz="1900">
              <a:solidFill>
                <a:srgbClr val="1D232A"/>
              </a:solidFill>
              <a:latin typeface="Lora"/>
              <a:ea typeface="Lora"/>
              <a:cs typeface="Lora"/>
              <a:sym typeface="Lora"/>
            </a:endParaRPr>
          </a:p>
        </p:txBody>
      </p:sp>
      <p:sp>
        <p:nvSpPr>
          <p:cNvPr id="1156" name="Google Shape;1156;p39"/>
          <p:cNvSpPr/>
          <p:nvPr/>
        </p:nvSpPr>
        <p:spPr>
          <a:xfrm>
            <a:off x="7802880" y="1503640"/>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7" name="Google Shape;1157;p39"/>
          <p:cNvSpPr/>
          <p:nvPr/>
        </p:nvSpPr>
        <p:spPr>
          <a:xfrm>
            <a:off x="7802880" y="1503640"/>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58" name="Google Shape;1158;p39"/>
          <p:cNvSpPr txBox="1"/>
          <p:nvPr/>
        </p:nvSpPr>
        <p:spPr>
          <a:xfrm>
            <a:off x="7936992" y="1528064"/>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Input (first cell of a row)</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 Iris | Italian |…</a:t>
            </a:r>
            <a:endParaRPr sz="1900">
              <a:solidFill>
                <a:srgbClr val="1D232A"/>
              </a:solidFill>
              <a:latin typeface="Roboto Mono"/>
              <a:ea typeface="Roboto Mono"/>
              <a:cs typeface="Roboto Mono"/>
              <a:sym typeface="Roboto Mono"/>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 Farid▌</a:t>
            </a:r>
            <a:endParaRPr sz="1900">
              <a:solidFill>
                <a:srgbClr val="1D232A"/>
              </a:solidFill>
              <a:latin typeface="Roboto Mono"/>
              <a:ea typeface="Roboto Mono"/>
              <a:cs typeface="Roboto Mono"/>
              <a:sym typeface="Roboto Mono"/>
            </a:endParaRPr>
          </a:p>
        </p:txBody>
      </p:sp>
      <p:sp>
        <p:nvSpPr>
          <p:cNvPr id="1159" name="Google Shape;1159;p39"/>
          <p:cNvSpPr/>
          <p:nvPr/>
        </p:nvSpPr>
        <p:spPr>
          <a:xfrm>
            <a:off x="7802880" y="2795992"/>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60" name="Google Shape;1160;p39"/>
          <p:cNvSpPr/>
          <p:nvPr/>
        </p:nvSpPr>
        <p:spPr>
          <a:xfrm>
            <a:off x="7802880" y="2795992"/>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61" name="Google Shape;1161;p39"/>
          <p:cNvSpPr txBox="1"/>
          <p:nvPr/>
        </p:nvSpPr>
        <p:spPr>
          <a:xfrm>
            <a:off x="7936992" y="2820416"/>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(judge: states it)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"Farid" is the start of a new name entry …</a:t>
            </a:r>
            <a:endParaRPr i="1" sz="1900">
              <a:solidFill>
                <a:srgbClr val="1D232A"/>
              </a:solidFill>
              <a:latin typeface="Lora"/>
              <a:ea typeface="Lora"/>
              <a:cs typeface="Lora"/>
              <a:sym typeface="Lora"/>
            </a:endParaRPr>
          </a:p>
        </p:txBody>
      </p:sp>
      <p:sp>
        <p:nvSpPr>
          <p:cNvPr id="1162" name="Google Shape;1162;p39"/>
          <p:cNvSpPr/>
          <p:nvPr/>
        </p:nvSpPr>
        <p:spPr>
          <a:xfrm>
            <a:off x="7802880" y="4088344"/>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63" name="Google Shape;1163;p39"/>
          <p:cNvSpPr/>
          <p:nvPr/>
        </p:nvSpPr>
        <p:spPr>
          <a:xfrm>
            <a:off x="7802880" y="4088344"/>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64" name="Google Shape;1164;p39"/>
          <p:cNvSpPr txBox="1"/>
          <p:nvPr/>
        </p:nvSpPr>
        <p:spPr>
          <a:xfrm>
            <a:off x="7936992" y="4112768"/>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rare literal case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it is the first column of the next row …</a:t>
            </a:r>
            <a:endParaRPr i="1" sz="1900">
              <a:solidFill>
                <a:srgbClr val="1D232A"/>
              </a:solidFill>
              <a:latin typeface="Lora"/>
              <a:ea typeface="Lora"/>
              <a:cs typeface="Lora"/>
              <a:sym typeface="Lora"/>
            </a:endParaRPr>
          </a:p>
        </p:txBody>
      </p:sp>
      <p:sp>
        <p:nvSpPr>
          <p:cNvPr id="1165" name="Google Shape;1165;p39"/>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66" name="Google Shape;1166;p39"/>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1-(b), 1-(c): Oracle Lens states none; the NLA states two of three, loosely.</a:t>
            </a:r>
            <a:endParaRPr sz="1900">
              <a:solidFill>
                <a:srgbClr val="1D232A"/>
              </a:solidFill>
              <a:latin typeface="Source Sans 3"/>
              <a:ea typeface="Source Sans 3"/>
              <a:cs typeface="Source Sans 3"/>
              <a:sym typeface="Source Sans 3"/>
            </a:endParaRPr>
          </a:p>
        </p:txBody>
      </p:sp>
      <p:sp>
        <p:nvSpPr>
          <p:cNvPr id="1167" name="Google Shape;1167;p39"/>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Judge counts 'a new row is starting' as stating; 7 of 118 judged statements say 'first column'. Item-clustered 95%.</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Line position on fresh items: chance for every reader (0.51, 0.49, 0.53). One judge. </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171" name="Shape 1171"/>
        <p:cNvGrpSpPr/>
        <p:nvPr/>
      </p:nvGrpSpPr>
      <p:grpSpPr>
        <a:xfrm>
          <a:off x="0" y="0"/>
          <a:ext cx="0" cy="0"/>
          <a:chOff x="0" y="0"/>
          <a:chExt cx="0" cy="0"/>
        </a:xfrm>
      </p:grpSpPr>
      <p:sp>
        <p:nvSpPr>
          <p:cNvPr id="1172" name="Google Shape;1172;p40"/>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MECHANISM  · 200 ITEMS PER ROW</a:t>
            </a:r>
            <a:endParaRPr b="1" sz="1500">
              <a:solidFill>
                <a:srgbClr val="8A8478"/>
              </a:solidFill>
              <a:latin typeface="Source Sans 3"/>
              <a:ea typeface="Source Sans 3"/>
              <a:cs typeface="Source Sans 3"/>
              <a:sym typeface="Source Sans 3"/>
            </a:endParaRPr>
          </a:p>
        </p:txBody>
      </p:sp>
      <p:sp>
        <p:nvSpPr>
          <p:cNvPr id="1173" name="Google Shape;1173;p40"/>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Swap Oracle Lens's part → the NLA ignores it</a:t>
            </a:r>
            <a:endParaRPr b="1" sz="3500">
              <a:solidFill>
                <a:srgbClr val="1D232A"/>
              </a:solidFill>
              <a:latin typeface="Lora"/>
              <a:ea typeface="Lora"/>
              <a:cs typeface="Lora"/>
              <a:sym typeface="Lora"/>
            </a:endParaRPr>
          </a:p>
        </p:txBody>
      </p:sp>
      <p:sp>
        <p:nvSpPr>
          <p:cNvPr id="1174" name="Google Shape;1174;p40"/>
          <p:cNvSpPr txBox="1"/>
          <p:nvPr/>
        </p:nvSpPr>
        <p:spPr>
          <a:xfrm>
            <a:off x="609600" y="1479296"/>
            <a:ext cx="6888300" cy="76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follows the donor (AUROC against the donor's label)</a:t>
            </a:r>
            <a:endParaRPr b="1" sz="1900">
              <a:solidFill>
                <a:srgbClr val="1D232A"/>
              </a:solidFill>
              <a:latin typeface="Source Sans 3"/>
              <a:ea typeface="Source Sans 3"/>
              <a:cs typeface="Source Sans 3"/>
              <a:sym typeface="Source Sans 3"/>
            </a:endParaRPr>
          </a:p>
        </p:txBody>
      </p:sp>
      <p:sp>
        <p:nvSpPr>
          <p:cNvPr id="1175" name="Google Shape;1175;p40"/>
          <p:cNvSpPr txBox="1"/>
          <p:nvPr/>
        </p:nvSpPr>
        <p:spPr>
          <a:xfrm>
            <a:off x="609600" y="2145792"/>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Table column · remainder</a:t>
            </a:r>
            <a:endParaRPr sz="1900">
              <a:solidFill>
                <a:srgbClr val="1D232A"/>
              </a:solidFill>
              <a:latin typeface="Source Sans 3"/>
              <a:ea typeface="Source Sans 3"/>
              <a:cs typeface="Source Sans 3"/>
              <a:sym typeface="Source Sans 3"/>
            </a:endParaRPr>
          </a:p>
        </p:txBody>
      </p:sp>
      <p:sp>
        <p:nvSpPr>
          <p:cNvPr id="1176" name="Google Shape;1176;p40"/>
          <p:cNvSpPr/>
          <p:nvPr/>
        </p:nvSpPr>
        <p:spPr>
          <a:xfrm>
            <a:off x="3925824" y="2286000"/>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77" name="Google Shape;1177;p40"/>
          <p:cNvSpPr/>
          <p:nvPr/>
        </p:nvSpPr>
        <p:spPr>
          <a:xfrm>
            <a:off x="3925824" y="2286000"/>
            <a:ext cx="24279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78" name="Google Shape;1178;p40"/>
          <p:cNvSpPr/>
          <p:nvPr/>
        </p:nvSpPr>
        <p:spPr>
          <a:xfrm>
            <a:off x="6304361" y="2393289"/>
            <a:ext cx="99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79" name="Google Shape;1179;p40"/>
          <p:cNvSpPr txBox="1"/>
          <p:nvPr/>
        </p:nvSpPr>
        <p:spPr>
          <a:xfrm>
            <a:off x="6476661" y="2121408"/>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0.98</a:t>
            </a:r>
            <a:endParaRPr b="1" sz="2100">
              <a:solidFill>
                <a:srgbClr val="1D232A"/>
              </a:solidFill>
              <a:latin typeface="Source Sans 3"/>
              <a:ea typeface="Source Sans 3"/>
              <a:cs typeface="Source Sans 3"/>
              <a:sym typeface="Source Sans 3"/>
            </a:endParaRPr>
          </a:p>
        </p:txBody>
      </p:sp>
      <p:sp>
        <p:nvSpPr>
          <p:cNvPr id="1180" name="Google Shape;1180;p40"/>
          <p:cNvSpPr txBox="1"/>
          <p:nvPr/>
        </p:nvSpPr>
        <p:spPr>
          <a:xfrm>
            <a:off x="609600" y="252374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Table column · OL part</a:t>
            </a:r>
            <a:endParaRPr sz="1900">
              <a:solidFill>
                <a:srgbClr val="1D232A"/>
              </a:solidFill>
              <a:latin typeface="Source Sans 3"/>
              <a:ea typeface="Source Sans 3"/>
              <a:cs typeface="Source Sans 3"/>
              <a:sym typeface="Source Sans 3"/>
            </a:endParaRPr>
          </a:p>
        </p:txBody>
      </p:sp>
      <p:sp>
        <p:nvSpPr>
          <p:cNvPr id="1181" name="Google Shape;1181;p40"/>
          <p:cNvSpPr/>
          <p:nvPr/>
        </p:nvSpPr>
        <p:spPr>
          <a:xfrm>
            <a:off x="3925824" y="2663952"/>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2" name="Google Shape;1182;p40"/>
          <p:cNvSpPr/>
          <p:nvPr/>
        </p:nvSpPr>
        <p:spPr>
          <a:xfrm>
            <a:off x="3925824" y="2663952"/>
            <a:ext cx="2196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3" name="Google Shape;1183;p40"/>
          <p:cNvSpPr/>
          <p:nvPr/>
        </p:nvSpPr>
        <p:spPr>
          <a:xfrm>
            <a:off x="3925824" y="2771241"/>
            <a:ext cx="74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4" name="Google Shape;1184;p40"/>
          <p:cNvSpPr txBox="1"/>
          <p:nvPr/>
        </p:nvSpPr>
        <p:spPr>
          <a:xfrm>
            <a:off x="6476661" y="249936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0.01</a:t>
            </a:r>
            <a:endParaRPr b="1" sz="2100">
              <a:solidFill>
                <a:srgbClr val="1D232A"/>
              </a:solidFill>
              <a:latin typeface="Source Sans 3"/>
              <a:ea typeface="Source Sans 3"/>
              <a:cs typeface="Source Sans 3"/>
              <a:sym typeface="Source Sans 3"/>
            </a:endParaRPr>
          </a:p>
        </p:txBody>
      </p:sp>
      <p:sp>
        <p:nvSpPr>
          <p:cNvPr id="1185" name="Google Shape;1185;p40"/>
          <p:cNvSpPr txBox="1"/>
          <p:nvPr/>
        </p:nvSpPr>
        <p:spPr>
          <a:xfrm>
            <a:off x="609600" y="2901696"/>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Parentheses · remainder</a:t>
            </a:r>
            <a:endParaRPr sz="1900">
              <a:solidFill>
                <a:srgbClr val="1D232A"/>
              </a:solidFill>
              <a:latin typeface="Source Sans 3"/>
              <a:ea typeface="Source Sans 3"/>
              <a:cs typeface="Source Sans 3"/>
              <a:sym typeface="Source Sans 3"/>
            </a:endParaRPr>
          </a:p>
        </p:txBody>
      </p:sp>
      <p:sp>
        <p:nvSpPr>
          <p:cNvPr id="1186" name="Google Shape;1186;p40"/>
          <p:cNvSpPr/>
          <p:nvPr/>
        </p:nvSpPr>
        <p:spPr>
          <a:xfrm>
            <a:off x="3925824" y="3041904"/>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7" name="Google Shape;1187;p40"/>
          <p:cNvSpPr/>
          <p:nvPr/>
        </p:nvSpPr>
        <p:spPr>
          <a:xfrm>
            <a:off x="3925824" y="3041904"/>
            <a:ext cx="21555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8" name="Google Shape;1188;p40"/>
          <p:cNvSpPr/>
          <p:nvPr/>
        </p:nvSpPr>
        <p:spPr>
          <a:xfrm>
            <a:off x="5957499" y="3149193"/>
            <a:ext cx="247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89" name="Google Shape;1189;p40"/>
          <p:cNvSpPr txBox="1"/>
          <p:nvPr/>
        </p:nvSpPr>
        <p:spPr>
          <a:xfrm>
            <a:off x="6476661" y="287731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0.87</a:t>
            </a:r>
            <a:endParaRPr b="1" sz="2100">
              <a:solidFill>
                <a:srgbClr val="1D232A"/>
              </a:solidFill>
              <a:latin typeface="Source Sans 3"/>
              <a:ea typeface="Source Sans 3"/>
              <a:cs typeface="Source Sans 3"/>
              <a:sym typeface="Source Sans 3"/>
            </a:endParaRPr>
          </a:p>
        </p:txBody>
      </p:sp>
      <p:sp>
        <p:nvSpPr>
          <p:cNvPr id="1190" name="Google Shape;1190;p40"/>
          <p:cNvSpPr txBox="1"/>
          <p:nvPr/>
        </p:nvSpPr>
        <p:spPr>
          <a:xfrm>
            <a:off x="609600" y="3279648"/>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Parentheses · OL part</a:t>
            </a:r>
            <a:endParaRPr sz="1900">
              <a:solidFill>
                <a:srgbClr val="1D232A"/>
              </a:solidFill>
              <a:latin typeface="Source Sans 3"/>
              <a:ea typeface="Source Sans 3"/>
              <a:cs typeface="Source Sans 3"/>
              <a:sym typeface="Source Sans 3"/>
            </a:endParaRPr>
          </a:p>
        </p:txBody>
      </p:sp>
      <p:sp>
        <p:nvSpPr>
          <p:cNvPr id="1191" name="Google Shape;1191;p40"/>
          <p:cNvSpPr/>
          <p:nvPr/>
        </p:nvSpPr>
        <p:spPr>
          <a:xfrm>
            <a:off x="3925824" y="3419856"/>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2" name="Google Shape;1192;p40"/>
          <p:cNvSpPr/>
          <p:nvPr/>
        </p:nvSpPr>
        <p:spPr>
          <a:xfrm>
            <a:off x="3925824" y="3419856"/>
            <a:ext cx="2973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3" name="Google Shape;1193;p40"/>
          <p:cNvSpPr/>
          <p:nvPr/>
        </p:nvSpPr>
        <p:spPr>
          <a:xfrm>
            <a:off x="4099316" y="3527145"/>
            <a:ext cx="247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4" name="Google Shape;1194;p40"/>
          <p:cNvSpPr txBox="1"/>
          <p:nvPr/>
        </p:nvSpPr>
        <p:spPr>
          <a:xfrm>
            <a:off x="6476661" y="3255264"/>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0.12</a:t>
            </a:r>
            <a:endParaRPr b="1" sz="2100">
              <a:solidFill>
                <a:srgbClr val="1D232A"/>
              </a:solidFill>
              <a:latin typeface="Source Sans 3"/>
              <a:ea typeface="Source Sans 3"/>
              <a:cs typeface="Source Sans 3"/>
              <a:sym typeface="Source Sans 3"/>
            </a:endParaRPr>
          </a:p>
        </p:txBody>
      </p:sp>
      <p:sp>
        <p:nvSpPr>
          <p:cNvPr id="1195" name="Google Shape;1195;p40"/>
          <p:cNvSpPr txBox="1"/>
          <p:nvPr/>
        </p:nvSpPr>
        <p:spPr>
          <a:xfrm>
            <a:off x="609600" y="3657600"/>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List index · remainder</a:t>
            </a:r>
            <a:endParaRPr sz="1900">
              <a:solidFill>
                <a:srgbClr val="1D232A"/>
              </a:solidFill>
              <a:latin typeface="Source Sans 3"/>
              <a:ea typeface="Source Sans 3"/>
              <a:cs typeface="Source Sans 3"/>
              <a:sym typeface="Source Sans 3"/>
            </a:endParaRPr>
          </a:p>
        </p:txBody>
      </p:sp>
      <p:sp>
        <p:nvSpPr>
          <p:cNvPr id="1196" name="Google Shape;1196;p40"/>
          <p:cNvSpPr/>
          <p:nvPr/>
        </p:nvSpPr>
        <p:spPr>
          <a:xfrm>
            <a:off x="3925824" y="3797808"/>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7" name="Google Shape;1197;p40"/>
          <p:cNvSpPr/>
          <p:nvPr/>
        </p:nvSpPr>
        <p:spPr>
          <a:xfrm>
            <a:off x="3925824" y="3797808"/>
            <a:ext cx="24279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8" name="Google Shape;1198;p40"/>
          <p:cNvSpPr/>
          <p:nvPr/>
        </p:nvSpPr>
        <p:spPr>
          <a:xfrm>
            <a:off x="6304361" y="3905097"/>
            <a:ext cx="74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9" name="Google Shape;1199;p40"/>
          <p:cNvSpPr txBox="1"/>
          <p:nvPr/>
        </p:nvSpPr>
        <p:spPr>
          <a:xfrm>
            <a:off x="6476661" y="363321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0.98</a:t>
            </a:r>
            <a:endParaRPr b="1" sz="2100">
              <a:solidFill>
                <a:srgbClr val="1D232A"/>
              </a:solidFill>
              <a:latin typeface="Source Sans 3"/>
              <a:ea typeface="Source Sans 3"/>
              <a:cs typeface="Source Sans 3"/>
              <a:sym typeface="Source Sans 3"/>
            </a:endParaRPr>
          </a:p>
        </p:txBody>
      </p:sp>
      <p:sp>
        <p:nvSpPr>
          <p:cNvPr id="1200" name="Google Shape;1200;p40"/>
          <p:cNvSpPr txBox="1"/>
          <p:nvPr/>
        </p:nvSpPr>
        <p:spPr>
          <a:xfrm>
            <a:off x="609600" y="4035552"/>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List index · OL part</a:t>
            </a:r>
            <a:endParaRPr sz="1900">
              <a:solidFill>
                <a:srgbClr val="1D232A"/>
              </a:solidFill>
              <a:latin typeface="Source Sans 3"/>
              <a:ea typeface="Source Sans 3"/>
              <a:cs typeface="Source Sans 3"/>
              <a:sym typeface="Source Sans 3"/>
            </a:endParaRPr>
          </a:p>
        </p:txBody>
      </p:sp>
      <p:sp>
        <p:nvSpPr>
          <p:cNvPr id="1201" name="Google Shape;1201;p40"/>
          <p:cNvSpPr/>
          <p:nvPr/>
        </p:nvSpPr>
        <p:spPr>
          <a:xfrm>
            <a:off x="3925824" y="4175760"/>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2" name="Google Shape;1202;p40"/>
          <p:cNvSpPr/>
          <p:nvPr/>
        </p:nvSpPr>
        <p:spPr>
          <a:xfrm>
            <a:off x="3925824" y="4175760"/>
            <a:ext cx="2196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3" name="Google Shape;1203;p40"/>
          <p:cNvSpPr/>
          <p:nvPr/>
        </p:nvSpPr>
        <p:spPr>
          <a:xfrm>
            <a:off x="3950573" y="4283049"/>
            <a:ext cx="99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4" name="Google Shape;1204;p40"/>
          <p:cNvSpPr txBox="1"/>
          <p:nvPr/>
        </p:nvSpPr>
        <p:spPr>
          <a:xfrm>
            <a:off x="6476661" y="4011168"/>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0.03</a:t>
            </a:r>
            <a:endParaRPr b="1" sz="2100">
              <a:solidFill>
                <a:srgbClr val="1D232A"/>
              </a:solidFill>
              <a:latin typeface="Source Sans 3"/>
              <a:ea typeface="Source Sans 3"/>
              <a:cs typeface="Source Sans 3"/>
              <a:sym typeface="Source Sans 3"/>
            </a:endParaRPr>
          </a:p>
        </p:txBody>
      </p:sp>
      <p:sp>
        <p:nvSpPr>
          <p:cNvPr id="1205" name="Google Shape;1205;p40"/>
          <p:cNvSpPr txBox="1"/>
          <p:nvPr/>
        </p:nvSpPr>
        <p:spPr>
          <a:xfrm>
            <a:off x="609600" y="441350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Language · remainder</a:t>
            </a:r>
            <a:endParaRPr sz="1900">
              <a:solidFill>
                <a:srgbClr val="1D232A"/>
              </a:solidFill>
              <a:latin typeface="Source Sans 3"/>
              <a:ea typeface="Source Sans 3"/>
              <a:cs typeface="Source Sans 3"/>
              <a:sym typeface="Source Sans 3"/>
            </a:endParaRPr>
          </a:p>
        </p:txBody>
      </p:sp>
      <p:sp>
        <p:nvSpPr>
          <p:cNvPr id="1206" name="Google Shape;1206;p40"/>
          <p:cNvSpPr/>
          <p:nvPr/>
        </p:nvSpPr>
        <p:spPr>
          <a:xfrm>
            <a:off x="3925824" y="4553712"/>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7" name="Google Shape;1207;p40"/>
          <p:cNvSpPr/>
          <p:nvPr/>
        </p:nvSpPr>
        <p:spPr>
          <a:xfrm>
            <a:off x="3925824" y="4553712"/>
            <a:ext cx="2475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8" name="Google Shape;1208;p40"/>
          <p:cNvSpPr/>
          <p:nvPr/>
        </p:nvSpPr>
        <p:spPr>
          <a:xfrm>
            <a:off x="4074444" y="4661001"/>
            <a:ext cx="2229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09" name="Google Shape;1209;p40"/>
          <p:cNvSpPr txBox="1"/>
          <p:nvPr/>
        </p:nvSpPr>
        <p:spPr>
          <a:xfrm>
            <a:off x="6476661" y="438912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0.10</a:t>
            </a:r>
            <a:endParaRPr b="1" sz="2100">
              <a:solidFill>
                <a:srgbClr val="1D232A"/>
              </a:solidFill>
              <a:latin typeface="Source Sans 3"/>
              <a:ea typeface="Source Sans 3"/>
              <a:cs typeface="Source Sans 3"/>
              <a:sym typeface="Source Sans 3"/>
            </a:endParaRPr>
          </a:p>
        </p:txBody>
      </p:sp>
      <p:sp>
        <p:nvSpPr>
          <p:cNvPr id="1210" name="Google Shape;1210;p40"/>
          <p:cNvSpPr txBox="1"/>
          <p:nvPr/>
        </p:nvSpPr>
        <p:spPr>
          <a:xfrm>
            <a:off x="609600" y="4791456"/>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Language · OL part</a:t>
            </a:r>
            <a:endParaRPr sz="1900">
              <a:solidFill>
                <a:srgbClr val="1D232A"/>
              </a:solidFill>
              <a:latin typeface="Source Sans 3"/>
              <a:ea typeface="Source Sans 3"/>
              <a:cs typeface="Source Sans 3"/>
              <a:sym typeface="Source Sans 3"/>
            </a:endParaRPr>
          </a:p>
        </p:txBody>
      </p:sp>
      <p:sp>
        <p:nvSpPr>
          <p:cNvPr id="1211" name="Google Shape;1211;p40"/>
          <p:cNvSpPr/>
          <p:nvPr/>
        </p:nvSpPr>
        <p:spPr>
          <a:xfrm>
            <a:off x="3925824" y="4931664"/>
            <a:ext cx="2477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2" name="Google Shape;1212;p40"/>
          <p:cNvSpPr/>
          <p:nvPr/>
        </p:nvSpPr>
        <p:spPr>
          <a:xfrm>
            <a:off x="3925824" y="4931664"/>
            <a:ext cx="22797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3" name="Google Shape;1213;p40"/>
          <p:cNvSpPr/>
          <p:nvPr/>
        </p:nvSpPr>
        <p:spPr>
          <a:xfrm>
            <a:off x="6106241" y="5038953"/>
            <a:ext cx="173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4" name="Google Shape;1214;p40"/>
          <p:cNvSpPr txBox="1"/>
          <p:nvPr/>
        </p:nvSpPr>
        <p:spPr>
          <a:xfrm>
            <a:off x="6476661" y="476707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0.92</a:t>
            </a:r>
            <a:endParaRPr b="1" sz="2100">
              <a:solidFill>
                <a:srgbClr val="1D232A"/>
              </a:solidFill>
              <a:latin typeface="Source Sans 3"/>
              <a:ea typeface="Source Sans 3"/>
              <a:cs typeface="Source Sans 3"/>
              <a:sym typeface="Source Sans 3"/>
            </a:endParaRPr>
          </a:p>
        </p:txBody>
      </p:sp>
      <p:sp>
        <p:nvSpPr>
          <p:cNvPr id="1215" name="Google Shape;1215;p40"/>
          <p:cNvSpPr/>
          <p:nvPr/>
        </p:nvSpPr>
        <p:spPr>
          <a:xfrm>
            <a:off x="5157337" y="2243328"/>
            <a:ext cx="14700" cy="29748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6" name="Google Shape;1216;p40"/>
          <p:cNvSpPr txBox="1"/>
          <p:nvPr/>
        </p:nvSpPr>
        <p:spPr>
          <a:xfrm>
            <a:off x="4067387" y="5096256"/>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chance</a:t>
            </a:r>
            <a:endParaRPr sz="1900">
              <a:solidFill>
                <a:srgbClr val="6F6A60"/>
              </a:solidFill>
              <a:latin typeface="Source Sans 3"/>
              <a:ea typeface="Source Sans 3"/>
              <a:cs typeface="Source Sans 3"/>
              <a:sym typeface="Source Sans 3"/>
            </a:endParaRPr>
          </a:p>
        </p:txBody>
      </p:sp>
      <p:sp>
        <p:nvSpPr>
          <p:cNvPr id="1217" name="Google Shape;1217;p40"/>
          <p:cNvSpPr/>
          <p:nvPr/>
        </p:nvSpPr>
        <p:spPr>
          <a:xfrm>
            <a:off x="7802880" y="1503640"/>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8" name="Google Shape;1218;p40"/>
          <p:cNvSpPr/>
          <p:nvPr/>
        </p:nvSpPr>
        <p:spPr>
          <a:xfrm>
            <a:off x="7802880" y="1503640"/>
            <a:ext cx="60900" cy="1454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19" name="Google Shape;1219;p40"/>
          <p:cNvSpPr txBox="1"/>
          <p:nvPr/>
        </p:nvSpPr>
        <p:spPr>
          <a:xfrm>
            <a:off x="7936992" y="1528064"/>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OL part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What the NLA's reconstructor rebuilds from Oracle Lens's bullets.</a:t>
            </a:r>
            <a:endParaRPr sz="1900">
              <a:solidFill>
                <a:srgbClr val="1D232A"/>
              </a:solidFill>
              <a:latin typeface="Source Sans 3"/>
              <a:ea typeface="Source Sans 3"/>
              <a:cs typeface="Source Sans 3"/>
              <a:sym typeface="Source Sans 3"/>
            </a:endParaRPr>
          </a:p>
        </p:txBody>
      </p:sp>
      <p:sp>
        <p:nvSpPr>
          <p:cNvPr id="1220" name="Google Shape;1220;p40"/>
          <p:cNvSpPr/>
          <p:nvPr/>
        </p:nvSpPr>
        <p:spPr>
          <a:xfrm>
            <a:off x="7802880" y="3080552"/>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21" name="Google Shape;1221;p40"/>
          <p:cNvSpPr/>
          <p:nvPr/>
        </p:nvSpPr>
        <p:spPr>
          <a:xfrm>
            <a:off x="7802880" y="3080552"/>
            <a:ext cx="60900" cy="1454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22" name="Google Shape;1222;p40"/>
          <p:cNvSpPr txBox="1"/>
          <p:nvPr/>
        </p:nvSpPr>
        <p:spPr>
          <a:xfrm>
            <a:off x="7936992" y="3104896"/>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Remainder</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The activation minus that part. Swap one part in from a donor of the other class.</a:t>
            </a:r>
            <a:endParaRPr sz="1900">
              <a:solidFill>
                <a:srgbClr val="1D232A"/>
              </a:solidFill>
              <a:latin typeface="Source Sans 3"/>
              <a:ea typeface="Source Sans 3"/>
              <a:cs typeface="Source Sans 3"/>
              <a:sym typeface="Source Sans 3"/>
            </a:endParaRPr>
          </a:p>
        </p:txBody>
      </p:sp>
      <p:sp>
        <p:nvSpPr>
          <p:cNvPr id="1223" name="Google Shape;1223;p40"/>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24" name="Google Shape;1224;p40"/>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1-(b): position sits in the part Oracle Lens's words don't rebuild.</a:t>
            </a:r>
            <a:endParaRPr sz="1900">
              <a:solidFill>
                <a:srgbClr val="1D232A"/>
              </a:solidFill>
              <a:latin typeface="Source Sans 3"/>
              <a:ea typeface="Source Sans 3"/>
              <a:cs typeface="Source Sans 3"/>
              <a:sym typeface="Source Sans 3"/>
            </a:endParaRPr>
          </a:p>
        </p:txBody>
      </p:sp>
      <p:sp>
        <p:nvSpPr>
          <p:cNvPr id="1225" name="Google Shape;1225;p40"/>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The NLA's prompted log-odds, mean of 4 phrasings; 95% bootstrap CI by passage. Both parts built with the</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NLA's reconstructor; one seeded donor pairing. </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229" name="Shape 1229"/>
        <p:cNvGrpSpPr/>
        <p:nvPr/>
      </p:nvGrpSpPr>
      <p:grpSpPr>
        <a:xfrm>
          <a:off x="0" y="0"/>
          <a:ext cx="0" cy="0"/>
          <a:chOff x="0" y="0"/>
          <a:chExt cx="0" cy="0"/>
        </a:xfrm>
      </p:grpSpPr>
      <p:sp>
        <p:nvSpPr>
          <p:cNvPr id="1230" name="Google Shape;1230;p41"/>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NEGATIVE RESULT 1  · 10 SYNTHETIC ROWS · RULE HASHED BEFORE READERS RAN</a:t>
            </a:r>
            <a:endParaRPr b="1" sz="1500">
              <a:solidFill>
                <a:srgbClr val="8A8478"/>
              </a:solidFill>
              <a:latin typeface="Source Sans 3"/>
              <a:ea typeface="Source Sans 3"/>
              <a:cs typeface="Source Sans 3"/>
              <a:sym typeface="Source Sans 3"/>
            </a:endParaRPr>
          </a:p>
        </p:txBody>
      </p:sp>
      <p:sp>
        <p:nvSpPr>
          <p:cNvPr id="1231" name="Google Shape;1231;p41"/>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Used by the model → not more often stated</a:t>
            </a:r>
            <a:endParaRPr b="1" sz="3500">
              <a:solidFill>
                <a:srgbClr val="1D232A"/>
              </a:solidFill>
              <a:latin typeface="Lora"/>
              <a:ea typeface="Lora"/>
              <a:cs typeface="Lora"/>
              <a:sym typeface="Lora"/>
            </a:endParaRPr>
          </a:p>
        </p:txBody>
      </p:sp>
      <p:sp>
        <p:nvSpPr>
          <p:cNvPr id="1232" name="Google Shape;1232;p41"/>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states it (judge, share of 320 readouts)</a:t>
            </a:r>
            <a:endParaRPr b="1" sz="1900">
              <a:solidFill>
                <a:srgbClr val="1D232A"/>
              </a:solidFill>
              <a:latin typeface="Source Sans 3"/>
              <a:ea typeface="Source Sans 3"/>
              <a:cs typeface="Source Sans 3"/>
              <a:sym typeface="Source Sans 3"/>
            </a:endParaRPr>
          </a:p>
        </p:txBody>
      </p:sp>
      <p:sp>
        <p:nvSpPr>
          <p:cNvPr id="1233" name="Google Shape;1233;p41"/>
          <p:cNvSpPr txBox="1"/>
          <p:nvPr/>
        </p:nvSpPr>
        <p:spPr>
          <a:xfrm>
            <a:off x="609600" y="192430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 (used, z +22)</a:t>
            </a:r>
            <a:endParaRPr sz="1900">
              <a:solidFill>
                <a:srgbClr val="1D232A"/>
              </a:solidFill>
              <a:latin typeface="Source Sans 3"/>
              <a:ea typeface="Source Sans 3"/>
              <a:cs typeface="Source Sans 3"/>
              <a:sym typeface="Source Sans 3"/>
            </a:endParaRPr>
          </a:p>
        </p:txBody>
      </p:sp>
      <p:sp>
        <p:nvSpPr>
          <p:cNvPr id="1234" name="Google Shape;1234;p41"/>
          <p:cNvSpPr/>
          <p:nvPr/>
        </p:nvSpPr>
        <p:spPr>
          <a:xfrm>
            <a:off x="3925824" y="2064472"/>
            <a:ext cx="1562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35" name="Google Shape;1235;p41"/>
          <p:cNvSpPr txBox="1"/>
          <p:nvPr/>
        </p:nvSpPr>
        <p:spPr>
          <a:xfrm>
            <a:off x="5561584" y="189992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a:t>
            </a:r>
            <a:r>
              <a:rPr lang="en-US" sz="1900">
                <a:solidFill>
                  <a:srgbClr val="6F6A60"/>
                </a:solidFill>
                <a:latin typeface="Source Sans 3"/>
                <a:ea typeface="Source Sans 3"/>
                <a:cs typeface="Source Sans 3"/>
                <a:sym typeface="Source Sans 3"/>
              </a:rPr>
              <a:t>  0/320</a:t>
            </a:r>
            <a:endParaRPr sz="1900">
              <a:solidFill>
                <a:srgbClr val="6F6A60"/>
              </a:solidFill>
              <a:latin typeface="Source Sans 3"/>
              <a:ea typeface="Source Sans 3"/>
              <a:cs typeface="Source Sans 3"/>
              <a:sym typeface="Source Sans 3"/>
            </a:endParaRPr>
          </a:p>
        </p:txBody>
      </p:sp>
      <p:sp>
        <p:nvSpPr>
          <p:cNvPr id="1236" name="Google Shape;1236;p41"/>
          <p:cNvSpPr txBox="1"/>
          <p:nvPr/>
        </p:nvSpPr>
        <p:spPr>
          <a:xfrm>
            <a:off x="609600" y="241198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Inside a Python string</a:t>
            </a:r>
            <a:endParaRPr sz="1900">
              <a:solidFill>
                <a:srgbClr val="1D232A"/>
              </a:solidFill>
              <a:latin typeface="Source Sans 3"/>
              <a:ea typeface="Source Sans 3"/>
              <a:cs typeface="Source Sans 3"/>
              <a:sym typeface="Source Sans 3"/>
            </a:endParaRPr>
          </a:p>
        </p:txBody>
      </p:sp>
      <p:sp>
        <p:nvSpPr>
          <p:cNvPr id="1237" name="Google Shape;1237;p41"/>
          <p:cNvSpPr/>
          <p:nvPr/>
        </p:nvSpPr>
        <p:spPr>
          <a:xfrm>
            <a:off x="3925824" y="2552152"/>
            <a:ext cx="1562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38" name="Google Shape;1238;p41"/>
          <p:cNvSpPr/>
          <p:nvPr/>
        </p:nvSpPr>
        <p:spPr>
          <a:xfrm>
            <a:off x="3925824" y="2552152"/>
            <a:ext cx="21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39" name="Google Shape;1239;p41"/>
          <p:cNvSpPr/>
          <p:nvPr/>
        </p:nvSpPr>
        <p:spPr>
          <a:xfrm>
            <a:off x="3930457" y="2659441"/>
            <a:ext cx="936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0" name="Google Shape;1240;p41"/>
          <p:cNvSpPr txBox="1"/>
          <p:nvPr/>
        </p:nvSpPr>
        <p:spPr>
          <a:xfrm>
            <a:off x="5561584" y="238760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3%</a:t>
            </a:r>
            <a:r>
              <a:rPr lang="en-US" sz="1900">
                <a:solidFill>
                  <a:srgbClr val="6F6A60"/>
                </a:solidFill>
                <a:latin typeface="Source Sans 3"/>
                <a:ea typeface="Source Sans 3"/>
                <a:cs typeface="Source Sans 3"/>
                <a:sym typeface="Source Sans 3"/>
              </a:rPr>
              <a:t>  9/320</a:t>
            </a:r>
            <a:endParaRPr sz="1900">
              <a:solidFill>
                <a:srgbClr val="6F6A60"/>
              </a:solidFill>
              <a:latin typeface="Source Sans 3"/>
              <a:ea typeface="Source Sans 3"/>
              <a:cs typeface="Source Sans 3"/>
              <a:sym typeface="Source Sans 3"/>
            </a:endParaRPr>
          </a:p>
        </p:txBody>
      </p:sp>
      <p:sp>
        <p:nvSpPr>
          <p:cNvPr id="1241" name="Google Shape;1241;p41"/>
          <p:cNvSpPr txBox="1"/>
          <p:nvPr/>
        </p:nvSpPr>
        <p:spPr>
          <a:xfrm>
            <a:off x="609600" y="289966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nesting depth</a:t>
            </a:r>
            <a:endParaRPr sz="1900">
              <a:solidFill>
                <a:srgbClr val="1D232A"/>
              </a:solidFill>
              <a:latin typeface="Source Sans 3"/>
              <a:ea typeface="Source Sans 3"/>
              <a:cs typeface="Source Sans 3"/>
              <a:sym typeface="Source Sans 3"/>
            </a:endParaRPr>
          </a:p>
        </p:txBody>
      </p:sp>
      <p:sp>
        <p:nvSpPr>
          <p:cNvPr id="1242" name="Google Shape;1242;p41"/>
          <p:cNvSpPr/>
          <p:nvPr/>
        </p:nvSpPr>
        <p:spPr>
          <a:xfrm>
            <a:off x="3925824" y="3039832"/>
            <a:ext cx="1562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3" name="Google Shape;1243;p41"/>
          <p:cNvSpPr/>
          <p:nvPr/>
        </p:nvSpPr>
        <p:spPr>
          <a:xfrm>
            <a:off x="3925824" y="3039832"/>
            <a:ext cx="3855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4" name="Google Shape;1244;p41"/>
          <p:cNvSpPr/>
          <p:nvPr/>
        </p:nvSpPr>
        <p:spPr>
          <a:xfrm>
            <a:off x="4146133" y="3147121"/>
            <a:ext cx="356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5" name="Google Shape;1245;p41"/>
          <p:cNvSpPr txBox="1"/>
          <p:nvPr/>
        </p:nvSpPr>
        <p:spPr>
          <a:xfrm>
            <a:off x="5561584" y="287528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25%</a:t>
            </a:r>
            <a:r>
              <a:rPr lang="en-US" sz="1900">
                <a:solidFill>
                  <a:srgbClr val="6F6A60"/>
                </a:solidFill>
                <a:latin typeface="Source Sans 3"/>
                <a:ea typeface="Source Sans 3"/>
                <a:cs typeface="Source Sans 3"/>
                <a:sym typeface="Source Sans 3"/>
              </a:rPr>
              <a:t>  79/320</a:t>
            </a:r>
            <a:endParaRPr sz="1900">
              <a:solidFill>
                <a:srgbClr val="6F6A60"/>
              </a:solidFill>
              <a:latin typeface="Source Sans 3"/>
              <a:ea typeface="Source Sans 3"/>
              <a:cs typeface="Source Sans 3"/>
              <a:sym typeface="Source Sans 3"/>
            </a:endParaRPr>
          </a:p>
        </p:txBody>
      </p:sp>
      <p:sp>
        <p:nvSpPr>
          <p:cNvPr id="1246" name="Google Shape;1246;p41"/>
          <p:cNvSpPr txBox="1"/>
          <p:nvPr/>
        </p:nvSpPr>
        <p:spPr>
          <a:xfrm>
            <a:off x="609600" y="338734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Call argument</a:t>
            </a:r>
            <a:endParaRPr sz="1900">
              <a:solidFill>
                <a:srgbClr val="1D232A"/>
              </a:solidFill>
              <a:latin typeface="Source Sans 3"/>
              <a:ea typeface="Source Sans 3"/>
              <a:cs typeface="Source Sans 3"/>
              <a:sym typeface="Source Sans 3"/>
            </a:endParaRPr>
          </a:p>
        </p:txBody>
      </p:sp>
      <p:sp>
        <p:nvSpPr>
          <p:cNvPr id="1247" name="Google Shape;1247;p41"/>
          <p:cNvSpPr/>
          <p:nvPr/>
        </p:nvSpPr>
        <p:spPr>
          <a:xfrm>
            <a:off x="3925824" y="3527512"/>
            <a:ext cx="1562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8" name="Google Shape;1248;p41"/>
          <p:cNvSpPr/>
          <p:nvPr/>
        </p:nvSpPr>
        <p:spPr>
          <a:xfrm>
            <a:off x="3925824" y="3527512"/>
            <a:ext cx="507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49" name="Google Shape;1249;p41"/>
          <p:cNvSpPr/>
          <p:nvPr/>
        </p:nvSpPr>
        <p:spPr>
          <a:xfrm>
            <a:off x="4268053" y="3634801"/>
            <a:ext cx="331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0" name="Google Shape;1250;p41"/>
          <p:cNvSpPr txBox="1"/>
          <p:nvPr/>
        </p:nvSpPr>
        <p:spPr>
          <a:xfrm>
            <a:off x="5561584" y="336296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33%</a:t>
            </a:r>
            <a:r>
              <a:rPr lang="en-US" sz="1900">
                <a:solidFill>
                  <a:srgbClr val="6F6A60"/>
                </a:solidFill>
                <a:latin typeface="Source Sans 3"/>
                <a:ea typeface="Source Sans 3"/>
                <a:cs typeface="Source Sans 3"/>
                <a:sym typeface="Source Sans 3"/>
              </a:rPr>
              <a:t>  104/320</a:t>
            </a:r>
            <a:endParaRPr sz="1900">
              <a:solidFill>
                <a:srgbClr val="6F6A60"/>
              </a:solidFill>
              <a:latin typeface="Source Sans 3"/>
              <a:ea typeface="Source Sans 3"/>
              <a:cs typeface="Source Sans 3"/>
              <a:sym typeface="Source Sans 3"/>
            </a:endParaRPr>
          </a:p>
        </p:txBody>
      </p:sp>
      <p:sp>
        <p:nvSpPr>
          <p:cNvPr id="1251" name="Google Shape;1251;p41"/>
          <p:cNvSpPr txBox="1"/>
          <p:nvPr/>
        </p:nvSpPr>
        <p:spPr>
          <a:xfrm>
            <a:off x="609600" y="3875024"/>
            <a:ext cx="3170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Language (no next token)</a:t>
            </a:r>
            <a:endParaRPr sz="1900">
              <a:solidFill>
                <a:srgbClr val="1D232A"/>
              </a:solidFill>
              <a:latin typeface="Source Sans 3"/>
              <a:ea typeface="Source Sans 3"/>
              <a:cs typeface="Source Sans 3"/>
              <a:sym typeface="Source Sans 3"/>
            </a:endParaRPr>
          </a:p>
        </p:txBody>
      </p:sp>
      <p:sp>
        <p:nvSpPr>
          <p:cNvPr id="1252" name="Google Shape;1252;p41"/>
          <p:cNvSpPr/>
          <p:nvPr/>
        </p:nvSpPr>
        <p:spPr>
          <a:xfrm>
            <a:off x="3925824" y="4015192"/>
            <a:ext cx="1562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3" name="Google Shape;1253;p41"/>
          <p:cNvSpPr/>
          <p:nvPr/>
        </p:nvSpPr>
        <p:spPr>
          <a:xfrm>
            <a:off x="3925824" y="4015192"/>
            <a:ext cx="14844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4" name="Google Shape;1254;p41"/>
          <p:cNvSpPr/>
          <p:nvPr/>
        </p:nvSpPr>
        <p:spPr>
          <a:xfrm>
            <a:off x="5313396" y="4122481"/>
            <a:ext cx="170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5" name="Google Shape;1255;p41"/>
          <p:cNvSpPr txBox="1"/>
          <p:nvPr/>
        </p:nvSpPr>
        <p:spPr>
          <a:xfrm>
            <a:off x="5561584" y="385064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95%</a:t>
            </a:r>
            <a:r>
              <a:rPr lang="en-US" sz="1900">
                <a:solidFill>
                  <a:srgbClr val="6F6A60"/>
                </a:solidFill>
                <a:latin typeface="Source Sans 3"/>
                <a:ea typeface="Source Sans 3"/>
                <a:cs typeface="Source Sans 3"/>
                <a:sym typeface="Source Sans 3"/>
              </a:rPr>
              <a:t>  304/320</a:t>
            </a:r>
            <a:endParaRPr sz="1900">
              <a:solidFill>
                <a:srgbClr val="6F6A60"/>
              </a:solidFill>
              <a:latin typeface="Source Sans 3"/>
              <a:ea typeface="Source Sans 3"/>
              <a:cs typeface="Source Sans 3"/>
              <a:sym typeface="Source Sans 3"/>
            </a:endParaRPr>
          </a:p>
        </p:txBody>
      </p:sp>
      <p:sp>
        <p:nvSpPr>
          <p:cNvPr id="1256" name="Google Shape;1256;p41"/>
          <p:cNvSpPr/>
          <p:nvPr/>
        </p:nvSpPr>
        <p:spPr>
          <a:xfrm>
            <a:off x="7802880" y="1503640"/>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7" name="Google Shape;1257;p41"/>
          <p:cNvSpPr/>
          <p:nvPr/>
        </p:nvSpPr>
        <p:spPr>
          <a:xfrm>
            <a:off x="7802880" y="1503640"/>
            <a:ext cx="60900" cy="14547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58" name="Google Shape;1258;p41"/>
          <p:cNvSpPr txBox="1"/>
          <p:nvPr/>
        </p:nvSpPr>
        <p:spPr>
          <a:xfrm>
            <a:off x="7936992" y="1528064"/>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Pre-registered rule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"The NLA states a property exactly when the model uses it."</a:t>
            </a:r>
            <a:endParaRPr i="1" sz="1900">
              <a:solidFill>
                <a:srgbClr val="1D232A"/>
              </a:solidFill>
              <a:latin typeface="Lora"/>
              <a:ea typeface="Lora"/>
              <a:cs typeface="Lora"/>
              <a:sym typeface="Lora"/>
            </a:endParaRPr>
          </a:p>
        </p:txBody>
      </p:sp>
      <p:sp>
        <p:nvSpPr>
          <p:cNvPr id="1259" name="Google Shape;1259;p41"/>
          <p:cNvSpPr/>
          <p:nvPr/>
        </p:nvSpPr>
        <p:spPr>
          <a:xfrm>
            <a:off x="7802880" y="3080552"/>
            <a:ext cx="3779700" cy="1739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60" name="Google Shape;1260;p41"/>
          <p:cNvSpPr/>
          <p:nvPr/>
        </p:nvSpPr>
        <p:spPr>
          <a:xfrm>
            <a:off x="7802880" y="3080552"/>
            <a:ext cx="60900" cy="17397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61" name="Google Shape;1261;p41"/>
          <p:cNvSpPr txBox="1"/>
          <p:nvPr/>
        </p:nvSpPr>
        <p:spPr>
          <a:xfrm>
            <a:off x="7936992" y="3104896"/>
            <a:ext cx="35967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Scored</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5 of 10 rows. Whole scorecard 44 of 70 cells against a declared 0.80; always predicting 'low' gets 40 of 70.</a:t>
            </a:r>
            <a:endParaRPr sz="1900">
              <a:solidFill>
                <a:srgbClr val="1D232A"/>
              </a:solidFill>
              <a:latin typeface="Source Sans 3"/>
              <a:ea typeface="Source Sans 3"/>
              <a:cs typeface="Source Sans 3"/>
              <a:sym typeface="Source Sans 3"/>
            </a:endParaRPr>
          </a:p>
        </p:txBody>
      </p:sp>
      <p:sp>
        <p:nvSpPr>
          <p:cNvPr id="1262" name="Google Shape;1262;p41"/>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63" name="Google Shape;1263;p41"/>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Lesson: the NLA states what text can say, not what the model uses.</a:t>
            </a:r>
            <a:endParaRPr sz="1900">
              <a:solidFill>
                <a:srgbClr val="1D232A"/>
              </a:solidFill>
              <a:latin typeface="Source Sans 3"/>
              <a:ea typeface="Source Sans 3"/>
              <a:cs typeface="Source Sans 3"/>
              <a:sym typeface="Source Sans 3"/>
            </a:endParaRPr>
          </a:p>
        </p:txBody>
      </p:sp>
      <p:sp>
        <p:nvSpPr>
          <p:cNvPr id="1264" name="Google Shape;1264;p41"/>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Used = |z| of the push on the model's next token vs 20 random directions. Item-clustered bootstrap 95%.</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Flaw: the synthetic banks carried vocabulary cues the J-lens read. Hashed before readers ran. </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268" name="Shape 1268"/>
        <p:cNvGrpSpPr/>
        <p:nvPr/>
      </p:nvGrpSpPr>
      <p:grpSpPr>
        <a:xfrm>
          <a:off x="0" y="0"/>
          <a:ext cx="0" cy="0"/>
          <a:chOff x="0" y="0"/>
          <a:chExt cx="0" cy="0"/>
        </a:xfrm>
      </p:grpSpPr>
      <p:sp>
        <p:nvSpPr>
          <p:cNvPr id="1269" name="Google Shape;1269;p42"/>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NEGATIVE RESULT 2 · PRIMARY SCORECARD (FREE READOUTS)</a:t>
            </a:r>
            <a:endParaRPr b="1" sz="1500">
              <a:solidFill>
                <a:srgbClr val="8A8478"/>
              </a:solidFill>
              <a:latin typeface="Source Sans 3"/>
              <a:ea typeface="Source Sans 3"/>
              <a:cs typeface="Source Sans 3"/>
              <a:sym typeface="Source Sans 3"/>
            </a:endParaRPr>
          </a:p>
        </p:txBody>
      </p:sp>
      <p:sp>
        <p:nvSpPr>
          <p:cNvPr id="1270" name="Google Shape;1270;p42"/>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Always predicting 'low' → ties our rules</a:t>
            </a:r>
            <a:endParaRPr b="1" sz="3500">
              <a:solidFill>
                <a:srgbClr val="1D232A"/>
              </a:solidFill>
              <a:latin typeface="Lora"/>
              <a:ea typeface="Lora"/>
              <a:cs typeface="Lora"/>
              <a:sym typeface="Lora"/>
            </a:endParaRPr>
          </a:p>
        </p:txBody>
      </p:sp>
      <p:sp>
        <p:nvSpPr>
          <p:cNvPr id="1271" name="Google Shape;1271;p42"/>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Primary scorecard, cells correct</a:t>
            </a:r>
            <a:endParaRPr b="1" sz="1900">
              <a:solidFill>
                <a:srgbClr val="1D232A"/>
              </a:solidFill>
              <a:latin typeface="Source Sans 3"/>
              <a:ea typeface="Source Sans 3"/>
              <a:cs typeface="Source Sans 3"/>
              <a:sym typeface="Source Sans 3"/>
            </a:endParaRPr>
          </a:p>
        </p:txBody>
      </p:sp>
      <p:sp>
        <p:nvSpPr>
          <p:cNvPr id="1272" name="Google Shape;1272;p42"/>
          <p:cNvSpPr txBox="1"/>
          <p:nvPr/>
        </p:nvSpPr>
        <p:spPr>
          <a:xfrm>
            <a:off x="609600" y="1899920"/>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19 · our rules</a:t>
            </a:r>
            <a:endParaRPr sz="1900">
              <a:solidFill>
                <a:srgbClr val="1D232A"/>
              </a:solidFill>
              <a:latin typeface="Source Sans 3"/>
              <a:ea typeface="Source Sans 3"/>
              <a:cs typeface="Source Sans 3"/>
              <a:sym typeface="Source Sans 3"/>
            </a:endParaRPr>
          </a:p>
        </p:txBody>
      </p:sp>
      <p:sp>
        <p:nvSpPr>
          <p:cNvPr id="1273" name="Google Shape;1273;p42"/>
          <p:cNvSpPr/>
          <p:nvPr/>
        </p:nvSpPr>
        <p:spPr>
          <a:xfrm>
            <a:off x="3742944" y="2040088"/>
            <a:ext cx="18309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74" name="Google Shape;1274;p42"/>
          <p:cNvSpPr/>
          <p:nvPr/>
        </p:nvSpPr>
        <p:spPr>
          <a:xfrm>
            <a:off x="3742944" y="2040088"/>
            <a:ext cx="14937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75" name="Google Shape;1275;p42"/>
          <p:cNvSpPr/>
          <p:nvPr/>
        </p:nvSpPr>
        <p:spPr>
          <a:xfrm>
            <a:off x="4961900" y="2147377"/>
            <a:ext cx="443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76" name="Google Shape;1276;p42"/>
          <p:cNvSpPr txBox="1"/>
          <p:nvPr/>
        </p:nvSpPr>
        <p:spPr>
          <a:xfrm>
            <a:off x="5646928" y="1875536"/>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0.82</a:t>
            </a:r>
            <a:r>
              <a:rPr lang="en-US" sz="1900">
                <a:solidFill>
                  <a:srgbClr val="6F6A60"/>
                </a:solidFill>
                <a:latin typeface="Source Sans 3"/>
                <a:ea typeface="Source Sans 3"/>
                <a:cs typeface="Source Sans 3"/>
                <a:sym typeface="Source Sans 3"/>
              </a:rPr>
              <a:t>  31/38</a:t>
            </a:r>
            <a:endParaRPr sz="1900">
              <a:solidFill>
                <a:srgbClr val="6F6A60"/>
              </a:solidFill>
              <a:latin typeface="Source Sans 3"/>
              <a:ea typeface="Source Sans 3"/>
              <a:cs typeface="Source Sans 3"/>
              <a:sym typeface="Source Sans 3"/>
            </a:endParaRPr>
          </a:p>
        </p:txBody>
      </p:sp>
      <p:sp>
        <p:nvSpPr>
          <p:cNvPr id="1277" name="Google Shape;1277;p42"/>
          <p:cNvSpPr txBox="1"/>
          <p:nvPr/>
        </p:nvSpPr>
        <p:spPr>
          <a:xfrm>
            <a:off x="609600" y="2338832"/>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19 · always 'low'</a:t>
            </a:r>
            <a:endParaRPr sz="1900">
              <a:solidFill>
                <a:srgbClr val="1D232A"/>
              </a:solidFill>
              <a:latin typeface="Source Sans 3"/>
              <a:ea typeface="Source Sans 3"/>
              <a:cs typeface="Source Sans 3"/>
              <a:sym typeface="Source Sans 3"/>
            </a:endParaRPr>
          </a:p>
        </p:txBody>
      </p:sp>
      <p:sp>
        <p:nvSpPr>
          <p:cNvPr id="1278" name="Google Shape;1278;p42"/>
          <p:cNvSpPr/>
          <p:nvPr/>
        </p:nvSpPr>
        <p:spPr>
          <a:xfrm>
            <a:off x="3742944" y="2479000"/>
            <a:ext cx="18309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79" name="Google Shape;1279;p42"/>
          <p:cNvSpPr/>
          <p:nvPr/>
        </p:nvSpPr>
        <p:spPr>
          <a:xfrm>
            <a:off x="3742944" y="2479000"/>
            <a:ext cx="15900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0" name="Google Shape;1280;p42"/>
          <p:cNvSpPr/>
          <p:nvPr/>
        </p:nvSpPr>
        <p:spPr>
          <a:xfrm>
            <a:off x="5073457" y="2586289"/>
            <a:ext cx="395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1" name="Google Shape;1281;p42"/>
          <p:cNvSpPr txBox="1"/>
          <p:nvPr/>
        </p:nvSpPr>
        <p:spPr>
          <a:xfrm>
            <a:off x="5646928" y="2314448"/>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0.87</a:t>
            </a:r>
            <a:r>
              <a:rPr lang="en-US" sz="1900">
                <a:solidFill>
                  <a:srgbClr val="6F6A60"/>
                </a:solidFill>
                <a:latin typeface="Source Sans 3"/>
                <a:ea typeface="Source Sans 3"/>
                <a:cs typeface="Source Sans 3"/>
                <a:sym typeface="Source Sans 3"/>
              </a:rPr>
              <a:t>  33/38</a:t>
            </a:r>
            <a:endParaRPr sz="1900">
              <a:solidFill>
                <a:srgbClr val="6F6A60"/>
              </a:solidFill>
              <a:latin typeface="Source Sans 3"/>
              <a:ea typeface="Source Sans 3"/>
              <a:cs typeface="Source Sans 3"/>
              <a:sym typeface="Source Sans 3"/>
            </a:endParaRPr>
          </a:p>
        </p:txBody>
      </p:sp>
      <p:sp>
        <p:nvSpPr>
          <p:cNvPr id="1282" name="Google Shape;1282;p42"/>
          <p:cNvSpPr txBox="1"/>
          <p:nvPr/>
        </p:nvSpPr>
        <p:spPr>
          <a:xfrm>
            <a:off x="609600" y="277774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22 · our rules</a:t>
            </a:r>
            <a:endParaRPr sz="1900">
              <a:solidFill>
                <a:srgbClr val="1D232A"/>
              </a:solidFill>
              <a:latin typeface="Source Sans 3"/>
              <a:ea typeface="Source Sans 3"/>
              <a:cs typeface="Source Sans 3"/>
              <a:sym typeface="Source Sans 3"/>
            </a:endParaRPr>
          </a:p>
        </p:txBody>
      </p:sp>
      <p:sp>
        <p:nvSpPr>
          <p:cNvPr id="1283" name="Google Shape;1283;p42"/>
          <p:cNvSpPr/>
          <p:nvPr/>
        </p:nvSpPr>
        <p:spPr>
          <a:xfrm>
            <a:off x="3742944" y="2917912"/>
            <a:ext cx="18309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4" name="Google Shape;1284;p42"/>
          <p:cNvSpPr/>
          <p:nvPr/>
        </p:nvSpPr>
        <p:spPr>
          <a:xfrm>
            <a:off x="3742944" y="2917912"/>
            <a:ext cx="14451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5" name="Google Shape;1285;p42"/>
          <p:cNvSpPr/>
          <p:nvPr/>
        </p:nvSpPr>
        <p:spPr>
          <a:xfrm>
            <a:off x="4908377" y="3025201"/>
            <a:ext cx="4629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6" name="Google Shape;1286;p42"/>
          <p:cNvSpPr txBox="1"/>
          <p:nvPr/>
        </p:nvSpPr>
        <p:spPr>
          <a:xfrm>
            <a:off x="5646928" y="2753360"/>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0.79</a:t>
            </a:r>
            <a:r>
              <a:rPr lang="en-US" sz="1900">
                <a:solidFill>
                  <a:srgbClr val="6F6A60"/>
                </a:solidFill>
                <a:latin typeface="Source Sans 3"/>
                <a:ea typeface="Source Sans 3"/>
                <a:cs typeface="Source Sans 3"/>
                <a:sym typeface="Source Sans 3"/>
              </a:rPr>
              <a:t>  30/38</a:t>
            </a:r>
            <a:endParaRPr sz="1900">
              <a:solidFill>
                <a:srgbClr val="6F6A60"/>
              </a:solidFill>
              <a:latin typeface="Source Sans 3"/>
              <a:ea typeface="Source Sans 3"/>
              <a:cs typeface="Source Sans 3"/>
              <a:sym typeface="Source Sans 3"/>
            </a:endParaRPr>
          </a:p>
        </p:txBody>
      </p:sp>
      <p:sp>
        <p:nvSpPr>
          <p:cNvPr id="1287" name="Google Shape;1287;p42"/>
          <p:cNvSpPr txBox="1"/>
          <p:nvPr/>
        </p:nvSpPr>
        <p:spPr>
          <a:xfrm>
            <a:off x="609600" y="3216656"/>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22 · always 'low'</a:t>
            </a:r>
            <a:endParaRPr sz="1900">
              <a:solidFill>
                <a:srgbClr val="1D232A"/>
              </a:solidFill>
              <a:latin typeface="Source Sans 3"/>
              <a:ea typeface="Source Sans 3"/>
              <a:cs typeface="Source Sans 3"/>
              <a:sym typeface="Source Sans 3"/>
            </a:endParaRPr>
          </a:p>
        </p:txBody>
      </p:sp>
      <p:sp>
        <p:nvSpPr>
          <p:cNvPr id="1288" name="Google Shape;1288;p42"/>
          <p:cNvSpPr/>
          <p:nvPr/>
        </p:nvSpPr>
        <p:spPr>
          <a:xfrm>
            <a:off x="3742944" y="3356824"/>
            <a:ext cx="18309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9" name="Google Shape;1289;p42"/>
          <p:cNvSpPr/>
          <p:nvPr/>
        </p:nvSpPr>
        <p:spPr>
          <a:xfrm>
            <a:off x="3742944" y="3356824"/>
            <a:ext cx="14451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0" name="Google Shape;1290;p42"/>
          <p:cNvSpPr/>
          <p:nvPr/>
        </p:nvSpPr>
        <p:spPr>
          <a:xfrm>
            <a:off x="4908377" y="3464113"/>
            <a:ext cx="4629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1" name="Google Shape;1291;p42"/>
          <p:cNvSpPr txBox="1"/>
          <p:nvPr/>
        </p:nvSpPr>
        <p:spPr>
          <a:xfrm>
            <a:off x="5646928" y="3192272"/>
            <a:ext cx="18513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0.79</a:t>
            </a:r>
            <a:r>
              <a:rPr lang="en-US" sz="1900">
                <a:solidFill>
                  <a:srgbClr val="6F6A60"/>
                </a:solidFill>
                <a:latin typeface="Source Sans 3"/>
                <a:ea typeface="Source Sans 3"/>
                <a:cs typeface="Source Sans 3"/>
                <a:sym typeface="Source Sans 3"/>
              </a:rPr>
              <a:t>  30/38</a:t>
            </a:r>
            <a:endParaRPr sz="1900">
              <a:solidFill>
                <a:srgbClr val="6F6A60"/>
              </a:solidFill>
              <a:latin typeface="Source Sans 3"/>
              <a:ea typeface="Source Sans 3"/>
              <a:cs typeface="Source Sans 3"/>
              <a:sym typeface="Source Sans 3"/>
            </a:endParaRPr>
          </a:p>
        </p:txBody>
      </p:sp>
      <p:sp>
        <p:nvSpPr>
          <p:cNvPr id="1292" name="Google Shape;1292;p42"/>
          <p:cNvSpPr/>
          <p:nvPr/>
        </p:nvSpPr>
        <p:spPr>
          <a:xfrm>
            <a:off x="5200253" y="1966936"/>
            <a:ext cx="14700" cy="17067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3" name="Google Shape;1293;p42"/>
          <p:cNvSpPr txBox="1"/>
          <p:nvPr/>
        </p:nvSpPr>
        <p:spPr>
          <a:xfrm>
            <a:off x="4110329" y="3551936"/>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declared bar 0.80</a:t>
            </a:r>
            <a:endParaRPr sz="1900">
              <a:solidFill>
                <a:srgbClr val="6F6A60"/>
              </a:solidFill>
              <a:latin typeface="Source Sans 3"/>
              <a:ea typeface="Source Sans 3"/>
              <a:cs typeface="Source Sans 3"/>
              <a:sym typeface="Source Sans 3"/>
            </a:endParaRPr>
          </a:p>
        </p:txBody>
      </p:sp>
      <p:sp>
        <p:nvSpPr>
          <p:cNvPr id="1294" name="Google Shape;1294;p42"/>
          <p:cNvSpPr txBox="1"/>
          <p:nvPr/>
        </p:nvSpPr>
        <p:spPr>
          <a:xfrm>
            <a:off x="609600" y="4112768"/>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Revised NLA rules only (16 cells)</a:t>
            </a:r>
            <a:endParaRPr b="1" sz="1900">
              <a:solidFill>
                <a:srgbClr val="1D232A"/>
              </a:solidFill>
              <a:latin typeface="Source Sans 3"/>
              <a:ea typeface="Source Sans 3"/>
              <a:cs typeface="Source Sans 3"/>
              <a:sym typeface="Source Sans 3"/>
            </a:endParaRPr>
          </a:p>
        </p:txBody>
      </p:sp>
      <p:sp>
        <p:nvSpPr>
          <p:cNvPr id="1295" name="Google Shape;1295;p42"/>
          <p:cNvSpPr txBox="1"/>
          <p:nvPr/>
        </p:nvSpPr>
        <p:spPr>
          <a:xfrm>
            <a:off x="609600" y="4533392"/>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19 · rules vs 'low'</a:t>
            </a:r>
            <a:endParaRPr sz="1900">
              <a:solidFill>
                <a:srgbClr val="1D232A"/>
              </a:solidFill>
              <a:latin typeface="Source Sans 3"/>
              <a:ea typeface="Source Sans 3"/>
              <a:cs typeface="Source Sans 3"/>
              <a:sym typeface="Source Sans 3"/>
            </a:endParaRPr>
          </a:p>
        </p:txBody>
      </p:sp>
      <p:sp>
        <p:nvSpPr>
          <p:cNvPr id="1296" name="Google Shape;1296;p42"/>
          <p:cNvSpPr/>
          <p:nvPr/>
        </p:nvSpPr>
        <p:spPr>
          <a:xfrm>
            <a:off x="3742944" y="4673560"/>
            <a:ext cx="764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7" name="Google Shape;1297;p42"/>
          <p:cNvSpPr/>
          <p:nvPr/>
        </p:nvSpPr>
        <p:spPr>
          <a:xfrm>
            <a:off x="3742944" y="4673560"/>
            <a:ext cx="6684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8" name="Google Shape;1298;p42"/>
          <p:cNvSpPr/>
          <p:nvPr/>
        </p:nvSpPr>
        <p:spPr>
          <a:xfrm>
            <a:off x="4231721" y="4780849"/>
            <a:ext cx="2484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99" name="Google Shape;1299;p42"/>
          <p:cNvSpPr/>
          <p:nvPr/>
        </p:nvSpPr>
        <p:spPr>
          <a:xfrm>
            <a:off x="4243792" y="4600408"/>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0" name="Google Shape;1300;p42"/>
          <p:cNvSpPr txBox="1"/>
          <p:nvPr/>
        </p:nvSpPr>
        <p:spPr>
          <a:xfrm>
            <a:off x="4580128" y="4509008"/>
            <a:ext cx="29181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0.88</a:t>
            </a:r>
            <a:r>
              <a:rPr lang="en-US" sz="1900">
                <a:solidFill>
                  <a:srgbClr val="6F6A60"/>
                </a:solidFill>
                <a:latin typeface="Source Sans 3"/>
                <a:ea typeface="Source Sans 3"/>
                <a:cs typeface="Source Sans 3"/>
                <a:sym typeface="Source Sans 3"/>
              </a:rPr>
              <a:t>  14/16 vs 11/16</a:t>
            </a:r>
            <a:endParaRPr sz="1900">
              <a:solidFill>
                <a:srgbClr val="6F6A60"/>
              </a:solidFill>
              <a:latin typeface="Source Sans 3"/>
              <a:ea typeface="Source Sans 3"/>
              <a:cs typeface="Source Sans 3"/>
              <a:sym typeface="Source Sans 3"/>
            </a:endParaRPr>
          </a:p>
        </p:txBody>
      </p:sp>
      <p:sp>
        <p:nvSpPr>
          <p:cNvPr id="1301" name="Google Shape;1301;p42"/>
          <p:cNvSpPr txBox="1"/>
          <p:nvPr/>
        </p:nvSpPr>
        <p:spPr>
          <a:xfrm>
            <a:off x="609600" y="497230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Exp 22 · rules vs 'low'</a:t>
            </a:r>
            <a:endParaRPr sz="1900">
              <a:solidFill>
                <a:srgbClr val="1D232A"/>
              </a:solidFill>
              <a:latin typeface="Source Sans 3"/>
              <a:ea typeface="Source Sans 3"/>
              <a:cs typeface="Source Sans 3"/>
              <a:sym typeface="Source Sans 3"/>
            </a:endParaRPr>
          </a:p>
        </p:txBody>
      </p:sp>
      <p:sp>
        <p:nvSpPr>
          <p:cNvPr id="1302" name="Google Shape;1302;p42"/>
          <p:cNvSpPr/>
          <p:nvPr/>
        </p:nvSpPr>
        <p:spPr>
          <a:xfrm>
            <a:off x="3742944" y="5112472"/>
            <a:ext cx="764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3" name="Google Shape;1303;p42"/>
          <p:cNvSpPr/>
          <p:nvPr/>
        </p:nvSpPr>
        <p:spPr>
          <a:xfrm>
            <a:off x="3742944" y="5112472"/>
            <a:ext cx="573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4" name="Google Shape;1304;p42"/>
          <p:cNvSpPr/>
          <p:nvPr/>
        </p:nvSpPr>
        <p:spPr>
          <a:xfrm>
            <a:off x="4128821" y="5219761"/>
            <a:ext cx="300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5" name="Google Shape;1305;p42"/>
          <p:cNvSpPr/>
          <p:nvPr/>
        </p:nvSpPr>
        <p:spPr>
          <a:xfrm>
            <a:off x="4148328" y="5039320"/>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6" name="Google Shape;1306;p42"/>
          <p:cNvSpPr txBox="1"/>
          <p:nvPr/>
        </p:nvSpPr>
        <p:spPr>
          <a:xfrm>
            <a:off x="4580128" y="4947920"/>
            <a:ext cx="29181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0.75</a:t>
            </a:r>
            <a:r>
              <a:rPr lang="en-US" sz="1900">
                <a:solidFill>
                  <a:srgbClr val="6F6A60"/>
                </a:solidFill>
                <a:latin typeface="Source Sans 3"/>
                <a:ea typeface="Source Sans 3"/>
                <a:cs typeface="Source Sans 3"/>
                <a:sym typeface="Source Sans 3"/>
              </a:rPr>
              <a:t>  12/16 vs 9/16</a:t>
            </a:r>
            <a:endParaRPr sz="1900">
              <a:solidFill>
                <a:srgbClr val="6F6A60"/>
              </a:solidFill>
              <a:latin typeface="Source Sans 3"/>
              <a:ea typeface="Source Sans 3"/>
              <a:cs typeface="Source Sans 3"/>
              <a:sym typeface="Source Sans 3"/>
            </a:endParaRPr>
          </a:p>
        </p:txBody>
      </p:sp>
      <p:sp>
        <p:nvSpPr>
          <p:cNvPr id="1307" name="Google Shape;1307;p42"/>
          <p:cNvSpPr/>
          <p:nvPr/>
        </p:nvSpPr>
        <p:spPr>
          <a:xfrm>
            <a:off x="7802880" y="1503640"/>
            <a:ext cx="3779700" cy="1739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8" name="Google Shape;1308;p42"/>
          <p:cNvSpPr/>
          <p:nvPr/>
        </p:nvSpPr>
        <p:spPr>
          <a:xfrm>
            <a:off x="7802880" y="1503640"/>
            <a:ext cx="60900" cy="17397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09" name="Google Shape;1309;p42"/>
          <p:cNvSpPr txBox="1"/>
          <p:nvPr/>
        </p:nvSpPr>
        <p:spPr>
          <a:xfrm>
            <a:off x="7936992" y="1528064"/>
            <a:ext cx="35967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When we found it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30 Oct, recomputing every figure from raw files, after we had quoted these scorecards as passing.</a:t>
            </a:r>
            <a:endParaRPr sz="1900">
              <a:solidFill>
                <a:srgbClr val="1D232A"/>
              </a:solidFill>
              <a:latin typeface="Source Sans 3"/>
              <a:ea typeface="Source Sans 3"/>
              <a:cs typeface="Source Sans 3"/>
              <a:sym typeface="Source Sans 3"/>
            </a:endParaRPr>
          </a:p>
        </p:txBody>
      </p:sp>
      <p:sp>
        <p:nvSpPr>
          <p:cNvPr id="1310" name="Google Shape;1310;p42"/>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11" name="Google Shape;1311;p42"/>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Lesson: pre-register the baseline too; only complement naming beats 'low'.</a:t>
            </a:r>
            <a:endParaRPr sz="1900">
              <a:solidFill>
                <a:srgbClr val="1D232A"/>
              </a:solidFill>
              <a:latin typeface="Source Sans 3"/>
              <a:ea typeface="Source Sans 3"/>
              <a:cs typeface="Source Sans 3"/>
              <a:sym typeface="Source Sans 3"/>
            </a:endParaRPr>
          </a:p>
        </p:txBody>
      </p:sp>
      <p:sp>
        <p:nvSpPr>
          <p:cNvPr id="1312" name="Google Shape;1312;p42"/>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Grey tick = always 'low' on the same cells. Wilson 95% over cells. All cells: 44/56 vs 45/56 (exp 19), 44/56 vs 36/56 (exp 22).</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Margin = complement naming. Exp 22 shares 229 of 1,461 source clusters (72 identical items) with exp 19: a partial replication.</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316" name="Shape 1316"/>
        <p:cNvGrpSpPr/>
        <p:nvPr/>
      </p:nvGrpSpPr>
      <p:grpSpPr>
        <a:xfrm>
          <a:off x="0" y="0"/>
          <a:ext cx="0" cy="0"/>
          <a:chOff x="0" y="0"/>
          <a:chExt cx="0" cy="0"/>
        </a:xfrm>
      </p:grpSpPr>
      <p:sp>
        <p:nvSpPr>
          <p:cNvPr id="1317" name="Google Shape;1317;p43"/>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CARRYING · PUBLIC BANK · 160 ITEMS PER ROW</a:t>
            </a:r>
            <a:endParaRPr b="1" sz="1500">
              <a:solidFill>
                <a:srgbClr val="8A8478"/>
              </a:solidFill>
              <a:latin typeface="Source Sans 3"/>
              <a:ea typeface="Source Sans 3"/>
              <a:cs typeface="Source Sans 3"/>
              <a:sym typeface="Source Sans 3"/>
            </a:endParaRPr>
          </a:p>
        </p:txBody>
      </p:sp>
      <p:sp>
        <p:nvSpPr>
          <p:cNvPr id="1318" name="Google Shape;1318;p43"/>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Decode the readers' words → state comes back</a:t>
            </a:r>
            <a:endParaRPr b="1" sz="3500">
              <a:solidFill>
                <a:srgbClr val="1D232A"/>
              </a:solidFill>
              <a:latin typeface="Lora"/>
              <a:ea typeface="Lora"/>
              <a:cs typeface="Lora"/>
              <a:sym typeface="Lora"/>
            </a:endParaRPr>
          </a:p>
        </p:txBody>
      </p:sp>
      <p:sp>
        <p:nvSpPr>
          <p:cNvPr id="1319" name="Google Shape;1319;p43"/>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Probe on the critic's rebuild of the readout</a:t>
            </a:r>
            <a:endParaRPr b="1" sz="1900">
              <a:solidFill>
                <a:srgbClr val="1D232A"/>
              </a:solidFill>
              <a:latin typeface="Source Sans 3"/>
              <a:ea typeface="Source Sans 3"/>
              <a:cs typeface="Source Sans 3"/>
              <a:sym typeface="Source Sans 3"/>
            </a:endParaRPr>
          </a:p>
        </p:txBody>
      </p:sp>
      <p:sp>
        <p:nvSpPr>
          <p:cNvPr id="1320" name="Google Shape;1320;p43"/>
          <p:cNvSpPr txBox="1"/>
          <p:nvPr/>
        </p:nvSpPr>
        <p:spPr>
          <a:xfrm>
            <a:off x="609600" y="1875536"/>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 · OL</a:t>
            </a:r>
            <a:endParaRPr sz="1900">
              <a:solidFill>
                <a:srgbClr val="1D232A"/>
              </a:solidFill>
              <a:latin typeface="Source Sans 3"/>
              <a:ea typeface="Source Sans 3"/>
              <a:cs typeface="Source Sans 3"/>
              <a:sym typeface="Source Sans 3"/>
            </a:endParaRPr>
          </a:p>
        </p:txBody>
      </p:sp>
      <p:sp>
        <p:nvSpPr>
          <p:cNvPr id="1321" name="Google Shape;1321;p43"/>
          <p:cNvSpPr/>
          <p:nvPr/>
        </p:nvSpPr>
        <p:spPr>
          <a:xfrm>
            <a:off x="3316224" y="2015704"/>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2" name="Google Shape;1322;p43"/>
          <p:cNvSpPr/>
          <p:nvPr/>
        </p:nvSpPr>
        <p:spPr>
          <a:xfrm>
            <a:off x="3316224" y="2015704"/>
            <a:ext cx="26553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3" name="Google Shape;1323;p43"/>
          <p:cNvSpPr/>
          <p:nvPr/>
        </p:nvSpPr>
        <p:spPr>
          <a:xfrm>
            <a:off x="5790956" y="2122993"/>
            <a:ext cx="3609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4" name="Google Shape;1324;p43"/>
          <p:cNvSpPr/>
          <p:nvPr/>
        </p:nvSpPr>
        <p:spPr>
          <a:xfrm>
            <a:off x="4711964" y="1942552"/>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5" name="Google Shape;1325;p43"/>
          <p:cNvSpPr txBox="1"/>
          <p:nvPr/>
        </p:nvSpPr>
        <p:spPr>
          <a:xfrm>
            <a:off x="6476661" y="185115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0.86</a:t>
            </a:r>
            <a:endParaRPr b="1" sz="2100">
              <a:solidFill>
                <a:srgbClr val="1D232A"/>
              </a:solidFill>
              <a:latin typeface="Source Sans 3"/>
              <a:ea typeface="Source Sans 3"/>
              <a:cs typeface="Source Sans 3"/>
              <a:sym typeface="Source Sans 3"/>
            </a:endParaRPr>
          </a:p>
        </p:txBody>
      </p:sp>
      <p:sp>
        <p:nvSpPr>
          <p:cNvPr id="1326" name="Google Shape;1326;p43"/>
          <p:cNvSpPr txBox="1"/>
          <p:nvPr/>
        </p:nvSpPr>
        <p:spPr>
          <a:xfrm>
            <a:off x="609600" y="2265680"/>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 · NLA</a:t>
            </a:r>
            <a:endParaRPr sz="1900">
              <a:solidFill>
                <a:srgbClr val="1D232A"/>
              </a:solidFill>
              <a:latin typeface="Source Sans 3"/>
              <a:ea typeface="Source Sans 3"/>
              <a:cs typeface="Source Sans 3"/>
              <a:sym typeface="Source Sans 3"/>
            </a:endParaRPr>
          </a:p>
        </p:txBody>
      </p:sp>
      <p:sp>
        <p:nvSpPr>
          <p:cNvPr id="1327" name="Google Shape;1327;p43"/>
          <p:cNvSpPr/>
          <p:nvPr/>
        </p:nvSpPr>
        <p:spPr>
          <a:xfrm>
            <a:off x="3316224" y="2405848"/>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8" name="Google Shape;1328;p43"/>
          <p:cNvSpPr/>
          <p:nvPr/>
        </p:nvSpPr>
        <p:spPr>
          <a:xfrm>
            <a:off x="3316224" y="2405848"/>
            <a:ext cx="30564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29" name="Google Shape;1329;p43"/>
          <p:cNvSpPr/>
          <p:nvPr/>
        </p:nvSpPr>
        <p:spPr>
          <a:xfrm>
            <a:off x="6324356" y="2513137"/>
            <a:ext cx="79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0" name="Google Shape;1330;p43"/>
          <p:cNvSpPr/>
          <p:nvPr/>
        </p:nvSpPr>
        <p:spPr>
          <a:xfrm>
            <a:off x="4711964" y="2332696"/>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1" name="Google Shape;1331;p43"/>
          <p:cNvSpPr txBox="1"/>
          <p:nvPr/>
        </p:nvSpPr>
        <p:spPr>
          <a:xfrm>
            <a:off x="6476661" y="224129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0.99</a:t>
            </a:r>
            <a:endParaRPr b="1" sz="2100">
              <a:solidFill>
                <a:srgbClr val="1D232A"/>
              </a:solidFill>
              <a:latin typeface="Source Sans 3"/>
              <a:ea typeface="Source Sans 3"/>
              <a:cs typeface="Source Sans 3"/>
              <a:sym typeface="Source Sans 3"/>
            </a:endParaRPr>
          </a:p>
        </p:txBody>
      </p:sp>
      <p:sp>
        <p:nvSpPr>
          <p:cNvPr id="1332" name="Google Shape;1332;p43"/>
          <p:cNvSpPr txBox="1"/>
          <p:nvPr/>
        </p:nvSpPr>
        <p:spPr>
          <a:xfrm>
            <a:off x="609600" y="2655824"/>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 · OL</a:t>
            </a:r>
            <a:endParaRPr sz="1900">
              <a:solidFill>
                <a:srgbClr val="1D232A"/>
              </a:solidFill>
              <a:latin typeface="Source Sans 3"/>
              <a:ea typeface="Source Sans 3"/>
              <a:cs typeface="Source Sans 3"/>
              <a:sym typeface="Source Sans 3"/>
            </a:endParaRPr>
          </a:p>
        </p:txBody>
      </p:sp>
      <p:sp>
        <p:nvSpPr>
          <p:cNvPr id="1333" name="Google Shape;1333;p43"/>
          <p:cNvSpPr/>
          <p:nvPr/>
        </p:nvSpPr>
        <p:spPr>
          <a:xfrm>
            <a:off x="3316224" y="2795992"/>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4" name="Google Shape;1334;p43"/>
          <p:cNvSpPr/>
          <p:nvPr/>
        </p:nvSpPr>
        <p:spPr>
          <a:xfrm>
            <a:off x="3316224" y="2795992"/>
            <a:ext cx="25932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5" name="Google Shape;1335;p43"/>
          <p:cNvSpPr/>
          <p:nvPr/>
        </p:nvSpPr>
        <p:spPr>
          <a:xfrm>
            <a:off x="5717560" y="2903281"/>
            <a:ext cx="3840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6" name="Google Shape;1336;p43"/>
          <p:cNvSpPr/>
          <p:nvPr/>
        </p:nvSpPr>
        <p:spPr>
          <a:xfrm>
            <a:off x="4711964" y="2722840"/>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7" name="Google Shape;1337;p43"/>
          <p:cNvSpPr txBox="1"/>
          <p:nvPr/>
        </p:nvSpPr>
        <p:spPr>
          <a:xfrm>
            <a:off x="6476661" y="263144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0.84</a:t>
            </a:r>
            <a:endParaRPr b="1" sz="2100">
              <a:solidFill>
                <a:srgbClr val="1D232A"/>
              </a:solidFill>
              <a:latin typeface="Source Sans 3"/>
              <a:ea typeface="Source Sans 3"/>
              <a:cs typeface="Source Sans 3"/>
              <a:sym typeface="Source Sans 3"/>
            </a:endParaRPr>
          </a:p>
        </p:txBody>
      </p:sp>
      <p:sp>
        <p:nvSpPr>
          <p:cNvPr id="1338" name="Google Shape;1338;p43"/>
          <p:cNvSpPr txBox="1"/>
          <p:nvPr/>
        </p:nvSpPr>
        <p:spPr>
          <a:xfrm>
            <a:off x="609600" y="3045968"/>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 · NLA</a:t>
            </a:r>
            <a:endParaRPr sz="1900">
              <a:solidFill>
                <a:srgbClr val="1D232A"/>
              </a:solidFill>
              <a:latin typeface="Source Sans 3"/>
              <a:ea typeface="Source Sans 3"/>
              <a:cs typeface="Source Sans 3"/>
              <a:sym typeface="Source Sans 3"/>
            </a:endParaRPr>
          </a:p>
        </p:txBody>
      </p:sp>
      <p:sp>
        <p:nvSpPr>
          <p:cNvPr id="1339" name="Google Shape;1339;p43"/>
          <p:cNvSpPr/>
          <p:nvPr/>
        </p:nvSpPr>
        <p:spPr>
          <a:xfrm>
            <a:off x="3316224" y="3186136"/>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0" name="Google Shape;1340;p43"/>
          <p:cNvSpPr/>
          <p:nvPr/>
        </p:nvSpPr>
        <p:spPr>
          <a:xfrm>
            <a:off x="3316224" y="3186136"/>
            <a:ext cx="29949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1" name="Google Shape;1341;p43"/>
          <p:cNvSpPr/>
          <p:nvPr/>
        </p:nvSpPr>
        <p:spPr>
          <a:xfrm>
            <a:off x="6227064" y="3293425"/>
            <a:ext cx="167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2" name="Google Shape;1342;p43"/>
          <p:cNvSpPr/>
          <p:nvPr/>
        </p:nvSpPr>
        <p:spPr>
          <a:xfrm>
            <a:off x="4711964" y="3112984"/>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3" name="Google Shape;1343;p43"/>
          <p:cNvSpPr txBox="1"/>
          <p:nvPr/>
        </p:nvSpPr>
        <p:spPr>
          <a:xfrm>
            <a:off x="6476661" y="3021584"/>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0.97</a:t>
            </a:r>
            <a:endParaRPr b="1" sz="2100">
              <a:solidFill>
                <a:srgbClr val="1D232A"/>
              </a:solidFill>
              <a:latin typeface="Source Sans 3"/>
              <a:ea typeface="Source Sans 3"/>
              <a:cs typeface="Source Sans 3"/>
              <a:sym typeface="Source Sans 3"/>
            </a:endParaRPr>
          </a:p>
        </p:txBody>
      </p:sp>
      <p:sp>
        <p:nvSpPr>
          <p:cNvPr id="1344" name="Google Shape;1344;p43"/>
          <p:cNvSpPr txBox="1"/>
          <p:nvPr/>
        </p:nvSpPr>
        <p:spPr>
          <a:xfrm>
            <a:off x="609600" y="3436112"/>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 · OL</a:t>
            </a:r>
            <a:endParaRPr sz="1900">
              <a:solidFill>
                <a:srgbClr val="1D232A"/>
              </a:solidFill>
              <a:latin typeface="Source Sans 3"/>
              <a:ea typeface="Source Sans 3"/>
              <a:cs typeface="Source Sans 3"/>
              <a:sym typeface="Source Sans 3"/>
            </a:endParaRPr>
          </a:p>
        </p:txBody>
      </p:sp>
      <p:sp>
        <p:nvSpPr>
          <p:cNvPr id="1345" name="Google Shape;1345;p43"/>
          <p:cNvSpPr/>
          <p:nvPr/>
        </p:nvSpPr>
        <p:spPr>
          <a:xfrm>
            <a:off x="3316224" y="3576280"/>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6" name="Google Shape;1346;p43"/>
          <p:cNvSpPr/>
          <p:nvPr/>
        </p:nvSpPr>
        <p:spPr>
          <a:xfrm>
            <a:off x="3316224" y="3576280"/>
            <a:ext cx="26859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7" name="Google Shape;1347;p43"/>
          <p:cNvSpPr/>
          <p:nvPr/>
        </p:nvSpPr>
        <p:spPr>
          <a:xfrm>
            <a:off x="5828020" y="3683569"/>
            <a:ext cx="348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8" name="Google Shape;1348;p43"/>
          <p:cNvSpPr/>
          <p:nvPr/>
        </p:nvSpPr>
        <p:spPr>
          <a:xfrm>
            <a:off x="4835469" y="3503128"/>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49" name="Google Shape;1349;p43"/>
          <p:cNvSpPr txBox="1"/>
          <p:nvPr/>
        </p:nvSpPr>
        <p:spPr>
          <a:xfrm>
            <a:off x="6476661" y="3411728"/>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0.87</a:t>
            </a:r>
            <a:endParaRPr b="1" sz="2100">
              <a:solidFill>
                <a:srgbClr val="1D232A"/>
              </a:solidFill>
              <a:latin typeface="Source Sans 3"/>
              <a:ea typeface="Source Sans 3"/>
              <a:cs typeface="Source Sans 3"/>
              <a:sym typeface="Source Sans 3"/>
            </a:endParaRPr>
          </a:p>
        </p:txBody>
      </p:sp>
      <p:sp>
        <p:nvSpPr>
          <p:cNvPr id="1350" name="Google Shape;1350;p43"/>
          <p:cNvSpPr txBox="1"/>
          <p:nvPr/>
        </p:nvSpPr>
        <p:spPr>
          <a:xfrm>
            <a:off x="609600" y="3826256"/>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 · NLA</a:t>
            </a:r>
            <a:endParaRPr sz="1900">
              <a:solidFill>
                <a:srgbClr val="1D232A"/>
              </a:solidFill>
              <a:latin typeface="Source Sans 3"/>
              <a:ea typeface="Source Sans 3"/>
              <a:cs typeface="Source Sans 3"/>
              <a:sym typeface="Source Sans 3"/>
            </a:endParaRPr>
          </a:p>
        </p:txBody>
      </p:sp>
      <p:sp>
        <p:nvSpPr>
          <p:cNvPr id="1351" name="Google Shape;1351;p43"/>
          <p:cNvSpPr/>
          <p:nvPr/>
        </p:nvSpPr>
        <p:spPr>
          <a:xfrm>
            <a:off x="3316224" y="3966424"/>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2" name="Google Shape;1352;p43"/>
          <p:cNvSpPr/>
          <p:nvPr/>
        </p:nvSpPr>
        <p:spPr>
          <a:xfrm>
            <a:off x="3316224" y="3966424"/>
            <a:ext cx="30873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3" name="Google Shape;1353;p43"/>
          <p:cNvSpPr/>
          <p:nvPr/>
        </p:nvSpPr>
        <p:spPr>
          <a:xfrm>
            <a:off x="4835469" y="3893272"/>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4" name="Google Shape;1354;p43"/>
          <p:cNvSpPr txBox="1"/>
          <p:nvPr/>
        </p:nvSpPr>
        <p:spPr>
          <a:xfrm>
            <a:off x="6476661" y="380187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1.00</a:t>
            </a:r>
            <a:endParaRPr b="1" sz="2100">
              <a:solidFill>
                <a:srgbClr val="1D232A"/>
              </a:solidFill>
              <a:latin typeface="Source Sans 3"/>
              <a:ea typeface="Source Sans 3"/>
              <a:cs typeface="Source Sans 3"/>
              <a:sym typeface="Source Sans 3"/>
            </a:endParaRPr>
          </a:p>
        </p:txBody>
      </p:sp>
      <p:sp>
        <p:nvSpPr>
          <p:cNvPr id="1355" name="Google Shape;1355;p43"/>
          <p:cNvSpPr txBox="1"/>
          <p:nvPr/>
        </p:nvSpPr>
        <p:spPr>
          <a:xfrm>
            <a:off x="609600" y="4216400"/>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 · OL</a:t>
            </a:r>
            <a:endParaRPr sz="1900">
              <a:solidFill>
                <a:srgbClr val="1D232A"/>
              </a:solidFill>
              <a:latin typeface="Source Sans 3"/>
              <a:ea typeface="Source Sans 3"/>
              <a:cs typeface="Source Sans 3"/>
              <a:sym typeface="Source Sans 3"/>
            </a:endParaRPr>
          </a:p>
        </p:txBody>
      </p:sp>
      <p:sp>
        <p:nvSpPr>
          <p:cNvPr id="1356" name="Google Shape;1356;p43"/>
          <p:cNvSpPr/>
          <p:nvPr/>
        </p:nvSpPr>
        <p:spPr>
          <a:xfrm>
            <a:off x="3316224" y="4356568"/>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7" name="Google Shape;1357;p43"/>
          <p:cNvSpPr/>
          <p:nvPr/>
        </p:nvSpPr>
        <p:spPr>
          <a:xfrm>
            <a:off x="3316224" y="4356568"/>
            <a:ext cx="29949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8" name="Google Shape;1358;p43"/>
          <p:cNvSpPr/>
          <p:nvPr/>
        </p:nvSpPr>
        <p:spPr>
          <a:xfrm>
            <a:off x="6227064" y="4463857"/>
            <a:ext cx="167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59" name="Google Shape;1359;p43"/>
          <p:cNvSpPr/>
          <p:nvPr/>
        </p:nvSpPr>
        <p:spPr>
          <a:xfrm>
            <a:off x="5638191" y="4283416"/>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0" name="Google Shape;1360;p43"/>
          <p:cNvSpPr txBox="1"/>
          <p:nvPr/>
        </p:nvSpPr>
        <p:spPr>
          <a:xfrm>
            <a:off x="6476661" y="419201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0.97</a:t>
            </a:r>
            <a:endParaRPr b="1" sz="2100">
              <a:solidFill>
                <a:srgbClr val="1D232A"/>
              </a:solidFill>
              <a:latin typeface="Source Sans 3"/>
              <a:ea typeface="Source Sans 3"/>
              <a:cs typeface="Source Sans 3"/>
              <a:sym typeface="Source Sans 3"/>
            </a:endParaRPr>
          </a:p>
        </p:txBody>
      </p:sp>
      <p:sp>
        <p:nvSpPr>
          <p:cNvPr id="1361" name="Google Shape;1361;p43"/>
          <p:cNvSpPr txBox="1"/>
          <p:nvPr/>
        </p:nvSpPr>
        <p:spPr>
          <a:xfrm>
            <a:off x="609600" y="4606544"/>
            <a:ext cx="25605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 · NLA</a:t>
            </a:r>
            <a:endParaRPr sz="1900">
              <a:solidFill>
                <a:srgbClr val="1D232A"/>
              </a:solidFill>
              <a:latin typeface="Source Sans 3"/>
              <a:ea typeface="Source Sans 3"/>
              <a:cs typeface="Source Sans 3"/>
              <a:sym typeface="Source Sans 3"/>
            </a:endParaRPr>
          </a:p>
        </p:txBody>
      </p:sp>
      <p:sp>
        <p:nvSpPr>
          <p:cNvPr id="1362" name="Google Shape;1362;p43"/>
          <p:cNvSpPr/>
          <p:nvPr/>
        </p:nvSpPr>
        <p:spPr>
          <a:xfrm>
            <a:off x="3316224" y="4746712"/>
            <a:ext cx="30873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3" name="Google Shape;1363;p43"/>
          <p:cNvSpPr/>
          <p:nvPr/>
        </p:nvSpPr>
        <p:spPr>
          <a:xfrm>
            <a:off x="3316224" y="4746712"/>
            <a:ext cx="30564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4" name="Google Shape;1364;p43"/>
          <p:cNvSpPr/>
          <p:nvPr/>
        </p:nvSpPr>
        <p:spPr>
          <a:xfrm>
            <a:off x="6324356" y="4854001"/>
            <a:ext cx="79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5" name="Google Shape;1365;p43"/>
          <p:cNvSpPr/>
          <p:nvPr/>
        </p:nvSpPr>
        <p:spPr>
          <a:xfrm>
            <a:off x="5638191" y="4673560"/>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6" name="Google Shape;1366;p43"/>
          <p:cNvSpPr txBox="1"/>
          <p:nvPr/>
        </p:nvSpPr>
        <p:spPr>
          <a:xfrm>
            <a:off x="6476661" y="458216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0.99</a:t>
            </a:r>
            <a:endParaRPr b="1" sz="2100">
              <a:solidFill>
                <a:srgbClr val="1D232A"/>
              </a:solidFill>
              <a:latin typeface="Source Sans 3"/>
              <a:ea typeface="Source Sans 3"/>
              <a:cs typeface="Source Sans 3"/>
              <a:sym typeface="Source Sans 3"/>
            </a:endParaRPr>
          </a:p>
        </p:txBody>
      </p:sp>
      <p:sp>
        <p:nvSpPr>
          <p:cNvPr id="1367" name="Google Shape;1367;p43"/>
          <p:cNvSpPr/>
          <p:nvPr/>
        </p:nvSpPr>
        <p:spPr>
          <a:xfrm>
            <a:off x="4852537" y="1966936"/>
            <a:ext cx="14700" cy="30723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68" name="Google Shape;1368;p43"/>
          <p:cNvSpPr txBox="1"/>
          <p:nvPr/>
        </p:nvSpPr>
        <p:spPr>
          <a:xfrm>
            <a:off x="3762587" y="4917440"/>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chance</a:t>
            </a:r>
            <a:endParaRPr sz="1900">
              <a:solidFill>
                <a:srgbClr val="6F6A60"/>
              </a:solidFill>
              <a:latin typeface="Source Sans 3"/>
              <a:ea typeface="Source Sans 3"/>
              <a:cs typeface="Source Sans 3"/>
              <a:sym typeface="Source Sans 3"/>
            </a:endParaRPr>
          </a:p>
        </p:txBody>
      </p:sp>
      <p:sp>
        <p:nvSpPr>
          <p:cNvPr id="1369" name="Google Shape;1369;p43"/>
          <p:cNvSpPr/>
          <p:nvPr/>
        </p:nvSpPr>
        <p:spPr>
          <a:xfrm>
            <a:off x="7802880" y="1503640"/>
            <a:ext cx="3779700" cy="8859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0" name="Google Shape;1370;p43"/>
          <p:cNvSpPr/>
          <p:nvPr/>
        </p:nvSpPr>
        <p:spPr>
          <a:xfrm>
            <a:off x="7802880" y="1503640"/>
            <a:ext cx="60900" cy="8859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1" name="Google Shape;1371;p43"/>
          <p:cNvSpPr txBox="1"/>
          <p:nvPr/>
        </p:nvSpPr>
        <p:spPr>
          <a:xfrm>
            <a:off x="7936992" y="1528064"/>
            <a:ext cx="3596700" cy="8373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Input (Python string)</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….debug("Exception▌</a:t>
            </a:r>
            <a:endParaRPr sz="1900">
              <a:solidFill>
                <a:srgbClr val="1D232A"/>
              </a:solidFill>
              <a:latin typeface="Roboto Mono"/>
              <a:ea typeface="Roboto Mono"/>
              <a:cs typeface="Roboto Mono"/>
              <a:sym typeface="Roboto Mono"/>
            </a:endParaRPr>
          </a:p>
        </p:txBody>
      </p:sp>
      <p:sp>
        <p:nvSpPr>
          <p:cNvPr id="1372" name="Google Shape;1372;p43"/>
          <p:cNvSpPr/>
          <p:nvPr/>
        </p:nvSpPr>
        <p:spPr>
          <a:xfrm>
            <a:off x="7802880" y="2511552"/>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3" name="Google Shape;1373;p43"/>
          <p:cNvSpPr/>
          <p:nvPr/>
        </p:nvSpPr>
        <p:spPr>
          <a:xfrm>
            <a:off x="7802880" y="2511552"/>
            <a:ext cx="60900" cy="1454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4" name="Google Shape;1374;p43"/>
          <p:cNvSpPr txBox="1"/>
          <p:nvPr/>
        </p:nvSpPr>
        <p:spPr>
          <a:xfrm>
            <a:off x="7936992" y="2535936"/>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Oracle Lens (never says 'string')</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/Traceback: ", file=sys.stderr) print("Exception</a:t>
            </a:r>
            <a:endParaRPr i="1" sz="1900">
              <a:solidFill>
                <a:srgbClr val="1D232A"/>
              </a:solidFill>
              <a:latin typeface="Lora"/>
              <a:ea typeface="Lora"/>
              <a:cs typeface="Lora"/>
              <a:sym typeface="Lora"/>
            </a:endParaRPr>
          </a:p>
        </p:txBody>
      </p:sp>
      <p:sp>
        <p:nvSpPr>
          <p:cNvPr id="1375" name="Google Shape;1375;p43"/>
          <p:cNvSpPr/>
          <p:nvPr/>
        </p:nvSpPr>
        <p:spPr>
          <a:xfrm>
            <a:off x="7802880" y="4088344"/>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6" name="Google Shape;1376;p43"/>
          <p:cNvSpPr/>
          <p:nvPr/>
        </p:nvSpPr>
        <p:spPr>
          <a:xfrm>
            <a:off x="7802880" y="4088344"/>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7" name="Google Shape;1377;p43"/>
          <p:cNvSpPr txBox="1"/>
          <p:nvPr/>
        </p:nvSpPr>
        <p:spPr>
          <a:xfrm>
            <a:off x="7936992" y="4112768"/>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Python string row</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Readout 0.86; true 32 tokens 0.84; shuffled 0.46.</a:t>
            </a:r>
            <a:endParaRPr sz="1900">
              <a:solidFill>
                <a:srgbClr val="1D232A"/>
              </a:solidFill>
              <a:latin typeface="Source Sans 3"/>
              <a:ea typeface="Source Sans 3"/>
              <a:cs typeface="Source Sans 3"/>
              <a:sym typeface="Source Sans 3"/>
            </a:endParaRPr>
          </a:p>
        </p:txBody>
      </p:sp>
      <p:sp>
        <p:nvSpPr>
          <p:cNvPr id="1378" name="Google Shape;1378;p43"/>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79" name="Google Shape;1379;p43"/>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1-(a): both readers' words carry the state; Oracle Lens never states it.</a:t>
            </a:r>
            <a:endParaRPr sz="1900">
              <a:solidFill>
                <a:srgbClr val="1D232A"/>
              </a:solidFill>
              <a:latin typeface="Source Sans 3"/>
              <a:ea typeface="Source Sans 3"/>
              <a:cs typeface="Source Sans 3"/>
              <a:sym typeface="Source Sans 3"/>
            </a:endParaRPr>
          </a:p>
        </p:txBody>
      </p:sp>
      <p:sp>
        <p:nvSpPr>
          <p:cNvPr id="1380" name="Google Shape;1380;p43"/>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Grey tick = the 32 tokens shuffled. Hanley-McNeil 95%. The critic is the NLA's own (NLA bars in distribution).</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Call argument: OL 0.51, NLA 0.93. Card: first in-string item whose readout has no string word (74 of 80). Exp 25.</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384" name="Shape 1384"/>
        <p:cNvGrpSpPr/>
        <p:nvPr/>
      </p:nvGrpSpPr>
      <p:grpSpPr>
        <a:xfrm>
          <a:off x="0" y="0"/>
          <a:ext cx="0" cy="0"/>
          <a:chOff x="0" y="0"/>
          <a:chExt cx="0" cy="0"/>
        </a:xfrm>
      </p:grpSpPr>
      <p:sp>
        <p:nvSpPr>
          <p:cNvPr id="1385" name="Google Shape;1385;p44"/>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RANDOM READ POINTS </a:t>
            </a:r>
            <a:r>
              <a:rPr b="1" lang="en-US" sz="1500">
                <a:solidFill>
                  <a:srgbClr val="8A8478"/>
                </a:solidFill>
                <a:latin typeface="Source Sans 3"/>
                <a:ea typeface="Source Sans 3"/>
                <a:cs typeface="Source Sans 3"/>
                <a:sym typeface="Source Sans 3"/>
              </a:rPr>
              <a:t>· </a:t>
            </a:r>
            <a:r>
              <a:rPr b="1" lang="en-US" sz="1500">
                <a:solidFill>
                  <a:srgbClr val="8A8478"/>
                </a:solidFill>
                <a:latin typeface="Source Sans 3"/>
                <a:ea typeface="Source Sans 3"/>
                <a:cs typeface="Source Sans 3"/>
                <a:sym typeface="Source Sans 3"/>
              </a:rPr>
              <a:t>PUBLIC DOCUMENTS · NOTHING PROMPTED</a:t>
            </a:r>
            <a:endParaRPr b="1" sz="1500">
              <a:solidFill>
                <a:srgbClr val="8A8478"/>
              </a:solidFill>
              <a:latin typeface="Source Sans 3"/>
              <a:ea typeface="Source Sans 3"/>
              <a:cs typeface="Source Sans 3"/>
              <a:sym typeface="Source Sans 3"/>
            </a:endParaRPr>
          </a:p>
        </p:txBody>
      </p:sp>
      <p:sp>
        <p:nvSpPr>
          <p:cNvPr id="1386" name="Google Shape;1386;p44"/>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Random string points → Oracle Lens is silent</a:t>
            </a:r>
            <a:endParaRPr b="1" sz="3500">
              <a:solidFill>
                <a:srgbClr val="1D232A"/>
              </a:solidFill>
              <a:latin typeface="Lora"/>
              <a:ea typeface="Lora"/>
              <a:cs typeface="Lora"/>
              <a:sym typeface="Lora"/>
            </a:endParaRPr>
          </a:p>
        </p:txBody>
      </p:sp>
      <p:sp>
        <p:nvSpPr>
          <p:cNvPr id="1387" name="Google Shape;1387;p44"/>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States 'inside a string' (judge)</a:t>
            </a:r>
            <a:endParaRPr b="1" sz="1900">
              <a:solidFill>
                <a:srgbClr val="1D232A"/>
              </a:solidFill>
              <a:latin typeface="Source Sans 3"/>
              <a:ea typeface="Source Sans 3"/>
              <a:cs typeface="Source Sans 3"/>
              <a:sym typeface="Source Sans 3"/>
            </a:endParaRPr>
          </a:p>
        </p:txBody>
      </p:sp>
      <p:sp>
        <p:nvSpPr>
          <p:cNvPr id="1388" name="Google Shape;1388;p44"/>
          <p:cNvSpPr txBox="1"/>
          <p:nvPr/>
        </p:nvSpPr>
        <p:spPr>
          <a:xfrm>
            <a:off x="609600" y="1899920"/>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Oracle Lens · in string</a:t>
            </a:r>
            <a:endParaRPr sz="1900">
              <a:solidFill>
                <a:srgbClr val="1D232A"/>
              </a:solidFill>
              <a:latin typeface="Source Sans 3"/>
              <a:ea typeface="Source Sans 3"/>
              <a:cs typeface="Source Sans 3"/>
              <a:sym typeface="Source Sans 3"/>
            </a:endParaRPr>
          </a:p>
        </p:txBody>
      </p:sp>
      <p:sp>
        <p:nvSpPr>
          <p:cNvPr id="1389" name="Google Shape;1389;p44"/>
          <p:cNvSpPr/>
          <p:nvPr/>
        </p:nvSpPr>
        <p:spPr>
          <a:xfrm>
            <a:off x="3742944" y="2040088"/>
            <a:ext cx="1745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0" name="Google Shape;1390;p44"/>
          <p:cNvSpPr txBox="1"/>
          <p:nvPr/>
        </p:nvSpPr>
        <p:spPr>
          <a:xfrm>
            <a:off x="5561584" y="1875536"/>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a:t>
            </a:r>
            <a:r>
              <a:rPr lang="en-US" sz="1900">
                <a:solidFill>
                  <a:srgbClr val="6F6A60"/>
                </a:solidFill>
                <a:latin typeface="Source Sans 3"/>
                <a:ea typeface="Source Sans 3"/>
                <a:cs typeface="Source Sans 3"/>
                <a:sym typeface="Source Sans 3"/>
              </a:rPr>
              <a:t>  0/598</a:t>
            </a:r>
            <a:endParaRPr sz="1900">
              <a:solidFill>
                <a:srgbClr val="6F6A60"/>
              </a:solidFill>
              <a:latin typeface="Source Sans 3"/>
              <a:ea typeface="Source Sans 3"/>
              <a:cs typeface="Source Sans 3"/>
              <a:sym typeface="Source Sans 3"/>
            </a:endParaRPr>
          </a:p>
        </p:txBody>
      </p:sp>
      <p:sp>
        <p:nvSpPr>
          <p:cNvPr id="1391" name="Google Shape;1391;p44"/>
          <p:cNvSpPr txBox="1"/>
          <p:nvPr/>
        </p:nvSpPr>
        <p:spPr>
          <a:xfrm>
            <a:off x="609600" y="2338832"/>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in string</a:t>
            </a:r>
            <a:endParaRPr sz="1900">
              <a:solidFill>
                <a:srgbClr val="1D232A"/>
              </a:solidFill>
              <a:latin typeface="Source Sans 3"/>
              <a:ea typeface="Source Sans 3"/>
              <a:cs typeface="Source Sans 3"/>
              <a:sym typeface="Source Sans 3"/>
            </a:endParaRPr>
          </a:p>
        </p:txBody>
      </p:sp>
      <p:sp>
        <p:nvSpPr>
          <p:cNvPr id="1392" name="Google Shape;1392;p44"/>
          <p:cNvSpPr/>
          <p:nvPr/>
        </p:nvSpPr>
        <p:spPr>
          <a:xfrm>
            <a:off x="3742944" y="2479000"/>
            <a:ext cx="1745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3" name="Google Shape;1393;p44"/>
          <p:cNvSpPr/>
          <p:nvPr/>
        </p:nvSpPr>
        <p:spPr>
          <a:xfrm>
            <a:off x="3742944" y="2479000"/>
            <a:ext cx="3768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4" name="Google Shape;1394;p44"/>
          <p:cNvSpPr/>
          <p:nvPr/>
        </p:nvSpPr>
        <p:spPr>
          <a:xfrm>
            <a:off x="4057132" y="2586289"/>
            <a:ext cx="122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5" name="Google Shape;1395;p44"/>
          <p:cNvSpPr txBox="1"/>
          <p:nvPr/>
        </p:nvSpPr>
        <p:spPr>
          <a:xfrm>
            <a:off x="5561584" y="2314448"/>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22%</a:t>
            </a:r>
            <a:r>
              <a:rPr lang="en-US" sz="1900">
                <a:solidFill>
                  <a:srgbClr val="6F6A60"/>
                </a:solidFill>
                <a:latin typeface="Source Sans 3"/>
                <a:ea typeface="Source Sans 3"/>
                <a:cs typeface="Source Sans 3"/>
                <a:sym typeface="Source Sans 3"/>
              </a:rPr>
              <a:t>  130/602</a:t>
            </a:r>
            <a:endParaRPr sz="1900">
              <a:solidFill>
                <a:srgbClr val="6F6A60"/>
              </a:solidFill>
              <a:latin typeface="Source Sans 3"/>
              <a:ea typeface="Source Sans 3"/>
              <a:cs typeface="Source Sans 3"/>
              <a:sym typeface="Source Sans 3"/>
            </a:endParaRPr>
          </a:p>
        </p:txBody>
      </p:sp>
      <p:sp>
        <p:nvSpPr>
          <p:cNvPr id="1396" name="Google Shape;1396;p44"/>
          <p:cNvSpPr txBox="1"/>
          <p:nvPr/>
        </p:nvSpPr>
        <p:spPr>
          <a:xfrm>
            <a:off x="609600" y="277774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 · not in string</a:t>
            </a:r>
            <a:endParaRPr sz="1900">
              <a:solidFill>
                <a:srgbClr val="1D232A"/>
              </a:solidFill>
              <a:latin typeface="Source Sans 3"/>
              <a:ea typeface="Source Sans 3"/>
              <a:cs typeface="Source Sans 3"/>
              <a:sym typeface="Source Sans 3"/>
            </a:endParaRPr>
          </a:p>
        </p:txBody>
      </p:sp>
      <p:sp>
        <p:nvSpPr>
          <p:cNvPr id="1397" name="Google Shape;1397;p44"/>
          <p:cNvSpPr/>
          <p:nvPr/>
        </p:nvSpPr>
        <p:spPr>
          <a:xfrm>
            <a:off x="3742944" y="2917912"/>
            <a:ext cx="17457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8" name="Google Shape;1398;p44"/>
          <p:cNvSpPr/>
          <p:nvPr/>
        </p:nvSpPr>
        <p:spPr>
          <a:xfrm>
            <a:off x="3742944" y="2917912"/>
            <a:ext cx="219600" cy="243900"/>
          </a:xfrm>
          <a:prstGeom prst="roundRect">
            <a:avLst>
              <a:gd fmla="val 16667" name="adj"/>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99" name="Google Shape;1399;p44"/>
          <p:cNvSpPr txBox="1"/>
          <p:nvPr/>
        </p:nvSpPr>
        <p:spPr>
          <a:xfrm>
            <a:off x="5561584" y="2753360"/>
            <a:ext cx="1936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2%</a:t>
            </a:r>
            <a:r>
              <a:rPr lang="en-US" sz="1900">
                <a:solidFill>
                  <a:srgbClr val="6F6A60"/>
                </a:solidFill>
                <a:latin typeface="Source Sans 3"/>
                <a:ea typeface="Source Sans 3"/>
                <a:cs typeface="Source Sans 3"/>
                <a:sym typeface="Source Sans 3"/>
              </a:rPr>
              <a:t>  11/614</a:t>
            </a:r>
            <a:endParaRPr sz="1900">
              <a:solidFill>
                <a:srgbClr val="6F6A60"/>
              </a:solidFill>
              <a:latin typeface="Source Sans 3"/>
              <a:ea typeface="Source Sans 3"/>
              <a:cs typeface="Source Sans 3"/>
              <a:sym typeface="Source Sans 3"/>
            </a:endParaRPr>
          </a:p>
        </p:txBody>
      </p:sp>
      <p:sp>
        <p:nvSpPr>
          <p:cNvPr id="1400" name="Google Shape;1400;p44"/>
          <p:cNvSpPr txBox="1"/>
          <p:nvPr/>
        </p:nvSpPr>
        <p:spPr>
          <a:xfrm>
            <a:off x="609600" y="3381248"/>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Carries it: code points, in vs out (AUROC)</a:t>
            </a:r>
            <a:endParaRPr b="1" sz="1900">
              <a:solidFill>
                <a:srgbClr val="1D232A"/>
              </a:solidFill>
              <a:latin typeface="Source Sans 3"/>
              <a:ea typeface="Source Sans 3"/>
              <a:cs typeface="Source Sans 3"/>
              <a:sym typeface="Source Sans 3"/>
            </a:endParaRPr>
          </a:p>
        </p:txBody>
      </p:sp>
      <p:sp>
        <p:nvSpPr>
          <p:cNvPr id="1401" name="Google Shape;1401;p44"/>
          <p:cNvSpPr txBox="1"/>
          <p:nvPr/>
        </p:nvSpPr>
        <p:spPr>
          <a:xfrm>
            <a:off x="609600" y="3801872"/>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Probe on the activation</a:t>
            </a:r>
            <a:endParaRPr sz="1900">
              <a:solidFill>
                <a:srgbClr val="1D232A"/>
              </a:solidFill>
              <a:latin typeface="Source Sans 3"/>
              <a:ea typeface="Source Sans 3"/>
              <a:cs typeface="Source Sans 3"/>
              <a:sym typeface="Source Sans 3"/>
            </a:endParaRPr>
          </a:p>
        </p:txBody>
      </p:sp>
      <p:sp>
        <p:nvSpPr>
          <p:cNvPr id="1402" name="Google Shape;1402;p44"/>
          <p:cNvSpPr/>
          <p:nvPr/>
        </p:nvSpPr>
        <p:spPr>
          <a:xfrm>
            <a:off x="3742944" y="3942040"/>
            <a:ext cx="26604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03" name="Google Shape;1403;p44"/>
          <p:cNvSpPr/>
          <p:nvPr/>
        </p:nvSpPr>
        <p:spPr>
          <a:xfrm>
            <a:off x="3742944" y="3942040"/>
            <a:ext cx="2288100" cy="243900"/>
          </a:xfrm>
          <a:prstGeom prst="roundRect">
            <a:avLst>
              <a:gd fmla="val 16667" name="adj"/>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04" name="Google Shape;1404;p44"/>
          <p:cNvSpPr txBox="1"/>
          <p:nvPr/>
        </p:nvSpPr>
        <p:spPr>
          <a:xfrm>
            <a:off x="6476661" y="3777488"/>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0.86</a:t>
            </a:r>
            <a:endParaRPr b="1" sz="2100">
              <a:solidFill>
                <a:srgbClr val="1D232A"/>
              </a:solidFill>
              <a:latin typeface="Source Sans 3"/>
              <a:ea typeface="Source Sans 3"/>
              <a:cs typeface="Source Sans 3"/>
              <a:sym typeface="Source Sans 3"/>
            </a:endParaRPr>
          </a:p>
        </p:txBody>
      </p:sp>
      <p:sp>
        <p:nvSpPr>
          <p:cNvPr id="1405" name="Google Shape;1405;p44"/>
          <p:cNvSpPr txBox="1"/>
          <p:nvPr/>
        </p:nvSpPr>
        <p:spPr>
          <a:xfrm>
            <a:off x="609600" y="4240784"/>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NLA's words</a:t>
            </a:r>
            <a:endParaRPr sz="1900">
              <a:solidFill>
                <a:srgbClr val="1D232A"/>
              </a:solidFill>
              <a:latin typeface="Source Sans 3"/>
              <a:ea typeface="Source Sans 3"/>
              <a:cs typeface="Source Sans 3"/>
              <a:sym typeface="Source Sans 3"/>
            </a:endParaRPr>
          </a:p>
        </p:txBody>
      </p:sp>
      <p:sp>
        <p:nvSpPr>
          <p:cNvPr id="1406" name="Google Shape;1406;p44"/>
          <p:cNvSpPr/>
          <p:nvPr/>
        </p:nvSpPr>
        <p:spPr>
          <a:xfrm>
            <a:off x="3742944" y="4380952"/>
            <a:ext cx="26604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07" name="Google Shape;1407;p44"/>
          <p:cNvSpPr/>
          <p:nvPr/>
        </p:nvSpPr>
        <p:spPr>
          <a:xfrm>
            <a:off x="3742944" y="4380952"/>
            <a:ext cx="21552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08" name="Google Shape;1408;p44"/>
          <p:cNvSpPr txBox="1"/>
          <p:nvPr/>
        </p:nvSpPr>
        <p:spPr>
          <a:xfrm>
            <a:off x="6476661" y="421640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0.81</a:t>
            </a:r>
            <a:endParaRPr b="1" sz="2100">
              <a:solidFill>
                <a:srgbClr val="1D232A"/>
              </a:solidFill>
              <a:latin typeface="Source Sans 3"/>
              <a:ea typeface="Source Sans 3"/>
              <a:cs typeface="Source Sans 3"/>
              <a:sym typeface="Source Sans 3"/>
            </a:endParaRPr>
          </a:p>
        </p:txBody>
      </p:sp>
      <p:sp>
        <p:nvSpPr>
          <p:cNvPr id="1409" name="Google Shape;1409;p44"/>
          <p:cNvSpPr txBox="1"/>
          <p:nvPr/>
        </p:nvSpPr>
        <p:spPr>
          <a:xfrm>
            <a:off x="609600" y="4679696"/>
            <a:ext cx="29871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Oracle Lens's words</a:t>
            </a:r>
            <a:endParaRPr sz="1900">
              <a:solidFill>
                <a:srgbClr val="1D232A"/>
              </a:solidFill>
              <a:latin typeface="Source Sans 3"/>
              <a:ea typeface="Source Sans 3"/>
              <a:cs typeface="Source Sans 3"/>
              <a:sym typeface="Source Sans 3"/>
            </a:endParaRPr>
          </a:p>
        </p:txBody>
      </p:sp>
      <p:sp>
        <p:nvSpPr>
          <p:cNvPr id="1410" name="Google Shape;1410;p44"/>
          <p:cNvSpPr/>
          <p:nvPr/>
        </p:nvSpPr>
        <p:spPr>
          <a:xfrm>
            <a:off x="3742944" y="4819864"/>
            <a:ext cx="26604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1" name="Google Shape;1411;p44"/>
          <p:cNvSpPr/>
          <p:nvPr/>
        </p:nvSpPr>
        <p:spPr>
          <a:xfrm>
            <a:off x="3742944" y="4819864"/>
            <a:ext cx="19155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2" name="Google Shape;1412;p44"/>
          <p:cNvSpPr txBox="1"/>
          <p:nvPr/>
        </p:nvSpPr>
        <p:spPr>
          <a:xfrm>
            <a:off x="6476661" y="465531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0.72</a:t>
            </a:r>
            <a:endParaRPr b="1" sz="2100">
              <a:solidFill>
                <a:srgbClr val="1D232A"/>
              </a:solidFill>
              <a:latin typeface="Source Sans 3"/>
              <a:ea typeface="Source Sans 3"/>
              <a:cs typeface="Source Sans 3"/>
              <a:sym typeface="Source Sans 3"/>
            </a:endParaRPr>
          </a:p>
        </p:txBody>
      </p:sp>
      <p:sp>
        <p:nvSpPr>
          <p:cNvPr id="1413" name="Google Shape;1413;p44"/>
          <p:cNvSpPr/>
          <p:nvPr/>
        </p:nvSpPr>
        <p:spPr>
          <a:xfrm>
            <a:off x="7802880" y="1503640"/>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4" name="Google Shape;1414;p44"/>
          <p:cNvSpPr/>
          <p:nvPr/>
        </p:nvSpPr>
        <p:spPr>
          <a:xfrm>
            <a:off x="7802880" y="1503640"/>
            <a:ext cx="60900" cy="11703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5" name="Google Shape;1415;p44"/>
          <p:cNvSpPr txBox="1"/>
          <p:nvPr/>
        </p:nvSpPr>
        <p:spPr>
          <a:xfrm>
            <a:off x="7936992" y="1528064"/>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Input (random point, JS file)</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Roboto Mono"/>
                <a:ea typeface="Roboto Mono"/>
                <a:cs typeface="Roboto Mono"/>
                <a:sym typeface="Roboto Mono"/>
              </a:rPr>
              <a:t>…(exports, "Valid▌</a:t>
            </a:r>
            <a:endParaRPr sz="1900">
              <a:solidFill>
                <a:srgbClr val="1D232A"/>
              </a:solidFill>
              <a:latin typeface="Roboto Mono"/>
              <a:ea typeface="Roboto Mono"/>
              <a:cs typeface="Roboto Mono"/>
              <a:sym typeface="Roboto Mono"/>
            </a:endParaRPr>
          </a:p>
        </p:txBody>
      </p:sp>
      <p:sp>
        <p:nvSpPr>
          <p:cNvPr id="1416" name="Google Shape;1416;p44"/>
          <p:cNvSpPr/>
          <p:nvPr/>
        </p:nvSpPr>
        <p:spPr>
          <a:xfrm>
            <a:off x="7802880" y="2795992"/>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7" name="Google Shape;1417;p44"/>
          <p:cNvSpPr/>
          <p:nvPr/>
        </p:nvSpPr>
        <p:spPr>
          <a:xfrm>
            <a:off x="7802880" y="2795992"/>
            <a:ext cx="60900" cy="11703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18" name="Google Shape;1418;p44"/>
          <p:cNvSpPr txBox="1"/>
          <p:nvPr/>
        </p:nvSpPr>
        <p:spPr>
          <a:xfrm>
            <a:off x="7936992" y="2820416"/>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NLA (doesn't state it)</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 `Valid` is the beginning of a truncated type name …</a:t>
            </a:r>
            <a:endParaRPr i="1" sz="1900">
              <a:solidFill>
                <a:srgbClr val="1D232A"/>
              </a:solidFill>
              <a:latin typeface="Lora"/>
              <a:ea typeface="Lora"/>
              <a:cs typeface="Lora"/>
              <a:sym typeface="Lora"/>
            </a:endParaRPr>
          </a:p>
        </p:txBody>
      </p:sp>
      <p:sp>
        <p:nvSpPr>
          <p:cNvPr id="1419" name="Google Shape;1419;p44"/>
          <p:cNvSpPr/>
          <p:nvPr/>
        </p:nvSpPr>
        <p:spPr>
          <a:xfrm>
            <a:off x="7802880" y="4088344"/>
            <a:ext cx="3779700" cy="14547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20" name="Google Shape;1420;p44"/>
          <p:cNvSpPr/>
          <p:nvPr/>
        </p:nvSpPr>
        <p:spPr>
          <a:xfrm>
            <a:off x="7802880" y="4088344"/>
            <a:ext cx="60900" cy="14547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21" name="Google Shape;1421;p44"/>
          <p:cNvSpPr txBox="1"/>
          <p:nvPr/>
        </p:nvSpPr>
        <p:spPr>
          <a:xfrm>
            <a:off x="7936992" y="4112768"/>
            <a:ext cx="3596700" cy="1406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Oracle Lens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i="1" lang="en-US" sz="1900">
                <a:solidFill>
                  <a:srgbClr val="1D232A"/>
                </a:solidFill>
                <a:latin typeface="Lora"/>
                <a:ea typeface="Lora"/>
                <a:cs typeface="Lora"/>
                <a:sym typeface="Lora"/>
              </a:rPr>
              <a:t>atedError | Ajv.ValidationError } from "ajv"; export type Valid</a:t>
            </a:r>
            <a:endParaRPr i="1" sz="1900">
              <a:solidFill>
                <a:srgbClr val="1D232A"/>
              </a:solidFill>
              <a:latin typeface="Lora"/>
              <a:ea typeface="Lora"/>
              <a:cs typeface="Lora"/>
              <a:sym typeface="Lora"/>
            </a:endParaRPr>
          </a:p>
        </p:txBody>
      </p:sp>
      <p:sp>
        <p:nvSpPr>
          <p:cNvPr id="1422" name="Google Shape;1422;p44"/>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23" name="Google Shape;1423;p44"/>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1-(b), 1-(c): Oracle Lens 0 of 598; the NLA 22%, on code points 35 of 102.</a:t>
            </a:r>
            <a:endParaRPr sz="1900">
              <a:solidFill>
                <a:srgbClr val="1D232A"/>
              </a:solidFill>
              <a:latin typeface="Source Sans 3"/>
              <a:ea typeface="Source Sans 3"/>
              <a:cs typeface="Source Sans 3"/>
              <a:sym typeface="Source Sans 3"/>
            </a:endParaRPr>
          </a:p>
        </p:txBody>
      </p:sp>
      <p:sp>
        <p:nvSpPr>
          <p:cNvPr id="1424" name="Google Shape;1424;p44"/>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130/602 is mostly JSON (384 of 486 in-string points). The word 'string' isn't stating: NLA uses it on 114/160 in-string</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and 82/160 outside readouts (exp 22). Judge: Gemini 3.8 Flash, no human labels. Card: seed-0 draw, non-stating code points.</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428" name="Shape 1428"/>
        <p:cNvGrpSpPr/>
        <p:nvPr/>
      </p:nvGrpSpPr>
      <p:grpSpPr>
        <a:xfrm>
          <a:off x="0" y="0"/>
          <a:ext cx="0" cy="0"/>
          <a:chOff x="0" y="0"/>
          <a:chExt cx="0" cy="0"/>
        </a:xfrm>
      </p:grpSpPr>
      <p:sp>
        <p:nvSpPr>
          <p:cNvPr id="1429" name="Google Shape;1429;p45"/>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COPY CHECK · PUBLIC BANK · 160 ITEMS PER ROW</a:t>
            </a:r>
            <a:endParaRPr b="1" sz="1500">
              <a:solidFill>
                <a:srgbClr val="8A8478"/>
              </a:solidFill>
              <a:latin typeface="Source Sans 3"/>
              <a:ea typeface="Source Sans 3"/>
              <a:cs typeface="Source Sans 3"/>
              <a:sym typeface="Source Sans 3"/>
            </a:endParaRPr>
          </a:p>
        </p:txBody>
      </p:sp>
      <p:sp>
        <p:nvSpPr>
          <p:cNvPr id="1430" name="Google Shape;1430;p45"/>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Delete copied words → carrying barely moves</a:t>
            </a:r>
            <a:endParaRPr b="1" sz="3500">
              <a:solidFill>
                <a:srgbClr val="1D232A"/>
              </a:solidFill>
              <a:latin typeface="Lora"/>
              <a:ea typeface="Lora"/>
              <a:cs typeface="Lora"/>
              <a:sym typeface="Lora"/>
            </a:endParaRPr>
          </a:p>
        </p:txBody>
      </p:sp>
      <p:sp>
        <p:nvSpPr>
          <p:cNvPr id="1431" name="Google Shape;1431;p45"/>
          <p:cNvSpPr txBox="1"/>
          <p:nvPr/>
        </p:nvSpPr>
        <p:spPr>
          <a:xfrm>
            <a:off x="609600" y="1479296"/>
            <a:ext cx="68883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Word-count classifier, copied words deleted (AUROC)</a:t>
            </a:r>
            <a:endParaRPr b="1" sz="1900">
              <a:solidFill>
                <a:srgbClr val="1D232A"/>
              </a:solidFill>
              <a:latin typeface="Source Sans 3"/>
              <a:ea typeface="Source Sans 3"/>
              <a:cs typeface="Source Sans 3"/>
              <a:sym typeface="Source Sans 3"/>
            </a:endParaRPr>
          </a:p>
        </p:txBody>
      </p:sp>
      <p:sp>
        <p:nvSpPr>
          <p:cNvPr id="1432" name="Google Shape;1432;p45"/>
          <p:cNvSpPr txBox="1"/>
          <p:nvPr/>
        </p:nvSpPr>
        <p:spPr>
          <a:xfrm>
            <a:off x="609600" y="188163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 · OL</a:t>
            </a:r>
            <a:endParaRPr sz="1900">
              <a:solidFill>
                <a:srgbClr val="1D232A"/>
              </a:solidFill>
              <a:latin typeface="Source Sans 3"/>
              <a:ea typeface="Source Sans 3"/>
              <a:cs typeface="Source Sans 3"/>
              <a:sym typeface="Source Sans 3"/>
            </a:endParaRPr>
          </a:p>
        </p:txBody>
      </p:sp>
      <p:sp>
        <p:nvSpPr>
          <p:cNvPr id="1433" name="Google Shape;1433;p45"/>
          <p:cNvSpPr/>
          <p:nvPr/>
        </p:nvSpPr>
        <p:spPr>
          <a:xfrm>
            <a:off x="3194304" y="2021800"/>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34" name="Google Shape;1434;p45"/>
          <p:cNvSpPr/>
          <p:nvPr/>
        </p:nvSpPr>
        <p:spPr>
          <a:xfrm>
            <a:off x="3194304" y="2021800"/>
            <a:ext cx="18681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35" name="Google Shape;1435;p45"/>
          <p:cNvSpPr/>
          <p:nvPr/>
        </p:nvSpPr>
        <p:spPr>
          <a:xfrm>
            <a:off x="4933493" y="2129089"/>
            <a:ext cx="236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36" name="Google Shape;1436;p45"/>
          <p:cNvSpPr/>
          <p:nvPr/>
        </p:nvSpPr>
        <p:spPr>
          <a:xfrm>
            <a:off x="5102352" y="1948648"/>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37" name="Google Shape;1437;p45"/>
          <p:cNvSpPr txBox="1"/>
          <p:nvPr/>
        </p:nvSpPr>
        <p:spPr>
          <a:xfrm>
            <a:off x="5414603" y="1857248"/>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0.87 (0.90)</a:t>
            </a:r>
            <a:endParaRPr b="1" sz="2100">
              <a:solidFill>
                <a:srgbClr val="1D232A"/>
              </a:solidFill>
              <a:latin typeface="Source Sans 3"/>
              <a:ea typeface="Source Sans 3"/>
              <a:cs typeface="Source Sans 3"/>
              <a:sym typeface="Source Sans 3"/>
            </a:endParaRPr>
          </a:p>
        </p:txBody>
      </p:sp>
      <p:sp>
        <p:nvSpPr>
          <p:cNvPr id="1438" name="Google Shape;1438;p45"/>
          <p:cNvSpPr txBox="1"/>
          <p:nvPr/>
        </p:nvSpPr>
        <p:spPr>
          <a:xfrm>
            <a:off x="609600" y="2283968"/>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 · OL</a:t>
            </a:r>
            <a:endParaRPr sz="1900">
              <a:solidFill>
                <a:srgbClr val="1D232A"/>
              </a:solidFill>
              <a:latin typeface="Source Sans 3"/>
              <a:ea typeface="Source Sans 3"/>
              <a:cs typeface="Source Sans 3"/>
              <a:sym typeface="Source Sans 3"/>
            </a:endParaRPr>
          </a:p>
        </p:txBody>
      </p:sp>
      <p:sp>
        <p:nvSpPr>
          <p:cNvPr id="1439" name="Google Shape;1439;p45"/>
          <p:cNvSpPr/>
          <p:nvPr/>
        </p:nvSpPr>
        <p:spPr>
          <a:xfrm>
            <a:off x="3194304" y="2424136"/>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0" name="Google Shape;1440;p45"/>
          <p:cNvSpPr/>
          <p:nvPr/>
        </p:nvSpPr>
        <p:spPr>
          <a:xfrm>
            <a:off x="3194304" y="2424136"/>
            <a:ext cx="17391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1" name="Google Shape;1441;p45"/>
          <p:cNvSpPr/>
          <p:nvPr/>
        </p:nvSpPr>
        <p:spPr>
          <a:xfrm>
            <a:off x="4783165" y="2531425"/>
            <a:ext cx="2793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2" name="Google Shape;1442;p45"/>
          <p:cNvSpPr/>
          <p:nvPr/>
        </p:nvSpPr>
        <p:spPr>
          <a:xfrm>
            <a:off x="4973483" y="2350984"/>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3" name="Google Shape;1443;p45"/>
          <p:cNvSpPr txBox="1"/>
          <p:nvPr/>
        </p:nvSpPr>
        <p:spPr>
          <a:xfrm>
            <a:off x="5414603" y="2259584"/>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0.81 (0.84)</a:t>
            </a:r>
            <a:endParaRPr b="1" sz="2100">
              <a:solidFill>
                <a:srgbClr val="1D232A"/>
              </a:solidFill>
              <a:latin typeface="Source Sans 3"/>
              <a:ea typeface="Source Sans 3"/>
              <a:cs typeface="Source Sans 3"/>
              <a:sym typeface="Source Sans 3"/>
            </a:endParaRPr>
          </a:p>
        </p:txBody>
      </p:sp>
      <p:sp>
        <p:nvSpPr>
          <p:cNvPr id="1444" name="Google Shape;1444;p45"/>
          <p:cNvSpPr txBox="1"/>
          <p:nvPr/>
        </p:nvSpPr>
        <p:spPr>
          <a:xfrm>
            <a:off x="609600" y="2686304"/>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 · OL</a:t>
            </a:r>
            <a:endParaRPr sz="1900">
              <a:solidFill>
                <a:srgbClr val="1D232A"/>
              </a:solidFill>
              <a:latin typeface="Source Sans 3"/>
              <a:ea typeface="Source Sans 3"/>
              <a:cs typeface="Source Sans 3"/>
              <a:sym typeface="Source Sans 3"/>
            </a:endParaRPr>
          </a:p>
        </p:txBody>
      </p:sp>
      <p:sp>
        <p:nvSpPr>
          <p:cNvPr id="1445" name="Google Shape;1445;p45"/>
          <p:cNvSpPr/>
          <p:nvPr/>
        </p:nvSpPr>
        <p:spPr>
          <a:xfrm>
            <a:off x="3194304" y="2826472"/>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6" name="Google Shape;1446;p45"/>
          <p:cNvSpPr/>
          <p:nvPr/>
        </p:nvSpPr>
        <p:spPr>
          <a:xfrm>
            <a:off x="3194304" y="2826472"/>
            <a:ext cx="15033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7" name="Google Shape;1447;p45"/>
          <p:cNvSpPr/>
          <p:nvPr/>
        </p:nvSpPr>
        <p:spPr>
          <a:xfrm>
            <a:off x="4525548" y="2933761"/>
            <a:ext cx="343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8" name="Google Shape;1448;p45"/>
          <p:cNvSpPr/>
          <p:nvPr/>
        </p:nvSpPr>
        <p:spPr>
          <a:xfrm>
            <a:off x="4823277" y="2753320"/>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49" name="Google Shape;1449;p45"/>
          <p:cNvSpPr txBox="1"/>
          <p:nvPr/>
        </p:nvSpPr>
        <p:spPr>
          <a:xfrm>
            <a:off x="5414603" y="2661920"/>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0.70 (0.77)</a:t>
            </a:r>
            <a:endParaRPr b="1" sz="2100">
              <a:solidFill>
                <a:srgbClr val="1D232A"/>
              </a:solidFill>
              <a:latin typeface="Source Sans 3"/>
              <a:ea typeface="Source Sans 3"/>
              <a:cs typeface="Source Sans 3"/>
              <a:sym typeface="Source Sans 3"/>
            </a:endParaRPr>
          </a:p>
        </p:txBody>
      </p:sp>
      <p:sp>
        <p:nvSpPr>
          <p:cNvPr id="1450" name="Google Shape;1450;p45"/>
          <p:cNvSpPr txBox="1"/>
          <p:nvPr/>
        </p:nvSpPr>
        <p:spPr>
          <a:xfrm>
            <a:off x="609600" y="3088640"/>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 · OL</a:t>
            </a:r>
            <a:endParaRPr sz="1900">
              <a:solidFill>
                <a:srgbClr val="1D232A"/>
              </a:solidFill>
              <a:latin typeface="Source Sans 3"/>
              <a:ea typeface="Source Sans 3"/>
              <a:cs typeface="Source Sans 3"/>
              <a:sym typeface="Source Sans 3"/>
            </a:endParaRPr>
          </a:p>
        </p:txBody>
      </p:sp>
      <p:sp>
        <p:nvSpPr>
          <p:cNvPr id="1451" name="Google Shape;1451;p45"/>
          <p:cNvSpPr/>
          <p:nvPr/>
        </p:nvSpPr>
        <p:spPr>
          <a:xfrm>
            <a:off x="3194304" y="3228808"/>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2" name="Google Shape;1452;p45"/>
          <p:cNvSpPr/>
          <p:nvPr/>
        </p:nvSpPr>
        <p:spPr>
          <a:xfrm>
            <a:off x="3194304" y="3228808"/>
            <a:ext cx="20613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3" name="Google Shape;1453;p45"/>
          <p:cNvSpPr/>
          <p:nvPr/>
        </p:nvSpPr>
        <p:spPr>
          <a:xfrm>
            <a:off x="5191109" y="3336097"/>
            <a:ext cx="1077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4" name="Google Shape;1454;p45"/>
          <p:cNvSpPr/>
          <p:nvPr/>
        </p:nvSpPr>
        <p:spPr>
          <a:xfrm>
            <a:off x="5252680" y="3155656"/>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5" name="Google Shape;1455;p45"/>
          <p:cNvSpPr txBox="1"/>
          <p:nvPr/>
        </p:nvSpPr>
        <p:spPr>
          <a:xfrm>
            <a:off x="5414603" y="3064256"/>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0.96 (0.97)</a:t>
            </a:r>
            <a:endParaRPr b="1" sz="2100">
              <a:solidFill>
                <a:srgbClr val="1D232A"/>
              </a:solidFill>
              <a:latin typeface="Source Sans 3"/>
              <a:ea typeface="Source Sans 3"/>
              <a:cs typeface="Source Sans 3"/>
              <a:sym typeface="Source Sans 3"/>
            </a:endParaRPr>
          </a:p>
        </p:txBody>
      </p:sp>
      <p:sp>
        <p:nvSpPr>
          <p:cNvPr id="1456" name="Google Shape;1456;p45"/>
          <p:cNvSpPr txBox="1"/>
          <p:nvPr/>
        </p:nvSpPr>
        <p:spPr>
          <a:xfrm>
            <a:off x="609600" y="3490976"/>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 · NLA</a:t>
            </a:r>
            <a:endParaRPr sz="1900">
              <a:solidFill>
                <a:srgbClr val="1D232A"/>
              </a:solidFill>
              <a:latin typeface="Source Sans 3"/>
              <a:ea typeface="Source Sans 3"/>
              <a:cs typeface="Source Sans 3"/>
              <a:sym typeface="Source Sans 3"/>
            </a:endParaRPr>
          </a:p>
        </p:txBody>
      </p:sp>
      <p:sp>
        <p:nvSpPr>
          <p:cNvPr id="1457" name="Google Shape;1457;p45"/>
          <p:cNvSpPr/>
          <p:nvPr/>
        </p:nvSpPr>
        <p:spPr>
          <a:xfrm>
            <a:off x="3194304" y="3631144"/>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8" name="Google Shape;1458;p45"/>
          <p:cNvSpPr/>
          <p:nvPr/>
        </p:nvSpPr>
        <p:spPr>
          <a:xfrm>
            <a:off x="3194304" y="3631144"/>
            <a:ext cx="19752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9" name="Google Shape;1459;p45"/>
          <p:cNvSpPr/>
          <p:nvPr/>
        </p:nvSpPr>
        <p:spPr>
          <a:xfrm>
            <a:off x="5062363" y="3738433"/>
            <a:ext cx="1932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0" name="Google Shape;1460;p45"/>
          <p:cNvSpPr/>
          <p:nvPr/>
        </p:nvSpPr>
        <p:spPr>
          <a:xfrm>
            <a:off x="5145268" y="3557992"/>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1" name="Google Shape;1461;p45"/>
          <p:cNvSpPr txBox="1"/>
          <p:nvPr/>
        </p:nvSpPr>
        <p:spPr>
          <a:xfrm>
            <a:off x="5414603" y="3466592"/>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0.92 (0.92)</a:t>
            </a:r>
            <a:endParaRPr b="1" sz="2100">
              <a:solidFill>
                <a:srgbClr val="1D232A"/>
              </a:solidFill>
              <a:latin typeface="Source Sans 3"/>
              <a:ea typeface="Source Sans 3"/>
              <a:cs typeface="Source Sans 3"/>
              <a:sym typeface="Source Sans 3"/>
            </a:endParaRPr>
          </a:p>
        </p:txBody>
      </p:sp>
      <p:sp>
        <p:nvSpPr>
          <p:cNvPr id="1462" name="Google Shape;1462;p45"/>
          <p:cNvSpPr txBox="1"/>
          <p:nvPr/>
        </p:nvSpPr>
        <p:spPr>
          <a:xfrm>
            <a:off x="609600" y="3893312"/>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 · NLA</a:t>
            </a:r>
            <a:endParaRPr sz="1900">
              <a:solidFill>
                <a:srgbClr val="1D232A"/>
              </a:solidFill>
              <a:latin typeface="Source Sans 3"/>
              <a:ea typeface="Source Sans 3"/>
              <a:cs typeface="Source Sans 3"/>
              <a:sym typeface="Source Sans 3"/>
            </a:endParaRPr>
          </a:p>
        </p:txBody>
      </p:sp>
      <p:sp>
        <p:nvSpPr>
          <p:cNvPr id="1463" name="Google Shape;1463;p45"/>
          <p:cNvSpPr/>
          <p:nvPr/>
        </p:nvSpPr>
        <p:spPr>
          <a:xfrm>
            <a:off x="3194304" y="4033480"/>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4" name="Google Shape;1464;p45"/>
          <p:cNvSpPr/>
          <p:nvPr/>
        </p:nvSpPr>
        <p:spPr>
          <a:xfrm>
            <a:off x="3194304" y="4033480"/>
            <a:ext cx="19107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5" name="Google Shape;1465;p45"/>
          <p:cNvSpPr/>
          <p:nvPr/>
        </p:nvSpPr>
        <p:spPr>
          <a:xfrm>
            <a:off x="4976408" y="4140769"/>
            <a:ext cx="236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6" name="Google Shape;1466;p45"/>
          <p:cNvSpPr/>
          <p:nvPr/>
        </p:nvSpPr>
        <p:spPr>
          <a:xfrm>
            <a:off x="5102352" y="3960328"/>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67" name="Google Shape;1467;p45"/>
          <p:cNvSpPr txBox="1"/>
          <p:nvPr/>
        </p:nvSpPr>
        <p:spPr>
          <a:xfrm>
            <a:off x="5414603" y="3868928"/>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0.89 (0.90)</a:t>
            </a:r>
            <a:endParaRPr b="1" sz="2100">
              <a:solidFill>
                <a:srgbClr val="1D232A"/>
              </a:solidFill>
              <a:latin typeface="Source Sans 3"/>
              <a:ea typeface="Source Sans 3"/>
              <a:cs typeface="Source Sans 3"/>
              <a:sym typeface="Source Sans 3"/>
            </a:endParaRPr>
          </a:p>
        </p:txBody>
      </p:sp>
      <p:sp>
        <p:nvSpPr>
          <p:cNvPr id="1468" name="Google Shape;1468;p45"/>
          <p:cNvSpPr txBox="1"/>
          <p:nvPr/>
        </p:nvSpPr>
        <p:spPr>
          <a:xfrm>
            <a:off x="609600" y="4295648"/>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 · NLA</a:t>
            </a:r>
            <a:endParaRPr sz="1900">
              <a:solidFill>
                <a:srgbClr val="1D232A"/>
              </a:solidFill>
              <a:latin typeface="Source Sans 3"/>
              <a:ea typeface="Source Sans 3"/>
              <a:cs typeface="Source Sans 3"/>
              <a:sym typeface="Source Sans 3"/>
            </a:endParaRPr>
          </a:p>
        </p:txBody>
      </p:sp>
      <p:sp>
        <p:nvSpPr>
          <p:cNvPr id="1469" name="Google Shape;1469;p45"/>
          <p:cNvSpPr/>
          <p:nvPr/>
        </p:nvSpPr>
        <p:spPr>
          <a:xfrm>
            <a:off x="3194304" y="4435816"/>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0" name="Google Shape;1470;p45"/>
          <p:cNvSpPr/>
          <p:nvPr/>
        </p:nvSpPr>
        <p:spPr>
          <a:xfrm>
            <a:off x="3194304" y="4435816"/>
            <a:ext cx="18681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1" name="Google Shape;1471;p45"/>
          <p:cNvSpPr/>
          <p:nvPr/>
        </p:nvSpPr>
        <p:spPr>
          <a:xfrm>
            <a:off x="4933493" y="4543105"/>
            <a:ext cx="2361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2" name="Google Shape;1472;p45"/>
          <p:cNvSpPr/>
          <p:nvPr/>
        </p:nvSpPr>
        <p:spPr>
          <a:xfrm>
            <a:off x="5059436" y="4362664"/>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3" name="Google Shape;1473;p45"/>
          <p:cNvSpPr txBox="1"/>
          <p:nvPr/>
        </p:nvSpPr>
        <p:spPr>
          <a:xfrm>
            <a:off x="5414603" y="4271264"/>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0.87 (0.88)</a:t>
            </a:r>
            <a:endParaRPr b="1" sz="2100">
              <a:solidFill>
                <a:srgbClr val="1D232A"/>
              </a:solidFill>
              <a:latin typeface="Source Sans 3"/>
              <a:ea typeface="Source Sans 3"/>
              <a:cs typeface="Source Sans 3"/>
              <a:sym typeface="Source Sans 3"/>
            </a:endParaRPr>
          </a:p>
        </p:txBody>
      </p:sp>
      <p:sp>
        <p:nvSpPr>
          <p:cNvPr id="1474" name="Google Shape;1474;p45"/>
          <p:cNvSpPr txBox="1"/>
          <p:nvPr/>
        </p:nvSpPr>
        <p:spPr>
          <a:xfrm>
            <a:off x="609600" y="4697984"/>
            <a:ext cx="24384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 · NLA</a:t>
            </a:r>
            <a:endParaRPr sz="1900">
              <a:solidFill>
                <a:srgbClr val="1D232A"/>
              </a:solidFill>
              <a:latin typeface="Source Sans 3"/>
              <a:ea typeface="Source Sans 3"/>
              <a:cs typeface="Source Sans 3"/>
              <a:sym typeface="Source Sans 3"/>
            </a:endParaRPr>
          </a:p>
        </p:txBody>
      </p:sp>
      <p:sp>
        <p:nvSpPr>
          <p:cNvPr id="1475" name="Google Shape;1475;p45"/>
          <p:cNvSpPr/>
          <p:nvPr/>
        </p:nvSpPr>
        <p:spPr>
          <a:xfrm>
            <a:off x="3194304" y="4838152"/>
            <a:ext cx="21471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6" name="Google Shape;1476;p45"/>
          <p:cNvSpPr/>
          <p:nvPr/>
        </p:nvSpPr>
        <p:spPr>
          <a:xfrm>
            <a:off x="3194304" y="4838152"/>
            <a:ext cx="21045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7" name="Google Shape;1477;p45"/>
          <p:cNvSpPr/>
          <p:nvPr/>
        </p:nvSpPr>
        <p:spPr>
          <a:xfrm>
            <a:off x="5255605" y="4945441"/>
            <a:ext cx="64500" cy="29100"/>
          </a:xfrm>
          <a:prstGeom prst="rect">
            <a:avLst/>
          </a:prstGeom>
          <a:solidFill>
            <a:srgbClr val="1D232A"/>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8" name="Google Shape;1478;p45"/>
          <p:cNvSpPr/>
          <p:nvPr/>
        </p:nvSpPr>
        <p:spPr>
          <a:xfrm>
            <a:off x="5274137" y="4765000"/>
            <a:ext cx="48900" cy="390000"/>
          </a:xfrm>
          <a:prstGeom prst="rect">
            <a:avLst/>
          </a:prstGeom>
          <a:solidFill>
            <a:srgbClr val="6F6A6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79" name="Google Shape;1479;p45"/>
          <p:cNvSpPr txBox="1"/>
          <p:nvPr/>
        </p:nvSpPr>
        <p:spPr>
          <a:xfrm>
            <a:off x="5414603" y="4673600"/>
            <a:ext cx="2083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0.98 (0.98)</a:t>
            </a:r>
            <a:endParaRPr b="1" sz="2100">
              <a:solidFill>
                <a:srgbClr val="1D232A"/>
              </a:solidFill>
              <a:latin typeface="Source Sans 3"/>
              <a:ea typeface="Source Sans 3"/>
              <a:cs typeface="Source Sans 3"/>
              <a:sym typeface="Source Sans 3"/>
            </a:endParaRPr>
          </a:p>
        </p:txBody>
      </p:sp>
      <p:sp>
        <p:nvSpPr>
          <p:cNvPr id="1480" name="Google Shape;1480;p45"/>
          <p:cNvSpPr/>
          <p:nvPr/>
        </p:nvSpPr>
        <p:spPr>
          <a:xfrm>
            <a:off x="4260616" y="1966936"/>
            <a:ext cx="14700" cy="31701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1" name="Google Shape;1481;p45"/>
          <p:cNvSpPr txBox="1"/>
          <p:nvPr/>
        </p:nvSpPr>
        <p:spPr>
          <a:xfrm>
            <a:off x="3170597" y="5014976"/>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chance</a:t>
            </a:r>
            <a:endParaRPr sz="1900">
              <a:solidFill>
                <a:srgbClr val="6F6A60"/>
              </a:solidFill>
              <a:latin typeface="Source Sans 3"/>
              <a:ea typeface="Source Sans 3"/>
              <a:cs typeface="Source Sans 3"/>
              <a:sym typeface="Source Sans 3"/>
            </a:endParaRPr>
          </a:p>
        </p:txBody>
      </p:sp>
      <p:sp>
        <p:nvSpPr>
          <p:cNvPr id="1482" name="Google Shape;1482;p45"/>
          <p:cNvSpPr/>
          <p:nvPr/>
        </p:nvSpPr>
        <p:spPr>
          <a:xfrm>
            <a:off x="7802880" y="1503640"/>
            <a:ext cx="3779700" cy="20241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3" name="Google Shape;1483;p45"/>
          <p:cNvSpPr/>
          <p:nvPr/>
        </p:nvSpPr>
        <p:spPr>
          <a:xfrm>
            <a:off x="7802880" y="1503640"/>
            <a:ext cx="60900" cy="2024100"/>
          </a:xfrm>
          <a:prstGeom prst="rect">
            <a:avLst/>
          </a:prstGeom>
          <a:solidFill>
            <a:srgbClr val="A7A19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4" name="Google Shape;1484;p45"/>
          <p:cNvSpPr txBox="1"/>
          <p:nvPr/>
        </p:nvSpPr>
        <p:spPr>
          <a:xfrm>
            <a:off x="7936992" y="1528064"/>
            <a:ext cx="3596700" cy="1975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Do readers copy the window?</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Some single words: 0.19–0.24 of Oracle Lens's content tokens are in the window (0.02–0.08 by chance), NLA about half that.</a:t>
            </a:r>
            <a:endParaRPr sz="1900">
              <a:solidFill>
                <a:srgbClr val="1D232A"/>
              </a:solidFill>
              <a:latin typeface="Source Sans 3"/>
              <a:ea typeface="Source Sans 3"/>
              <a:cs typeface="Source Sans 3"/>
              <a:sym typeface="Source Sans 3"/>
            </a:endParaRPr>
          </a:p>
        </p:txBody>
      </p:sp>
      <p:sp>
        <p:nvSpPr>
          <p:cNvPr id="1485" name="Google Shape;1485;p45"/>
          <p:cNvSpPr/>
          <p:nvPr/>
        </p:nvSpPr>
        <p:spPr>
          <a:xfrm>
            <a:off x="7802880" y="3649432"/>
            <a:ext cx="3779700" cy="11703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6" name="Google Shape;1486;p45"/>
          <p:cNvSpPr/>
          <p:nvPr/>
        </p:nvSpPr>
        <p:spPr>
          <a:xfrm>
            <a:off x="7802880" y="3649432"/>
            <a:ext cx="60900" cy="1170300"/>
          </a:xfrm>
          <a:prstGeom prst="rect">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7" name="Google Shape;1487;p45"/>
          <p:cNvSpPr txBox="1"/>
          <p:nvPr/>
        </p:nvSpPr>
        <p:spPr>
          <a:xfrm>
            <a:off x="7936992" y="3673856"/>
            <a:ext cx="3596700" cy="112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Phrases?</a:t>
            </a:r>
            <a:endParaRPr b="1" sz="19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Almost never: about 0.01 of 3-word sequences.</a:t>
            </a:r>
            <a:endParaRPr sz="1900">
              <a:solidFill>
                <a:srgbClr val="1D232A"/>
              </a:solidFill>
              <a:latin typeface="Source Sans 3"/>
              <a:ea typeface="Source Sans 3"/>
              <a:cs typeface="Source Sans 3"/>
              <a:sym typeface="Source Sans 3"/>
            </a:endParaRPr>
          </a:p>
        </p:txBody>
      </p:sp>
      <p:sp>
        <p:nvSpPr>
          <p:cNvPr id="1488" name="Google Shape;1488;p45"/>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89" name="Google Shape;1489;p45"/>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1-(a): rules out 'it's just copying the window' for the word-level evidence.</a:t>
            </a:r>
            <a:endParaRPr sz="1900">
              <a:solidFill>
                <a:srgbClr val="1D232A"/>
              </a:solidFill>
              <a:latin typeface="Source Sans 3"/>
              <a:ea typeface="Source Sans 3"/>
              <a:cs typeface="Source Sans 3"/>
              <a:sym typeface="Source Sans 3"/>
            </a:endParaRPr>
          </a:p>
        </p:txBody>
      </p:sp>
      <p:sp>
        <p:nvSpPr>
          <p:cNvPr id="1490" name="Google Shape;1490;p45"/>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Tick = before deletion. Leak-balanced deletion; 95% CI by source file. The window's own words: 0.72 / 0.56 / 0.62 / 0.99.</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Critic AUROCs not recomputed on deleted readouts (needs a GPU). Exp 31.</a:t>
            </a:r>
            <a:endParaRPr sz="1300">
              <a:solidFill>
                <a:srgbClr val="6F6A60"/>
              </a:solidFill>
              <a:latin typeface="Source Sans 3"/>
              <a:ea typeface="Source Sans 3"/>
              <a:cs typeface="Source Sans 3"/>
              <a:sym typeface="Source Sans 3"/>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494" name="Shape 1494"/>
        <p:cNvGrpSpPr/>
        <p:nvPr/>
      </p:nvGrpSpPr>
      <p:grpSpPr>
        <a:xfrm>
          <a:off x="0" y="0"/>
          <a:ext cx="0" cy="0"/>
          <a:chOff x="0" y="0"/>
          <a:chExt cx="0" cy="0"/>
        </a:xfrm>
      </p:grpSpPr>
      <p:sp>
        <p:nvSpPr>
          <p:cNvPr id="1495" name="Google Shape;1495;p46"/>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ROBUSTNESS </a:t>
            </a:r>
            <a:endParaRPr b="1" sz="1500">
              <a:solidFill>
                <a:srgbClr val="8A8478"/>
              </a:solidFill>
              <a:latin typeface="Source Sans 3"/>
              <a:ea typeface="Source Sans 3"/>
              <a:cs typeface="Source Sans 3"/>
              <a:sym typeface="Source Sans 3"/>
            </a:endParaRPr>
          </a:p>
        </p:txBody>
      </p:sp>
      <p:sp>
        <p:nvSpPr>
          <p:cNvPr id="1496" name="Google Shape;1496;p46"/>
          <p:cNvSpPr txBox="1"/>
          <p:nvPr/>
        </p:nvSpPr>
        <p:spPr>
          <a:xfrm>
            <a:off x="609600" y="60960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Another decoder, bank, layer → same picture</a:t>
            </a:r>
            <a:endParaRPr b="1" sz="3500">
              <a:solidFill>
                <a:srgbClr val="1D232A"/>
              </a:solidFill>
              <a:latin typeface="Lora"/>
              <a:ea typeface="Lora"/>
              <a:cs typeface="Lora"/>
              <a:sym typeface="Lora"/>
            </a:endParaRPr>
          </a:p>
        </p:txBody>
      </p:sp>
      <p:sp>
        <p:nvSpPr>
          <p:cNvPr id="1497" name="Google Shape;1497;p46"/>
          <p:cNvSpPr txBox="1"/>
          <p:nvPr/>
        </p:nvSpPr>
        <p:spPr>
          <a:xfrm>
            <a:off x="609600" y="1479296"/>
            <a:ext cx="4328100" cy="76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Second decoder: Oracle Lens's reconstructor (AUROC)</a:t>
            </a:r>
            <a:endParaRPr b="1" sz="1900">
              <a:solidFill>
                <a:srgbClr val="1D232A"/>
              </a:solidFill>
              <a:latin typeface="Source Sans 3"/>
              <a:ea typeface="Source Sans 3"/>
              <a:cs typeface="Source Sans 3"/>
              <a:sym typeface="Source Sans 3"/>
            </a:endParaRPr>
          </a:p>
        </p:txBody>
      </p:sp>
      <p:sp>
        <p:nvSpPr>
          <p:cNvPr id="1498" name="Google Shape;1498;p46"/>
          <p:cNvSpPr txBox="1"/>
          <p:nvPr/>
        </p:nvSpPr>
        <p:spPr>
          <a:xfrm>
            <a:off x="609600" y="2188464"/>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Python string</a:t>
            </a:r>
            <a:endParaRPr sz="1900">
              <a:solidFill>
                <a:srgbClr val="1D232A"/>
              </a:solidFill>
              <a:latin typeface="Source Sans 3"/>
              <a:ea typeface="Source Sans 3"/>
              <a:cs typeface="Source Sans 3"/>
              <a:sym typeface="Source Sans 3"/>
            </a:endParaRPr>
          </a:p>
        </p:txBody>
      </p:sp>
      <p:sp>
        <p:nvSpPr>
          <p:cNvPr id="1499" name="Google Shape;1499;p46"/>
          <p:cNvSpPr/>
          <p:nvPr/>
        </p:nvSpPr>
        <p:spPr>
          <a:xfrm>
            <a:off x="2487168" y="2328672"/>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0" name="Google Shape;1500;p46"/>
          <p:cNvSpPr/>
          <p:nvPr/>
        </p:nvSpPr>
        <p:spPr>
          <a:xfrm>
            <a:off x="2487168" y="2328672"/>
            <a:ext cx="10848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1" name="Google Shape;1501;p46"/>
          <p:cNvSpPr txBox="1"/>
          <p:nvPr/>
        </p:nvSpPr>
        <p:spPr>
          <a:xfrm>
            <a:off x="3916341" y="216408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0.80</a:t>
            </a:r>
            <a:endParaRPr b="1" sz="2100">
              <a:solidFill>
                <a:srgbClr val="1D232A"/>
              </a:solidFill>
              <a:latin typeface="Source Sans 3"/>
              <a:ea typeface="Source Sans 3"/>
              <a:cs typeface="Source Sans 3"/>
              <a:sym typeface="Source Sans 3"/>
            </a:endParaRPr>
          </a:p>
        </p:txBody>
      </p:sp>
      <p:sp>
        <p:nvSpPr>
          <p:cNvPr id="1502" name="Google Shape;1502;p46"/>
          <p:cNvSpPr txBox="1"/>
          <p:nvPr/>
        </p:nvSpPr>
        <p:spPr>
          <a:xfrm>
            <a:off x="609600" y="2651760"/>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 string</a:t>
            </a:r>
            <a:endParaRPr sz="1900">
              <a:solidFill>
                <a:srgbClr val="1D232A"/>
              </a:solidFill>
              <a:latin typeface="Source Sans 3"/>
              <a:ea typeface="Source Sans 3"/>
              <a:cs typeface="Source Sans 3"/>
              <a:sym typeface="Source Sans 3"/>
            </a:endParaRPr>
          </a:p>
        </p:txBody>
      </p:sp>
      <p:sp>
        <p:nvSpPr>
          <p:cNvPr id="1503" name="Google Shape;1503;p46"/>
          <p:cNvSpPr/>
          <p:nvPr/>
        </p:nvSpPr>
        <p:spPr>
          <a:xfrm>
            <a:off x="2487168" y="2791968"/>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4" name="Google Shape;1504;p46"/>
          <p:cNvSpPr/>
          <p:nvPr/>
        </p:nvSpPr>
        <p:spPr>
          <a:xfrm>
            <a:off x="2487168" y="2791968"/>
            <a:ext cx="10848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5" name="Google Shape;1505;p46"/>
          <p:cNvSpPr txBox="1"/>
          <p:nvPr/>
        </p:nvSpPr>
        <p:spPr>
          <a:xfrm>
            <a:off x="3916341" y="262737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0.80</a:t>
            </a:r>
            <a:endParaRPr b="1" sz="2100">
              <a:solidFill>
                <a:srgbClr val="1D232A"/>
              </a:solidFill>
              <a:latin typeface="Source Sans 3"/>
              <a:ea typeface="Source Sans 3"/>
              <a:cs typeface="Source Sans 3"/>
              <a:sym typeface="Source Sans 3"/>
            </a:endParaRPr>
          </a:p>
        </p:txBody>
      </p:sp>
      <p:sp>
        <p:nvSpPr>
          <p:cNvPr id="1506" name="Google Shape;1506;p46"/>
          <p:cNvSpPr txBox="1"/>
          <p:nvPr/>
        </p:nvSpPr>
        <p:spPr>
          <a:xfrm>
            <a:off x="609600" y="3115056"/>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LaTeX math</a:t>
            </a:r>
            <a:endParaRPr sz="1900">
              <a:solidFill>
                <a:srgbClr val="1D232A"/>
              </a:solidFill>
              <a:latin typeface="Source Sans 3"/>
              <a:ea typeface="Source Sans 3"/>
              <a:cs typeface="Source Sans 3"/>
              <a:sym typeface="Source Sans 3"/>
            </a:endParaRPr>
          </a:p>
        </p:txBody>
      </p:sp>
      <p:sp>
        <p:nvSpPr>
          <p:cNvPr id="1507" name="Google Shape;1507;p46"/>
          <p:cNvSpPr/>
          <p:nvPr/>
        </p:nvSpPr>
        <p:spPr>
          <a:xfrm>
            <a:off x="2487168" y="3255264"/>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8" name="Google Shape;1508;p46"/>
          <p:cNvSpPr/>
          <p:nvPr/>
        </p:nvSpPr>
        <p:spPr>
          <a:xfrm>
            <a:off x="2487168" y="3255264"/>
            <a:ext cx="10575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09" name="Google Shape;1509;p46"/>
          <p:cNvSpPr txBox="1"/>
          <p:nvPr/>
        </p:nvSpPr>
        <p:spPr>
          <a:xfrm>
            <a:off x="3916341" y="3090672"/>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0.78</a:t>
            </a:r>
            <a:endParaRPr b="1" sz="2100">
              <a:solidFill>
                <a:srgbClr val="1D232A"/>
              </a:solidFill>
              <a:latin typeface="Source Sans 3"/>
              <a:ea typeface="Source Sans 3"/>
              <a:cs typeface="Source Sans 3"/>
              <a:sym typeface="Source Sans 3"/>
            </a:endParaRPr>
          </a:p>
        </p:txBody>
      </p:sp>
      <p:sp>
        <p:nvSpPr>
          <p:cNvPr id="1510" name="Google Shape;1510;p46"/>
          <p:cNvSpPr txBox="1"/>
          <p:nvPr/>
        </p:nvSpPr>
        <p:spPr>
          <a:xfrm>
            <a:off x="609600" y="3578352"/>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JSON depth</a:t>
            </a:r>
            <a:endParaRPr sz="1900">
              <a:solidFill>
                <a:srgbClr val="1D232A"/>
              </a:solidFill>
              <a:latin typeface="Source Sans 3"/>
              <a:ea typeface="Source Sans 3"/>
              <a:cs typeface="Source Sans 3"/>
              <a:sym typeface="Source Sans 3"/>
            </a:endParaRPr>
          </a:p>
        </p:txBody>
      </p:sp>
      <p:sp>
        <p:nvSpPr>
          <p:cNvPr id="1511" name="Google Shape;1511;p46"/>
          <p:cNvSpPr/>
          <p:nvPr/>
        </p:nvSpPr>
        <p:spPr>
          <a:xfrm>
            <a:off x="2487168" y="3718560"/>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12" name="Google Shape;1512;p46"/>
          <p:cNvSpPr/>
          <p:nvPr/>
        </p:nvSpPr>
        <p:spPr>
          <a:xfrm>
            <a:off x="2487168" y="3718560"/>
            <a:ext cx="10035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13" name="Google Shape;1513;p46"/>
          <p:cNvSpPr txBox="1"/>
          <p:nvPr/>
        </p:nvSpPr>
        <p:spPr>
          <a:xfrm>
            <a:off x="3916341" y="3553968"/>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0.74</a:t>
            </a:r>
            <a:endParaRPr b="1" sz="2100">
              <a:solidFill>
                <a:srgbClr val="1D232A"/>
              </a:solidFill>
              <a:latin typeface="Source Sans 3"/>
              <a:ea typeface="Source Sans 3"/>
              <a:cs typeface="Source Sans 3"/>
              <a:sym typeface="Source Sans 3"/>
            </a:endParaRPr>
          </a:p>
        </p:txBody>
      </p:sp>
      <p:sp>
        <p:nvSpPr>
          <p:cNvPr id="1514" name="Google Shape;1514;p46"/>
          <p:cNvSpPr txBox="1"/>
          <p:nvPr/>
        </p:nvSpPr>
        <p:spPr>
          <a:xfrm>
            <a:off x="609600" y="4041648"/>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HTML depth</a:t>
            </a:r>
            <a:endParaRPr sz="1900">
              <a:solidFill>
                <a:srgbClr val="1D232A"/>
              </a:solidFill>
              <a:latin typeface="Source Sans 3"/>
              <a:ea typeface="Source Sans 3"/>
              <a:cs typeface="Source Sans 3"/>
              <a:sym typeface="Source Sans 3"/>
            </a:endParaRPr>
          </a:p>
        </p:txBody>
      </p:sp>
      <p:sp>
        <p:nvSpPr>
          <p:cNvPr id="1515" name="Google Shape;1515;p46"/>
          <p:cNvSpPr/>
          <p:nvPr/>
        </p:nvSpPr>
        <p:spPr>
          <a:xfrm>
            <a:off x="2487168" y="4181856"/>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16" name="Google Shape;1516;p46"/>
          <p:cNvSpPr/>
          <p:nvPr/>
        </p:nvSpPr>
        <p:spPr>
          <a:xfrm>
            <a:off x="2487168" y="4181856"/>
            <a:ext cx="9900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17" name="Google Shape;1517;p46"/>
          <p:cNvSpPr txBox="1"/>
          <p:nvPr/>
        </p:nvSpPr>
        <p:spPr>
          <a:xfrm>
            <a:off x="3916341" y="4017264"/>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0.73</a:t>
            </a:r>
            <a:endParaRPr b="1" sz="2100">
              <a:solidFill>
                <a:srgbClr val="1D232A"/>
              </a:solidFill>
              <a:latin typeface="Source Sans 3"/>
              <a:ea typeface="Source Sans 3"/>
              <a:cs typeface="Source Sans 3"/>
              <a:sym typeface="Source Sans 3"/>
            </a:endParaRPr>
          </a:p>
        </p:txBody>
      </p:sp>
      <p:sp>
        <p:nvSpPr>
          <p:cNvPr id="1518" name="Google Shape;1518;p46"/>
          <p:cNvSpPr txBox="1"/>
          <p:nvPr/>
        </p:nvSpPr>
        <p:spPr>
          <a:xfrm>
            <a:off x="609600" y="4504944"/>
            <a:ext cx="1731300" cy="524400"/>
          </a:xfrm>
          <a:prstGeom prst="rect">
            <a:avLst/>
          </a:prstGeom>
          <a:noFill/>
          <a:ln>
            <a:noFill/>
          </a:ln>
        </p:spPr>
        <p:txBody>
          <a:bodyPr anchorCtr="0" anchor="t" bIns="121900" lIns="121900" spcFirstLastPara="1" rIns="121900" wrap="square" tIns="121900">
            <a:noAutofit/>
          </a:bodyPr>
          <a:lstStyle/>
          <a:p>
            <a:pPr indent="0" lvl="0" marL="0" rtl="0" algn="r">
              <a:spcBef>
                <a:spcPts val="0"/>
              </a:spcBef>
              <a:spcAft>
                <a:spcPts val="0"/>
              </a:spcAft>
              <a:buNone/>
            </a:pPr>
            <a:r>
              <a:rPr lang="en-US" sz="1900">
                <a:solidFill>
                  <a:srgbClr val="1D232A"/>
                </a:solidFill>
                <a:latin typeface="Source Sans 3"/>
                <a:ea typeface="Source Sans 3"/>
                <a:cs typeface="Source Sans 3"/>
                <a:sym typeface="Source Sans 3"/>
              </a:rPr>
              <a:t>Call argument</a:t>
            </a:r>
            <a:endParaRPr sz="1900">
              <a:solidFill>
                <a:srgbClr val="1D232A"/>
              </a:solidFill>
              <a:latin typeface="Source Sans 3"/>
              <a:ea typeface="Source Sans 3"/>
              <a:cs typeface="Source Sans 3"/>
              <a:sym typeface="Source Sans 3"/>
            </a:endParaRPr>
          </a:p>
        </p:txBody>
      </p:sp>
      <p:sp>
        <p:nvSpPr>
          <p:cNvPr id="1519" name="Google Shape;1519;p46"/>
          <p:cNvSpPr/>
          <p:nvPr/>
        </p:nvSpPr>
        <p:spPr>
          <a:xfrm>
            <a:off x="2487168" y="4645152"/>
            <a:ext cx="13560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20" name="Google Shape;1520;p46"/>
          <p:cNvSpPr/>
          <p:nvPr/>
        </p:nvSpPr>
        <p:spPr>
          <a:xfrm>
            <a:off x="2487168" y="4645152"/>
            <a:ext cx="827100" cy="243900"/>
          </a:xfrm>
          <a:prstGeom prst="roundRect">
            <a:avLst>
              <a:gd fmla="val 16667" name="adj"/>
            </a:avLst>
          </a:prstGeom>
          <a:solidFill>
            <a:srgbClr val="6A5AA6"/>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21" name="Google Shape;1521;p46"/>
          <p:cNvSpPr txBox="1"/>
          <p:nvPr/>
        </p:nvSpPr>
        <p:spPr>
          <a:xfrm>
            <a:off x="3916341" y="4480560"/>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0.61</a:t>
            </a:r>
            <a:endParaRPr b="1" sz="2100">
              <a:solidFill>
                <a:srgbClr val="1D232A"/>
              </a:solidFill>
              <a:latin typeface="Source Sans 3"/>
              <a:ea typeface="Source Sans 3"/>
              <a:cs typeface="Source Sans 3"/>
              <a:sym typeface="Source Sans 3"/>
            </a:endParaRPr>
          </a:p>
        </p:txBody>
      </p:sp>
      <p:sp>
        <p:nvSpPr>
          <p:cNvPr id="1522" name="Google Shape;1522;p46"/>
          <p:cNvSpPr/>
          <p:nvPr/>
        </p:nvSpPr>
        <p:spPr>
          <a:xfrm>
            <a:off x="3157849" y="2243328"/>
            <a:ext cx="14700" cy="27312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23" name="Google Shape;1523;p46"/>
          <p:cNvSpPr txBox="1"/>
          <p:nvPr/>
        </p:nvSpPr>
        <p:spPr>
          <a:xfrm>
            <a:off x="2067899" y="4852416"/>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chance</a:t>
            </a:r>
            <a:endParaRPr sz="1900">
              <a:solidFill>
                <a:srgbClr val="6F6A60"/>
              </a:solidFill>
              <a:latin typeface="Source Sans 3"/>
              <a:ea typeface="Source Sans 3"/>
              <a:cs typeface="Source Sans 3"/>
              <a:sym typeface="Source Sans 3"/>
            </a:endParaRPr>
          </a:p>
        </p:txBody>
      </p:sp>
      <p:sp>
        <p:nvSpPr>
          <p:cNvPr id="1524" name="Google Shape;1524;p46"/>
          <p:cNvSpPr txBox="1"/>
          <p:nvPr/>
        </p:nvSpPr>
        <p:spPr>
          <a:xfrm>
            <a:off x="5181600" y="1479296"/>
            <a:ext cx="3108900" cy="76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Guiv's bank: NLA, table column, asked (AUROC)</a:t>
            </a:r>
            <a:endParaRPr b="1" sz="1900">
              <a:solidFill>
                <a:srgbClr val="1D232A"/>
              </a:solidFill>
              <a:latin typeface="Source Sans 3"/>
              <a:ea typeface="Source Sans 3"/>
              <a:cs typeface="Source Sans 3"/>
              <a:sym typeface="Source Sans 3"/>
            </a:endParaRPr>
          </a:p>
        </p:txBody>
      </p:sp>
      <p:sp>
        <p:nvSpPr>
          <p:cNvPr id="1525" name="Google Shape;1525;p46"/>
          <p:cNvSpPr txBox="1"/>
          <p:nvPr/>
        </p:nvSpPr>
        <p:spPr>
          <a:xfrm>
            <a:off x="5181600" y="2218944"/>
            <a:ext cx="31089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His items, his phrasings</a:t>
            </a:r>
            <a:endParaRPr sz="1900">
              <a:solidFill>
                <a:srgbClr val="1D232A"/>
              </a:solidFill>
              <a:latin typeface="Source Sans 3"/>
              <a:ea typeface="Source Sans 3"/>
              <a:cs typeface="Source Sans 3"/>
              <a:sym typeface="Source Sans 3"/>
            </a:endParaRPr>
          </a:p>
        </p:txBody>
      </p:sp>
      <p:sp>
        <p:nvSpPr>
          <p:cNvPr id="1526" name="Google Shape;1526;p46"/>
          <p:cNvSpPr/>
          <p:nvPr/>
        </p:nvSpPr>
        <p:spPr>
          <a:xfrm>
            <a:off x="5303520" y="2731008"/>
            <a:ext cx="18924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27" name="Google Shape;1527;p46"/>
          <p:cNvSpPr/>
          <p:nvPr/>
        </p:nvSpPr>
        <p:spPr>
          <a:xfrm>
            <a:off x="5303520" y="2731008"/>
            <a:ext cx="10596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28" name="Google Shape;1528;p46"/>
          <p:cNvSpPr txBox="1"/>
          <p:nvPr/>
        </p:nvSpPr>
        <p:spPr>
          <a:xfrm>
            <a:off x="7269141" y="2566416"/>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0.56</a:t>
            </a:r>
            <a:endParaRPr b="1" sz="2100">
              <a:solidFill>
                <a:srgbClr val="1D232A"/>
              </a:solidFill>
              <a:latin typeface="Source Sans 3"/>
              <a:ea typeface="Source Sans 3"/>
              <a:cs typeface="Source Sans 3"/>
              <a:sym typeface="Source Sans 3"/>
            </a:endParaRPr>
          </a:p>
        </p:txBody>
      </p:sp>
      <p:sp>
        <p:nvSpPr>
          <p:cNvPr id="1529" name="Google Shape;1529;p46"/>
          <p:cNvSpPr txBox="1"/>
          <p:nvPr/>
        </p:nvSpPr>
        <p:spPr>
          <a:xfrm>
            <a:off x="5181600" y="3121152"/>
            <a:ext cx="3108900" cy="487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His items, our phrasings</a:t>
            </a:r>
            <a:endParaRPr sz="1900">
              <a:solidFill>
                <a:srgbClr val="1D232A"/>
              </a:solidFill>
              <a:latin typeface="Source Sans 3"/>
              <a:ea typeface="Source Sans 3"/>
              <a:cs typeface="Source Sans 3"/>
              <a:sym typeface="Source Sans 3"/>
            </a:endParaRPr>
          </a:p>
        </p:txBody>
      </p:sp>
      <p:sp>
        <p:nvSpPr>
          <p:cNvPr id="1530" name="Google Shape;1530;p46"/>
          <p:cNvSpPr/>
          <p:nvPr/>
        </p:nvSpPr>
        <p:spPr>
          <a:xfrm>
            <a:off x="5303520" y="3633216"/>
            <a:ext cx="1892400" cy="243900"/>
          </a:xfrm>
          <a:prstGeom prst="roundRect">
            <a:avLst>
              <a:gd fmla="val 16667" name="adj"/>
            </a:avLst>
          </a:prstGeom>
          <a:solidFill>
            <a:srgbClr val="E7E2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31" name="Google Shape;1531;p46"/>
          <p:cNvSpPr/>
          <p:nvPr/>
        </p:nvSpPr>
        <p:spPr>
          <a:xfrm>
            <a:off x="5303520" y="3633216"/>
            <a:ext cx="1608900" cy="243900"/>
          </a:xfrm>
          <a:prstGeom prst="roundRect">
            <a:avLst>
              <a:gd fmla="val 16667" name="adj"/>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32" name="Google Shape;1532;p46"/>
          <p:cNvSpPr txBox="1"/>
          <p:nvPr/>
        </p:nvSpPr>
        <p:spPr>
          <a:xfrm>
            <a:off x="7269141" y="3468624"/>
            <a:ext cx="10215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0.85</a:t>
            </a:r>
            <a:endParaRPr b="1" sz="2100">
              <a:solidFill>
                <a:srgbClr val="1D232A"/>
              </a:solidFill>
              <a:latin typeface="Source Sans 3"/>
              <a:ea typeface="Source Sans 3"/>
              <a:cs typeface="Source Sans 3"/>
              <a:sym typeface="Source Sans 3"/>
            </a:endParaRPr>
          </a:p>
        </p:txBody>
      </p:sp>
      <p:sp>
        <p:nvSpPr>
          <p:cNvPr id="1533" name="Google Shape;1533;p46"/>
          <p:cNvSpPr/>
          <p:nvPr/>
        </p:nvSpPr>
        <p:spPr>
          <a:xfrm>
            <a:off x="6242425" y="2243328"/>
            <a:ext cx="14700" cy="1755600"/>
          </a:xfrm>
          <a:prstGeom prst="rect">
            <a:avLst/>
          </a:prstGeom>
          <a:solidFill>
            <a:srgbClr val="B9B2A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34" name="Google Shape;1534;p46"/>
          <p:cNvSpPr txBox="1"/>
          <p:nvPr/>
        </p:nvSpPr>
        <p:spPr>
          <a:xfrm>
            <a:off x="5152475" y="3877056"/>
            <a:ext cx="2194500" cy="48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US" sz="1900">
                <a:solidFill>
                  <a:srgbClr val="6F6A60"/>
                </a:solidFill>
                <a:latin typeface="Source Sans 3"/>
                <a:ea typeface="Source Sans 3"/>
                <a:cs typeface="Source Sans 3"/>
                <a:sym typeface="Source Sans 3"/>
              </a:rPr>
              <a:t>chance</a:t>
            </a:r>
            <a:endParaRPr sz="1900">
              <a:solidFill>
                <a:srgbClr val="6F6A60"/>
              </a:solidFill>
              <a:latin typeface="Source Sans 3"/>
              <a:ea typeface="Source Sans 3"/>
              <a:cs typeface="Source Sans 3"/>
              <a:sym typeface="Source Sans 3"/>
            </a:endParaRPr>
          </a:p>
        </p:txBody>
      </p:sp>
      <p:sp>
        <p:nvSpPr>
          <p:cNvPr id="1535" name="Google Shape;1535;p46"/>
          <p:cNvSpPr txBox="1"/>
          <p:nvPr/>
        </p:nvSpPr>
        <p:spPr>
          <a:xfrm>
            <a:off x="8534400" y="1479296"/>
            <a:ext cx="3048000" cy="764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Oracle Lens at layers 20–60</a:t>
            </a:r>
            <a:endParaRPr b="1" sz="1900">
              <a:solidFill>
                <a:srgbClr val="1D232A"/>
              </a:solidFill>
              <a:latin typeface="Source Sans 3"/>
              <a:ea typeface="Source Sans 3"/>
              <a:cs typeface="Source Sans 3"/>
              <a:sym typeface="Source Sans 3"/>
            </a:endParaRPr>
          </a:p>
        </p:txBody>
      </p:sp>
      <p:sp>
        <p:nvSpPr>
          <p:cNvPr id="1536" name="Google Shape;1536;p46"/>
          <p:cNvSpPr/>
          <p:nvPr/>
        </p:nvSpPr>
        <p:spPr>
          <a:xfrm>
            <a:off x="609600" y="5657088"/>
            <a:ext cx="10972800" cy="14700"/>
          </a:xfrm>
          <a:prstGeom prst="rect">
            <a:avLst/>
          </a:prstGeom>
          <a:solidFill>
            <a:srgbClr val="D9D3C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37" name="Google Shape;1537;p46"/>
          <p:cNvSpPr txBox="1"/>
          <p:nvPr/>
        </p:nvSpPr>
        <p:spPr>
          <a:xfrm>
            <a:off x="609600" y="5693664"/>
            <a:ext cx="10972800" cy="524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Potential</a:t>
            </a:r>
            <a:r>
              <a:rPr lang="en-US" sz="1900">
                <a:solidFill>
                  <a:srgbClr val="1D232A"/>
                </a:solidFill>
                <a:latin typeface="Source Sans 3"/>
                <a:ea typeface="Source Sans 3"/>
                <a:cs typeface="Source Sans 3"/>
                <a:sym typeface="Source Sans 3"/>
              </a:rPr>
              <a:t> · 1-(a), 1-(b): Oracle Lens's words carry it through a new decoder, at every layer.</a:t>
            </a:r>
            <a:endParaRPr sz="1900">
              <a:solidFill>
                <a:srgbClr val="1D232A"/>
              </a:solidFill>
              <a:latin typeface="Source Sans 3"/>
              <a:ea typeface="Source Sans 3"/>
              <a:cs typeface="Source Sans 3"/>
              <a:sym typeface="Source Sans 3"/>
            </a:endParaRPr>
          </a:p>
        </p:txBody>
      </p:sp>
      <p:sp>
        <p:nvSpPr>
          <p:cNvPr id="1538" name="Google Shape;1538;p46"/>
          <p:cNvSpPr txBox="1"/>
          <p:nvPr/>
        </p:nvSpPr>
        <p:spPr>
          <a:xfrm>
            <a:off x="609600" y="6169152"/>
            <a:ext cx="10972800" cy="609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Second decoder: NLA explanations at chance on its frozen probe (0.44–0.56), 0.81–0.90 refit. Layers: median of 4 rows,</a:t>
            </a:r>
            <a:endParaRPr sz="1300">
              <a:solidFill>
                <a:srgbClr val="6F6A60"/>
              </a:solidFill>
              <a:latin typeface="Source Sans 3"/>
              <a:ea typeface="Source Sans 3"/>
              <a:cs typeface="Source Sans 3"/>
              <a:sym typeface="Source Sans 3"/>
            </a:endParaRPr>
          </a:p>
          <a:p>
            <a:pPr indent="0" lvl="0" marL="0" rtl="0" algn="l">
              <a:spcBef>
                <a:spcPts val="0"/>
              </a:spcBef>
              <a:spcAft>
                <a:spcPts val="0"/>
              </a:spcAft>
              <a:buNone/>
            </a:pPr>
            <a:r>
              <a:rPr lang="en-US" sz="1300">
                <a:solidFill>
                  <a:srgbClr val="6F6A60"/>
                </a:solidFill>
                <a:latin typeface="Source Sans 3"/>
                <a:ea typeface="Source Sans 3"/>
                <a:cs typeface="Source Sans 3"/>
                <a:sym typeface="Source Sans 3"/>
              </a:rPr>
              <a:t>band = min–max, no CIs. Guiv's bank also finds Oracle Lens never states the state. Exps 24, 17, 26.</a:t>
            </a:r>
            <a:endParaRPr sz="1300">
              <a:solidFill>
                <a:srgbClr val="6F6A60"/>
              </a:solidFill>
              <a:latin typeface="Source Sans 3"/>
              <a:ea typeface="Source Sans 3"/>
              <a:cs typeface="Source Sans 3"/>
              <a:sym typeface="Source Sans 3"/>
            </a:endParaRPr>
          </a:p>
        </p:txBody>
      </p:sp>
      <p:pic>
        <p:nvPicPr>
          <p:cNvPr id="1539" name="Google Shape;1539;p46"/>
          <p:cNvPicPr preferRelativeResize="0"/>
          <p:nvPr/>
        </p:nvPicPr>
        <p:blipFill>
          <a:blip r:embed="rId3">
            <a:alphaModFix/>
          </a:blip>
          <a:stretch>
            <a:fillRect/>
          </a:stretch>
        </p:blipFill>
        <p:spPr>
          <a:xfrm>
            <a:off x="8595360" y="2027936"/>
            <a:ext cx="2926080" cy="24623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43" name="Shape 1543"/>
        <p:cNvGrpSpPr/>
        <p:nvPr/>
      </p:nvGrpSpPr>
      <p:grpSpPr>
        <a:xfrm>
          <a:off x="0" y="0"/>
          <a:ext cx="0" cy="0"/>
          <a:chOff x="0" y="0"/>
          <a:chExt cx="0" cy="0"/>
        </a:xfrm>
      </p:grpSpPr>
      <p:sp>
        <p:nvSpPr>
          <p:cNvPr id="1544" name="Google Shape;1544;p47"/>
          <p:cNvSpPr txBox="1"/>
          <p:nvPr/>
        </p:nvSpPr>
        <p:spPr>
          <a:xfrm>
            <a:off x="609600" y="36576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Six ways this could be boring</a:t>
            </a:r>
            <a:endParaRPr b="1" sz="3500">
              <a:solidFill>
                <a:srgbClr val="1D232A"/>
              </a:solidFill>
              <a:latin typeface="Lora"/>
              <a:ea typeface="Lora"/>
              <a:cs typeface="Lora"/>
              <a:sym typeface="Lora"/>
            </a:endParaRPr>
          </a:p>
        </p:txBody>
      </p:sp>
      <p:graphicFrame>
        <p:nvGraphicFramePr>
          <p:cNvPr id="1545" name="Google Shape;1545;p47"/>
          <p:cNvGraphicFramePr/>
          <p:nvPr/>
        </p:nvGraphicFramePr>
        <p:xfrm>
          <a:off x="609600" y="1296416"/>
          <a:ext cx="3000000" cy="3000000"/>
        </p:xfrm>
        <a:graphic>
          <a:graphicData uri="http://schemas.openxmlformats.org/drawingml/2006/table">
            <a:tbl>
              <a:tblPr>
                <a:noFill/>
                <a:tableStyleId>{FA4568F9-5AD6-445C-B7C7-6825933DB074}</a:tableStyleId>
              </a:tblPr>
              <a:tblGrid>
                <a:gridCol w="3474700"/>
                <a:gridCol w="1645900"/>
                <a:gridCol w="5852125"/>
              </a:tblGrid>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Boring explanation</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6925">
                      <a:solidFill>
                        <a:srgbClr val="1D232A"/>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Status</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6925">
                      <a:solidFill>
                        <a:srgbClr val="1D232A"/>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What we have</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6925">
                      <a:solidFill>
                        <a:srgbClr val="1D232A"/>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Carrying is copying the last 32 tokens</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Tested (exp 31)</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Ruled out for the word-level evidence; critic scores not recomputed</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The judge is blind to structure</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Partly</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Sees language 0.81–0.95 and code language 0.78; no human labels</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One NLA run, one layer, one 27B model</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Open</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Oracle Lens flat over layers 20–60; NLA only at 42; no second model</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The warm-start story is a replay</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Partly</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Flat over 800 steps; no counterfactual run; SFT targets never counted</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Position is trivially everywhere</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Tested</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Shuffled tokens fall to chance; line position and Markdown unreadable</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r h="755900">
                <a:tc>
                  <a:txBody>
                    <a:bodyPr/>
                    <a:lstStyle/>
                    <a:p>
                      <a:pPr indent="0" lvl="0" marL="0" rtl="0" algn="l">
                        <a:spcBef>
                          <a:spcPts val="0"/>
                        </a:spcBef>
                        <a:spcAft>
                          <a:spcPts val="0"/>
                        </a:spcAft>
                        <a:buNone/>
                      </a:pPr>
                      <a:r>
                        <a:rPr b="1" lang="en-US" sz="1900">
                          <a:solidFill>
                            <a:srgbClr val="1D232A"/>
                          </a:solidFill>
                          <a:latin typeface="Source Sans 3"/>
                          <a:ea typeface="Source Sans 3"/>
                          <a:cs typeface="Source Sans 3"/>
                          <a:sym typeface="Source Sans 3"/>
                        </a:rPr>
                        <a:t>Prediction rules ≈ always 'low'</a:t>
                      </a:r>
                      <a:endParaRPr b="1"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Tested: true</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Always 'low' ties or beats the rules on the primary cells</a:t>
                      </a:r>
                      <a:endParaRPr sz="1900">
                        <a:solidFill>
                          <a:srgbClr val="1D232A"/>
                        </a:solidFill>
                        <a:latin typeface="Source Sans 3"/>
                        <a:ea typeface="Source Sans 3"/>
                        <a:cs typeface="Source Sans 3"/>
                        <a:sym typeface="Source Sans 3"/>
                      </a:endParaRPr>
                    </a:p>
                  </a:txBody>
                  <a:tcPr marT="121900" marB="121900" marR="121900" marL="121900">
                    <a:lnL cap="flat" cmpd="sng" w="12700">
                      <a:solidFill>
                        <a:srgbClr val="F6F4EE"/>
                      </a:solidFill>
                      <a:prstDash val="solid"/>
                      <a:round/>
                      <a:headEnd len="sm" w="sm" type="none"/>
                      <a:tailEnd len="sm" w="sm" type="none"/>
                    </a:lnL>
                    <a:lnR cap="flat" cmpd="sng" w="12700">
                      <a:solidFill>
                        <a:srgbClr val="F6F4EE"/>
                      </a:solidFill>
                      <a:prstDash val="solid"/>
                      <a:round/>
                      <a:headEnd len="sm" w="sm" type="none"/>
                      <a:tailEnd len="sm" w="sm" type="none"/>
                    </a:lnR>
                    <a:lnT cap="flat" cmpd="sng" w="12700">
                      <a:solidFill>
                        <a:srgbClr val="D9D3C7"/>
                      </a:solidFill>
                      <a:prstDash val="solid"/>
                      <a:round/>
                      <a:headEnd len="sm" w="sm" type="none"/>
                      <a:tailEnd len="sm" w="sm" type="none"/>
                    </a:lnT>
                    <a:lnB cap="flat" cmpd="sng" w="12700">
                      <a:solidFill>
                        <a:srgbClr val="D9D3C7"/>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49" name="Shape 1549"/>
        <p:cNvGrpSpPr/>
        <p:nvPr/>
      </p:nvGrpSpPr>
      <p:grpSpPr>
        <a:xfrm>
          <a:off x="0" y="0"/>
          <a:ext cx="0" cy="0"/>
          <a:chOff x="0" y="0"/>
          <a:chExt cx="0" cy="0"/>
        </a:xfrm>
      </p:grpSpPr>
      <p:sp>
        <p:nvSpPr>
          <p:cNvPr id="1550" name="Google Shape;1550;p48"/>
          <p:cNvSpPr txBox="1"/>
          <p:nvPr/>
        </p:nvSpPr>
        <p:spPr>
          <a:xfrm>
            <a:off x="609600" y="316992"/>
            <a:ext cx="10972800" cy="365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500">
                <a:solidFill>
                  <a:srgbClr val="8A8478"/>
                </a:solidFill>
                <a:latin typeface="Source Sans 3"/>
                <a:ea typeface="Source Sans 3"/>
                <a:cs typeface="Source Sans 3"/>
                <a:sym typeface="Source Sans 3"/>
              </a:rPr>
              <a:t>PROCESS</a:t>
            </a:r>
            <a:endParaRPr b="1" sz="1500">
              <a:solidFill>
                <a:srgbClr val="8A8478"/>
              </a:solidFill>
              <a:latin typeface="Source Sans 3"/>
              <a:ea typeface="Source Sans 3"/>
              <a:cs typeface="Source Sans 3"/>
              <a:sym typeface="Source Sans 3"/>
            </a:endParaRPr>
          </a:p>
        </p:txBody>
      </p:sp>
      <p:sp>
        <p:nvSpPr>
          <p:cNvPr id="1551" name="Google Shape;1551;p48"/>
          <p:cNvSpPr txBox="1"/>
          <p:nvPr/>
        </p:nvSpPr>
        <p:spPr>
          <a:xfrm>
            <a:off x="609600" y="609600"/>
            <a:ext cx="10972800" cy="1300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How we kept LLM-driven research honest, and where it slipped</a:t>
            </a:r>
            <a:endParaRPr b="1" sz="3500">
              <a:solidFill>
                <a:srgbClr val="1D232A"/>
              </a:solidFill>
              <a:latin typeface="Lora"/>
              <a:ea typeface="Lora"/>
              <a:cs typeface="Lora"/>
              <a:sym typeface="Lora"/>
            </a:endParaRPr>
          </a:p>
        </p:txBody>
      </p:sp>
      <p:sp>
        <p:nvSpPr>
          <p:cNvPr id="1552" name="Google Shape;1552;p48"/>
          <p:cNvSpPr/>
          <p:nvPr/>
        </p:nvSpPr>
        <p:spPr>
          <a:xfrm>
            <a:off x="609600" y="2007656"/>
            <a:ext cx="5376900" cy="17640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3" name="Google Shape;1553;p48"/>
          <p:cNvSpPr/>
          <p:nvPr/>
        </p:nvSpPr>
        <p:spPr>
          <a:xfrm>
            <a:off x="609600" y="2007656"/>
            <a:ext cx="60900" cy="17640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4" name="Google Shape;1554;p48"/>
          <p:cNvSpPr txBox="1"/>
          <p:nvPr/>
        </p:nvSpPr>
        <p:spPr>
          <a:xfrm>
            <a:off x="743712" y="2056384"/>
            <a:ext cx="51936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Hashed pre-registrations</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Banks, instruments and predictions hashed before any reader ran (exps 18, 19, 22); later runs wrote predictions first.</a:t>
            </a:r>
            <a:endParaRPr sz="1900">
              <a:solidFill>
                <a:srgbClr val="1D232A"/>
              </a:solidFill>
              <a:latin typeface="Source Sans 3"/>
              <a:ea typeface="Source Sans 3"/>
              <a:cs typeface="Source Sans 3"/>
              <a:sym typeface="Source Sans 3"/>
            </a:endParaRPr>
          </a:p>
        </p:txBody>
      </p:sp>
      <p:sp>
        <p:nvSpPr>
          <p:cNvPr id="1555" name="Google Shape;1555;p48"/>
          <p:cNvSpPr/>
          <p:nvPr/>
        </p:nvSpPr>
        <p:spPr>
          <a:xfrm>
            <a:off x="6205728" y="2007656"/>
            <a:ext cx="5376900" cy="17640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6" name="Google Shape;1556;p48"/>
          <p:cNvSpPr/>
          <p:nvPr/>
        </p:nvSpPr>
        <p:spPr>
          <a:xfrm>
            <a:off x="6205728" y="2007656"/>
            <a:ext cx="60900" cy="17640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7" name="Google Shape;1557;p48"/>
          <p:cNvSpPr txBox="1"/>
          <p:nvPr/>
        </p:nvSpPr>
        <p:spPr>
          <a:xfrm>
            <a:off x="6339840" y="2056384"/>
            <a:ext cx="51936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Falsifiers that fired</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Exp 18 missed its bar; we withdrew the 0.30 rule and the window account, each logged with a date.</a:t>
            </a:r>
            <a:endParaRPr sz="1900">
              <a:solidFill>
                <a:srgbClr val="1D232A"/>
              </a:solidFill>
              <a:latin typeface="Source Sans 3"/>
              <a:ea typeface="Source Sans 3"/>
              <a:cs typeface="Source Sans 3"/>
              <a:sym typeface="Source Sans 3"/>
            </a:endParaRPr>
          </a:p>
        </p:txBody>
      </p:sp>
      <p:sp>
        <p:nvSpPr>
          <p:cNvPr id="1558" name="Google Shape;1558;p48"/>
          <p:cNvSpPr/>
          <p:nvPr/>
        </p:nvSpPr>
        <p:spPr>
          <a:xfrm>
            <a:off x="609600" y="3990808"/>
            <a:ext cx="5376900" cy="17640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9" name="Google Shape;1559;p48"/>
          <p:cNvSpPr/>
          <p:nvPr/>
        </p:nvSpPr>
        <p:spPr>
          <a:xfrm>
            <a:off x="609600" y="3990808"/>
            <a:ext cx="60900" cy="1764000"/>
          </a:xfrm>
          <a:prstGeom prst="rect">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60" name="Google Shape;1560;p48"/>
          <p:cNvSpPr txBox="1"/>
          <p:nvPr/>
        </p:nvSpPr>
        <p:spPr>
          <a:xfrm>
            <a:off x="743712" y="4039616"/>
            <a:ext cx="51936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D232A"/>
                </a:solidFill>
                <a:latin typeface="Source Sans 3"/>
                <a:ea typeface="Source Sans 3"/>
                <a:cs typeface="Source Sans 3"/>
                <a:sym typeface="Source Sans 3"/>
              </a:rPr>
              <a:t>Adversarial panel of five (D49)</a:t>
            </a:r>
            <a:endParaRPr b="1" sz="2100">
              <a:solidFill>
                <a:srgbClr val="1D232A"/>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Skeptic, theory and generality reviews found the confound between reward and warm start; </a:t>
            </a:r>
            <a:r>
              <a:rPr lang="en-US" sz="1900">
                <a:solidFill>
                  <a:srgbClr val="1D232A"/>
                </a:solidFill>
                <a:latin typeface="Source Sans 3"/>
                <a:ea typeface="Source Sans 3"/>
                <a:cs typeface="Source Sans 3"/>
                <a:sym typeface="Source Sans 3"/>
              </a:rPr>
              <a:t>exps 28 to 30 came from it.</a:t>
            </a:r>
            <a:endParaRPr sz="1900">
              <a:solidFill>
                <a:srgbClr val="1D232A"/>
              </a:solidFill>
              <a:latin typeface="Source Sans 3"/>
              <a:ea typeface="Source Sans 3"/>
              <a:cs typeface="Source Sans 3"/>
              <a:sym typeface="Source Sans 3"/>
            </a:endParaRPr>
          </a:p>
        </p:txBody>
      </p:sp>
      <p:sp>
        <p:nvSpPr>
          <p:cNvPr id="1561" name="Google Shape;1561;p48"/>
          <p:cNvSpPr/>
          <p:nvPr/>
        </p:nvSpPr>
        <p:spPr>
          <a:xfrm>
            <a:off x="6205728" y="3990808"/>
            <a:ext cx="5376900" cy="1764000"/>
          </a:xfrm>
          <a:prstGeom prst="rect">
            <a:avLst/>
          </a:prstGeom>
          <a:solidFill>
            <a:srgbClr val="FFFFFF"/>
          </a:solidFill>
          <a:ln cap="flat" cmpd="sng" w="12700">
            <a:solidFill>
              <a:srgbClr val="E3DED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62" name="Google Shape;1562;p48"/>
          <p:cNvSpPr/>
          <p:nvPr/>
        </p:nvSpPr>
        <p:spPr>
          <a:xfrm>
            <a:off x="6205728" y="3990808"/>
            <a:ext cx="60900" cy="1764000"/>
          </a:xfrm>
          <a:prstGeom prst="rect">
            <a:avLst/>
          </a:prstGeom>
          <a:solidFill>
            <a:srgbClr val="C2552E"/>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63" name="Google Shape;1563;p48"/>
          <p:cNvSpPr txBox="1"/>
          <p:nvPr/>
        </p:nvSpPr>
        <p:spPr>
          <a:xfrm>
            <a:off x="6339840" y="4039616"/>
            <a:ext cx="5193600" cy="1690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C2552E"/>
                </a:solidFill>
                <a:latin typeface="Source Sans 3"/>
                <a:ea typeface="Source Sans 3"/>
                <a:cs typeface="Source Sans 3"/>
                <a:sym typeface="Source Sans 3"/>
              </a:rPr>
              <a:t>Where it slipped (D51)</a:t>
            </a:r>
            <a:endParaRPr b="1" sz="2100">
              <a:solidFill>
                <a:srgbClr val="C2552E"/>
              </a:solidFill>
              <a:latin typeface="Source Sans 3"/>
              <a:ea typeface="Source Sans 3"/>
              <a:cs typeface="Source Sans 3"/>
              <a:sym typeface="Source Sans 3"/>
            </a:endParaRPr>
          </a:p>
          <a:p>
            <a:pPr indent="0" lvl="0" marL="0" rtl="0" algn="l">
              <a:spcBef>
                <a:spcPts val="0"/>
              </a:spcBef>
              <a:spcAft>
                <a:spcPts val="0"/>
              </a:spcAft>
              <a:buNone/>
            </a:pPr>
            <a:r>
              <a:rPr lang="en-US" sz="1900">
                <a:solidFill>
                  <a:srgbClr val="1D232A"/>
                </a:solidFill>
                <a:latin typeface="Source Sans 3"/>
                <a:ea typeface="Source Sans 3"/>
                <a:cs typeface="Source Sans 3"/>
                <a:sym typeface="Source Sans 3"/>
              </a:rPr>
              <a:t>Recomputing every figure from raw files, found 49 written numbers that disagreed (about 23 distinct fixes); two changed a conclusion.</a:t>
            </a:r>
            <a:endParaRPr sz="1900">
              <a:solidFill>
                <a:srgbClr val="1D232A"/>
              </a:solidFill>
              <a:latin typeface="Source Sans 3"/>
              <a:ea typeface="Source Sans 3"/>
              <a:cs typeface="Source Sans 3"/>
              <a:sym typeface="Source Sans 3"/>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67" name="Shape 1567"/>
        <p:cNvGrpSpPr/>
        <p:nvPr/>
      </p:nvGrpSpPr>
      <p:grpSpPr>
        <a:xfrm>
          <a:off x="0" y="0"/>
          <a:ext cx="0" cy="0"/>
          <a:chOff x="0" y="0"/>
          <a:chExt cx="0" cy="0"/>
        </a:xfrm>
      </p:grpSpPr>
      <p:sp>
        <p:nvSpPr>
          <p:cNvPr id="1568" name="Google Shape;1568;p49"/>
          <p:cNvSpPr txBox="1"/>
          <p:nvPr/>
        </p:nvSpPr>
        <p:spPr>
          <a:xfrm>
            <a:off x="609600" y="365760"/>
            <a:ext cx="10972800" cy="771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3500">
                <a:solidFill>
                  <a:srgbClr val="1D232A"/>
                </a:solidFill>
                <a:latin typeface="Lora"/>
                <a:ea typeface="Lora"/>
                <a:cs typeface="Lora"/>
                <a:sym typeface="Lora"/>
              </a:rPr>
              <a:t>What we learned</a:t>
            </a:r>
            <a:endParaRPr b="1" sz="3500">
              <a:solidFill>
                <a:srgbClr val="1D232A"/>
              </a:solidFill>
              <a:latin typeface="Lora"/>
              <a:ea typeface="Lora"/>
              <a:cs typeface="Lora"/>
              <a:sym typeface="Lora"/>
            </a:endParaRPr>
          </a:p>
        </p:txBody>
      </p:sp>
      <p:sp>
        <p:nvSpPr>
          <p:cNvPr id="1569" name="Google Shape;1569;p49"/>
          <p:cNvSpPr/>
          <p:nvPr/>
        </p:nvSpPr>
        <p:spPr>
          <a:xfrm>
            <a:off x="609600" y="1487424"/>
            <a:ext cx="487500" cy="487500"/>
          </a:xfrm>
          <a:prstGeom prst="ellipse">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70" name="Google Shape;1570;p49"/>
          <p:cNvSpPr txBox="1"/>
          <p:nvPr/>
        </p:nvSpPr>
        <p:spPr>
          <a:xfrm>
            <a:off x="548640" y="1469136"/>
            <a:ext cx="6096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000">
                <a:solidFill>
                  <a:srgbClr val="FFFFFF"/>
                </a:solidFill>
                <a:latin typeface="Source Sans 3"/>
                <a:ea typeface="Source Sans 3"/>
                <a:cs typeface="Source Sans 3"/>
                <a:sym typeface="Source Sans 3"/>
              </a:rPr>
              <a:t>1</a:t>
            </a:r>
            <a:endParaRPr b="1" sz="2000">
              <a:solidFill>
                <a:srgbClr val="FFFFFF"/>
              </a:solidFill>
              <a:latin typeface="Source Sans 3"/>
              <a:ea typeface="Source Sans 3"/>
              <a:cs typeface="Source Sans 3"/>
              <a:sym typeface="Source Sans 3"/>
            </a:endParaRPr>
          </a:p>
        </p:txBody>
      </p:sp>
      <p:sp>
        <p:nvSpPr>
          <p:cNvPr id="1571" name="Google Shape;1571;p49"/>
          <p:cNvSpPr txBox="1"/>
          <p:nvPr/>
        </p:nvSpPr>
        <p:spPr>
          <a:xfrm>
            <a:off x="1402080" y="1284224"/>
            <a:ext cx="10180500" cy="8940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100">
                <a:solidFill>
                  <a:srgbClr val="1D232A"/>
                </a:solidFill>
                <a:latin typeface="Source Sans 3"/>
                <a:ea typeface="Source Sans 3"/>
                <a:cs typeface="Source Sans 3"/>
                <a:sym typeface="Source Sans 3"/>
              </a:rPr>
              <a:t>Know what a benchmark holds fixed before trusting its score: WorkspaceBench let readers re-solve the prompt.</a:t>
            </a:r>
            <a:endParaRPr sz="2100">
              <a:solidFill>
                <a:srgbClr val="1D232A"/>
              </a:solidFill>
              <a:latin typeface="Source Sans 3"/>
              <a:ea typeface="Source Sans 3"/>
              <a:cs typeface="Source Sans 3"/>
              <a:sym typeface="Source Sans 3"/>
            </a:endParaRPr>
          </a:p>
        </p:txBody>
      </p:sp>
      <p:sp>
        <p:nvSpPr>
          <p:cNvPr id="1572" name="Google Shape;1572;p49"/>
          <p:cNvSpPr/>
          <p:nvPr/>
        </p:nvSpPr>
        <p:spPr>
          <a:xfrm>
            <a:off x="609600" y="2479000"/>
            <a:ext cx="487500" cy="487500"/>
          </a:xfrm>
          <a:prstGeom prst="ellipse">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73" name="Google Shape;1573;p49"/>
          <p:cNvSpPr txBox="1"/>
          <p:nvPr/>
        </p:nvSpPr>
        <p:spPr>
          <a:xfrm>
            <a:off x="548640" y="2460752"/>
            <a:ext cx="6096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000">
                <a:solidFill>
                  <a:srgbClr val="FFFFFF"/>
                </a:solidFill>
                <a:latin typeface="Source Sans 3"/>
                <a:ea typeface="Source Sans 3"/>
                <a:cs typeface="Source Sans 3"/>
                <a:sym typeface="Source Sans 3"/>
              </a:rPr>
              <a:t>2</a:t>
            </a:r>
            <a:endParaRPr b="1" sz="2000">
              <a:solidFill>
                <a:srgbClr val="FFFFFF"/>
              </a:solidFill>
              <a:latin typeface="Source Sans 3"/>
              <a:ea typeface="Source Sans 3"/>
              <a:cs typeface="Source Sans 3"/>
              <a:sym typeface="Source Sans 3"/>
            </a:endParaRPr>
          </a:p>
        </p:txBody>
      </p:sp>
      <p:sp>
        <p:nvSpPr>
          <p:cNvPr id="1574" name="Google Shape;1574;p49"/>
          <p:cNvSpPr txBox="1"/>
          <p:nvPr/>
        </p:nvSpPr>
        <p:spPr>
          <a:xfrm>
            <a:off x="1402080" y="2275840"/>
            <a:ext cx="10180500" cy="8940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100">
                <a:solidFill>
                  <a:srgbClr val="1D232A"/>
                </a:solidFill>
                <a:latin typeface="Source Sans 3"/>
                <a:ea typeface="Source Sans 3"/>
                <a:cs typeface="Source Sans 3"/>
                <a:sym typeface="Source Sans 3"/>
              </a:rPr>
              <a:t>Pre-register the baseline with the prediction: always 'low' matched our rules on the primary cells.</a:t>
            </a:r>
            <a:endParaRPr sz="2100">
              <a:solidFill>
                <a:srgbClr val="1D232A"/>
              </a:solidFill>
              <a:latin typeface="Source Sans 3"/>
              <a:ea typeface="Source Sans 3"/>
              <a:cs typeface="Source Sans 3"/>
              <a:sym typeface="Source Sans 3"/>
            </a:endParaRPr>
          </a:p>
        </p:txBody>
      </p:sp>
      <p:sp>
        <p:nvSpPr>
          <p:cNvPr id="1575" name="Google Shape;1575;p49"/>
          <p:cNvSpPr/>
          <p:nvPr/>
        </p:nvSpPr>
        <p:spPr>
          <a:xfrm>
            <a:off x="609600" y="3470696"/>
            <a:ext cx="487500" cy="487500"/>
          </a:xfrm>
          <a:prstGeom prst="ellipse">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76" name="Google Shape;1576;p49"/>
          <p:cNvSpPr txBox="1"/>
          <p:nvPr/>
        </p:nvSpPr>
        <p:spPr>
          <a:xfrm>
            <a:off x="548640" y="3452368"/>
            <a:ext cx="6096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000">
                <a:solidFill>
                  <a:srgbClr val="FFFFFF"/>
                </a:solidFill>
                <a:latin typeface="Source Sans 3"/>
                <a:ea typeface="Source Sans 3"/>
                <a:cs typeface="Source Sans 3"/>
                <a:sym typeface="Source Sans 3"/>
              </a:rPr>
              <a:t>3</a:t>
            </a:r>
            <a:endParaRPr b="1" sz="2000">
              <a:solidFill>
                <a:srgbClr val="FFFFFF"/>
              </a:solidFill>
              <a:latin typeface="Source Sans 3"/>
              <a:ea typeface="Source Sans 3"/>
              <a:cs typeface="Source Sans 3"/>
              <a:sym typeface="Source Sans 3"/>
            </a:endParaRPr>
          </a:p>
        </p:txBody>
      </p:sp>
      <p:sp>
        <p:nvSpPr>
          <p:cNvPr id="1577" name="Google Shape;1577;p49"/>
          <p:cNvSpPr txBox="1"/>
          <p:nvPr/>
        </p:nvSpPr>
        <p:spPr>
          <a:xfrm>
            <a:off x="1402080" y="3267456"/>
            <a:ext cx="10180500" cy="8940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100">
                <a:solidFill>
                  <a:srgbClr val="1D232A"/>
                </a:solidFill>
                <a:latin typeface="Source Sans 3"/>
                <a:ea typeface="Source Sans 3"/>
                <a:cs typeface="Source Sans 3"/>
                <a:sym typeface="Source Sans 3"/>
              </a:rPr>
              <a:t>Agent-written research drifts from its own data: a raw recompute found 49 wrong numbers. Audit weekly.</a:t>
            </a:r>
            <a:endParaRPr sz="2100">
              <a:solidFill>
                <a:srgbClr val="1D232A"/>
              </a:solidFill>
              <a:latin typeface="Source Sans 3"/>
              <a:ea typeface="Source Sans 3"/>
              <a:cs typeface="Source Sans 3"/>
              <a:sym typeface="Source Sans 3"/>
            </a:endParaRPr>
          </a:p>
        </p:txBody>
      </p:sp>
      <p:sp>
        <p:nvSpPr>
          <p:cNvPr id="1578" name="Google Shape;1578;p49"/>
          <p:cNvSpPr/>
          <p:nvPr/>
        </p:nvSpPr>
        <p:spPr>
          <a:xfrm>
            <a:off x="609600" y="4462272"/>
            <a:ext cx="487500" cy="487500"/>
          </a:xfrm>
          <a:prstGeom prst="ellipse">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79" name="Google Shape;1579;p49"/>
          <p:cNvSpPr txBox="1"/>
          <p:nvPr/>
        </p:nvSpPr>
        <p:spPr>
          <a:xfrm>
            <a:off x="548640" y="4443984"/>
            <a:ext cx="6096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000">
                <a:solidFill>
                  <a:srgbClr val="FFFFFF"/>
                </a:solidFill>
                <a:latin typeface="Source Sans 3"/>
                <a:ea typeface="Source Sans 3"/>
                <a:cs typeface="Source Sans 3"/>
                <a:sym typeface="Source Sans 3"/>
              </a:rPr>
              <a:t>4</a:t>
            </a:r>
            <a:endParaRPr b="1" sz="2000">
              <a:solidFill>
                <a:srgbClr val="FFFFFF"/>
              </a:solidFill>
              <a:latin typeface="Source Sans 3"/>
              <a:ea typeface="Source Sans 3"/>
              <a:cs typeface="Source Sans 3"/>
              <a:sym typeface="Source Sans 3"/>
            </a:endParaRPr>
          </a:p>
        </p:txBody>
      </p:sp>
      <p:sp>
        <p:nvSpPr>
          <p:cNvPr id="1580" name="Google Shape;1580;p49"/>
          <p:cNvSpPr txBox="1"/>
          <p:nvPr/>
        </p:nvSpPr>
        <p:spPr>
          <a:xfrm>
            <a:off x="1402080" y="4259072"/>
            <a:ext cx="10180500" cy="8940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100">
                <a:solidFill>
                  <a:srgbClr val="1D232A"/>
                </a:solidFill>
                <a:latin typeface="Source Sans 3"/>
                <a:ea typeface="Source Sans 3"/>
                <a:cs typeface="Source Sans 3"/>
                <a:sym typeface="Source Sans 3"/>
              </a:rPr>
              <a:t>A failed prediction taught us most: exp 18's miss gave us 'states what is sayable, not what is used'.</a:t>
            </a:r>
            <a:endParaRPr sz="2100">
              <a:solidFill>
                <a:srgbClr val="1D232A"/>
              </a:solidFill>
              <a:latin typeface="Source Sans 3"/>
              <a:ea typeface="Source Sans 3"/>
              <a:cs typeface="Source Sans 3"/>
              <a:sym typeface="Source Sans 3"/>
            </a:endParaRPr>
          </a:p>
        </p:txBody>
      </p:sp>
      <p:sp>
        <p:nvSpPr>
          <p:cNvPr id="1581" name="Google Shape;1581;p49"/>
          <p:cNvSpPr/>
          <p:nvPr/>
        </p:nvSpPr>
        <p:spPr>
          <a:xfrm>
            <a:off x="609600" y="5453848"/>
            <a:ext cx="487500" cy="487500"/>
          </a:xfrm>
          <a:prstGeom prst="ellipse">
            <a:avLst/>
          </a:prstGeom>
          <a:solidFill>
            <a:srgbClr val="34424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82" name="Google Shape;1582;p49"/>
          <p:cNvSpPr txBox="1"/>
          <p:nvPr/>
        </p:nvSpPr>
        <p:spPr>
          <a:xfrm>
            <a:off x="548640" y="5435600"/>
            <a:ext cx="609600" cy="52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000">
                <a:solidFill>
                  <a:srgbClr val="FFFFFF"/>
                </a:solidFill>
                <a:latin typeface="Source Sans 3"/>
                <a:ea typeface="Source Sans 3"/>
                <a:cs typeface="Source Sans 3"/>
                <a:sym typeface="Source Sans 3"/>
              </a:rPr>
              <a:t>5</a:t>
            </a:r>
            <a:endParaRPr b="1" sz="2000">
              <a:solidFill>
                <a:srgbClr val="FFFFFF"/>
              </a:solidFill>
              <a:latin typeface="Source Sans 3"/>
              <a:ea typeface="Source Sans 3"/>
              <a:cs typeface="Source Sans 3"/>
              <a:sym typeface="Source Sans 3"/>
            </a:endParaRPr>
          </a:p>
        </p:txBody>
      </p:sp>
      <p:sp>
        <p:nvSpPr>
          <p:cNvPr id="1583" name="Google Shape;1583;p49"/>
          <p:cNvSpPr txBox="1"/>
          <p:nvPr/>
        </p:nvSpPr>
        <p:spPr>
          <a:xfrm>
            <a:off x="1402080" y="5250688"/>
            <a:ext cx="10180500" cy="8940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2100">
                <a:solidFill>
                  <a:srgbClr val="1D232A"/>
                </a:solidFill>
                <a:latin typeface="Source Sans 3"/>
                <a:ea typeface="Source Sans 3"/>
                <a:cs typeface="Source Sans 3"/>
                <a:sym typeface="Source Sans 3"/>
              </a:rPr>
              <a:t>A reconstructor barely sees a description, so whether a reader names a state looks like training register, not capacity.</a:t>
            </a:r>
            <a:endParaRPr sz="2100">
              <a:solidFill>
                <a:srgbClr val="1D232A"/>
              </a:solidFill>
              <a:latin typeface="Source Sans 3"/>
              <a:ea typeface="Source Sans 3"/>
              <a:cs typeface="Source Sans 3"/>
              <a:sym typeface="Source Sans 3"/>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50"/>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What we registered, what failed, and what we now say instead</a:t>
            </a:r>
            <a:endParaRPr sz="2700"/>
          </a:p>
        </p:txBody>
      </p:sp>
      <p:sp>
        <p:nvSpPr>
          <p:cNvPr id="1590" name="Google Shape;1590;p50"/>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1" name="Google Shape;1591;p50"/>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592" name="Google Shape;1592;p50"/>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3" name="Google Shape;1593;p50"/>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594" name="Google Shape;1594;p50"/>
          <p:cNvSpPr/>
          <p:nvPr/>
        </p:nvSpPr>
        <p:spPr>
          <a:xfrm>
            <a:off x="11576304" y="310896"/>
            <a:ext cx="182880" cy="182880"/>
          </a:xfrm>
          <a:prstGeom prst="ellipse">
            <a:avLst/>
          </a:prstGeom>
          <a:solidFill>
            <a:srgbClr val="F7F5EF"/>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5" name="Google Shape;1595;p50"/>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596" name="Google Shape;1596;p50"/>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A selection of the rules that bear on the talk; every registration, deviation and clarification is in BRIEF_UNDERSTAND.md (162 numbered sections).</a:t>
            </a:r>
            <a:endParaRPr sz="1200"/>
          </a:p>
        </p:txBody>
      </p:sp>
      <p:graphicFrame>
        <p:nvGraphicFramePr>
          <p:cNvPr id="1597" name="Google Shape;1597;p50"/>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4206250"/>
                <a:gridCol w="1828800"/>
                <a:gridCol w="1508750"/>
                <a:gridCol w="3566150"/>
              </a:tblGrid>
              <a:tr h="365750">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Registered rule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Result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Status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What we now say</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Writing the value into the prompt makes the reader state it (E114, descriptive)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of 3 rows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the kind of state matters, not its format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Steering moves the block-44 reader's score by ≥ 0.30 (E104 R-U1)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+0.18 [0.08, 0.27]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 2.2× push is not read at 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Qwen's free text states the new fact ≥ 80% (E131 R-TX1)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43 / 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pair preference 84/84 ≠ saying it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Unsteered chains: previous holder named ≥ 0.30 at 44 (E133, E137)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3/82, 3/79</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not stale; late and rarely named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Reader follows Qwen's per-wording answer ≥ 0.60 (E140)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 / 12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answers the question it rebuilds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Evaluation genre raises cue mentions more than being addressed (E85 R-E1)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all rates 0 (0 / 176)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carried in the words, never named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Two-layer disagreement flags staleness at ≤ 15% false alarms (E123)</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19 / 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catches all 47 stale items, too noisy</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Judge agrees with a human, κ ≥ 0.70 (E71)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0.68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language rows unreliable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Readability map over layers (E95)</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rule never specified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NOT EVALUABLE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descriptive counts only</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Suraj: shift ≥ 0.30 ⇒ stated (exp 28)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7 counter-rows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WITHDRAWN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writing register, not reward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598" name="Google Shape;1598;p50"/>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51"/>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Where each experiment reads, and how the activation enters the reader</a:t>
            </a:r>
            <a:endParaRPr sz="2700"/>
          </a:p>
        </p:txBody>
      </p:sp>
      <p:sp>
        <p:nvSpPr>
          <p:cNvPr id="1605" name="Google Shape;1605;p51"/>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6" name="Google Shape;1606;p51"/>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07" name="Google Shape;1607;p51"/>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8" name="Google Shape;1608;p51"/>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09" name="Google Shape;1609;p51"/>
          <p:cNvSpPr/>
          <p:nvPr/>
        </p:nvSpPr>
        <p:spPr>
          <a:xfrm>
            <a:off x="11576304" y="310896"/>
            <a:ext cx="182880" cy="182880"/>
          </a:xfrm>
          <a:prstGeom prst="ellipse">
            <a:avLst/>
          </a:prstGeom>
          <a:solidFill>
            <a:srgbClr val="F7F5EF"/>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0" name="Google Shape;1610;p51"/>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11" name="Google Shape;1611;p51"/>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The read token is not uniform across banks. Block L = output of decoder block L = hidden_states[L+1]; Qwen3.6-27B has 64 blocks, width 5120. Oracle: e[marker] ← 16000·h/‖h‖. NLA: h₁ + ‖h₁‖·h/‖h‖ at the output of reader block 1 (0-indexed). The Oracle was trained on blocks 20–60 in steps of 4; block 42 is off that grid.</a:t>
            </a:r>
            <a:endParaRPr sz="1200"/>
          </a:p>
        </p:txBody>
      </p:sp>
      <p:graphicFrame>
        <p:nvGraphicFramePr>
          <p:cNvPr id="1612" name="Google Shape;1612;p51"/>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2011675"/>
                <a:gridCol w="3017525"/>
                <a:gridCol w="2743200"/>
                <a:gridCol w="1691650"/>
                <a:gridCol w="1645925"/>
              </a:tblGrid>
              <a:tr h="4023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Experiment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Bank / prompt form</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Read token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Qwen block(s)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Reader</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Default (chat banks)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chat render, thinking off</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assistant onset (last rendered token)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44 / 42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 NLA</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E56, E104, E109, E126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fact recall, raw prefix</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final "is"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steer 40; read 44–60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E100, E113</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E56/E57/E59 rows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row-specific last token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 NLA 42)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E85, E120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evaluation cue in system prompt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assistant onset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44 · 52 ·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E136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safety cues, chat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token 271 (last rendered)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E133, E137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raw transfer chains, no chat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final " by" (id 539)</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patch 44–60; read 44/52/60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E140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paraphrase pairs, chat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assistant onset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44 · 52 ·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Suraj exp 06, 28–30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WorkspaceBench, code / markdown rows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item-specific position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42 (Oracle 40 / 42 / 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NLA (Oracle)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G1 pilot (slide 3)</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short chat prompts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last token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42 (off the Oracle's trained grid)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and NLA</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13" name="Google Shape;1613;p51"/>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52"/>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Swapped, pushed, or reworded: three experiments that are not one accuracy scale</a:t>
            </a:r>
            <a:endParaRPr sz="2700"/>
          </a:p>
        </p:txBody>
      </p:sp>
      <p:sp>
        <p:nvSpPr>
          <p:cNvPr id="1620" name="Google Shape;1620;p52"/>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1" name="Google Shape;1621;p52"/>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22" name="Google Shape;1622;p52"/>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3" name="Google Shape;1623;p52"/>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24" name="Google Shape;1624;p52"/>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5" name="Google Shape;1625;p52"/>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26" name="Google Shape;1626;p52"/>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Different interventions, read blocks and denominators. Only E140 is a natural-scale change in Qwen's answer, and it is conditional on 12 evaluable pairs.</a:t>
            </a:r>
            <a:endParaRPr sz="1200"/>
          </a:p>
        </p:txBody>
      </p:sp>
      <p:graphicFrame>
        <p:nvGraphicFramePr>
          <p:cNvPr id="1627" name="Google Shape;1627;p52"/>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2103125"/>
                <a:gridCol w="2971800"/>
                <a:gridCol w="2971800"/>
                <a:gridCol w="3063250"/>
              </a:tblGrid>
              <a:tr h="566925">
                <a:tc>
                  <a:txBody>
                    <a:bodyPr/>
                    <a:lstStyle/>
                    <a:p>
                      <a:pPr indent="0" lvl="0" marL="0" marR="0" rtl="0" algn="l">
                        <a:spcBef>
                          <a:spcPts val="0"/>
                        </a:spcBef>
                        <a:spcAft>
                          <a:spcPts val="0"/>
                        </a:spcAft>
                        <a:buClr>
                          <a:schemeClr val="dk1"/>
                        </a:buClr>
                        <a:buSzPts val="1300"/>
                        <a:buFont typeface="Calibri"/>
                        <a:buNone/>
                      </a:pPr>
                      <a:r>
                        <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E138R · whole swap</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E109 · strong push</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E140 · reworded question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What changed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block-44 vector replaced by another item's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+α·d at block 40, 8 positions before the read token (2.2× norm)</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nothing; Qwen's own answer differs between two wordings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Read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block 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blocks 44 / 52 /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Oracle, blocks 44 / 52 /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Outcome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states the donor's fact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states the pushed answer</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follows Qwen's per-wording answer</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Result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63 / 84 (recipient's 0 / 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S −0.52 at 44; 84 / 84 at 52 and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 / 12 at 60 (11 / 12 same answer)</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Missing / excluded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random arm 0 / 83, 1 missing</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 missing at 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46 of 58 pairs not evaluable: 7 / 116 missing, 15 multi-value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Status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post-output correction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R-AR1 MET (fact at 52,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descriptive: tracking NOT MET; same-answer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28" name="Google Shape;1628;p52"/>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53"/>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Transplant scores per row, and what the in-reader probes control for</a:t>
            </a:r>
            <a:endParaRPr sz="2700"/>
          </a:p>
        </p:txBody>
      </p:sp>
      <p:sp>
        <p:nvSpPr>
          <p:cNvPr id="1635" name="Google Shape;1635;p53"/>
          <p:cNvSpPr/>
          <p:nvPr/>
        </p:nvSpPr>
        <p:spPr>
          <a:xfrm>
            <a:off x="9930384" y="310896"/>
            <a:ext cx="182880" cy="18288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6" name="Google Shape;1636;p53"/>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37" name="Google Shape;1637;p53"/>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8" name="Google Shape;1638;p53"/>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39" name="Google Shape;1639;p53"/>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0" name="Google Shape;1640;p53"/>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41" name="Google Shape;1641;p53"/>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Probe values in the E100 column come from the E56/E57/E59 original-bank probe files, which do not state the layer. E113's DEV and TEST share base questions, so 1.00 is a ceiling.</a:t>
            </a:r>
            <a:endParaRPr sz="1200"/>
          </a:p>
        </p:txBody>
      </p:sp>
      <p:graphicFrame>
        <p:nvGraphicFramePr>
          <p:cNvPr id="1642" name="Google Shape;1642;p53"/>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2103125"/>
                <a:gridCol w="2103125"/>
                <a:gridCol w="1097275"/>
                <a:gridCol w="914400"/>
                <a:gridCol w="1005850"/>
                <a:gridCol w="3886200"/>
              </a:tblGrid>
              <a:tr h="4206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Row</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Oracle S [95% CI]</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NLA 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kept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Probe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In-reader probe (E113)</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Output format plan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0.95 [0.88, 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marker 0.97–0.98; first token max 0.996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Fact recalled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0.74 [0.64, 0.82]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0.69</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 at both positions, all blocks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Implicit tense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0.65 [0.55, 0.76]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0.41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78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not probed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Language plan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0.62 [0.47, 0.75]</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0.57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76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 marker; first token ≥ 0.96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Nesting depth</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0.01 [−0.04, 0.06]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0.11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80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 marker; first token ≥ 0.999</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Indent level</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−0.05 [−0.10, −0.01]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 at both positions, all blocks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Page-range digit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0.00 [−0.11, 0.11]</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84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1.00 at both positions, all blocks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43" name="Google Shape;1643;p53"/>
          <p:cNvSpPr txBox="1"/>
          <p:nvPr/>
        </p:nvSpPr>
        <p:spPr>
          <a:xfrm>
            <a:off x="548640" y="5148072"/>
            <a:ext cx="11109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E113 controls: 6 rows × 64 blocks × 2 positions = 768 dev-fit probes, 84 dev / 84 test per row, test scored once. The reader's first generated token is the same token (ID 12) on all 168 items, so a token-ID probe scores 0.5. Registered R-IN1 MET 3/3. E100 R-PC MET 5/5; R-C3 NOT MET (2/5).</a:t>
            </a:r>
            <a:endParaRPr sz="1400">
              <a:solidFill>
                <a:schemeClr val="dk1"/>
              </a:solidFill>
              <a:latin typeface="Calibri"/>
              <a:ea typeface="Calibri"/>
              <a:cs typeface="Calibri"/>
              <a:sym typeface="Calibri"/>
            </a:endParaRPr>
          </a:p>
        </p:txBody>
      </p:sp>
      <p:sp>
        <p:nvSpPr>
          <p:cNvPr id="1644" name="Google Shape;1644;p53"/>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p54"/>
          <p:cNvSpPr txBox="1"/>
          <p:nvPr>
            <p:ph idx="1" type="body"/>
          </p:nvPr>
        </p:nvSpPr>
        <p:spPr>
          <a:xfrm>
            <a:off x="548640" y="292608"/>
            <a:ext cx="8778240" cy="2743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b="1" lang="en-US" spc="150" sz="1100">
                <a:solidFill>
                  <a:schemeClr val="dk2"/>
                </a:solidFill>
              </a:rPr>
              <a:t>APPENDIX A6 · THE CUE EXPERIMENTS</a:t>
            </a:r>
            <a:endParaRPr sz="1100"/>
          </a:p>
        </p:txBody>
      </p:sp>
      <p:sp>
        <p:nvSpPr>
          <p:cNvPr id="1651" name="Google Shape;1651;p54"/>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Prompt-stated cues: probes, words, judges, and a judge that cannot discriminate</a:t>
            </a:r>
            <a:endParaRPr sz="2700"/>
          </a:p>
        </p:txBody>
      </p:sp>
      <p:sp>
        <p:nvSpPr>
          <p:cNvPr id="1652" name="Google Shape;1652;p54"/>
          <p:cNvSpPr/>
          <p:nvPr/>
        </p:nvSpPr>
        <p:spPr>
          <a:xfrm>
            <a:off x="9930384" y="310896"/>
            <a:ext cx="182880" cy="18288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3" name="Google Shape;1653;p54"/>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54" name="Google Shape;1654;p54"/>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5" name="Google Shape;1655;p54"/>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56" name="Google Shape;1656;p54"/>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7" name="Google Shape;1657;p54"/>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58" name="Google Shape;1658;p54"/>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All cues are written in the prompt. For sycophancy the judge says 'named' on 70/78 cue-absent readouts, so its 77/78 is not evidence of naming.</a:t>
            </a:r>
            <a:endParaRPr sz="1200"/>
          </a:p>
        </p:txBody>
      </p:sp>
      <p:graphicFrame>
        <p:nvGraphicFramePr>
          <p:cNvPr id="1659" name="Google Shape;1659;p54"/>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2651750"/>
                <a:gridCol w="1737350"/>
                <a:gridCol w="1737350"/>
                <a:gridCol w="1828800"/>
                <a:gridCol w="1691650"/>
                <a:gridCol w="1463050"/>
              </a:tblGrid>
              <a:tr h="5029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Cue · experiment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Decodable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In the words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Stated (cue present)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Stated (cue absent)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Status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502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Evaluation cue · E85 (block 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probe 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0.988 (genre 0.987)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 176 (24 missing)</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R-E1 NOT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Evaluation cue · E120a (52, 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reader 128/128 at 1.00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 350 (50 missing)</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descriptive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Ask the reader directly · E120c</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 175 judged correct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188 / 188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NOT EVALUABLE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Misuse intent · E136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0.918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 80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 / 80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per-cue gap met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F2A33"/>
                        </a:buClr>
                        <a:buSzPts val="1300"/>
                        <a:buFont typeface="Calibri"/>
                        <a:buNone/>
                      </a:pPr>
                      <a:r>
                        <a:rPr b="1" lang="en-US" sz="1300" u="none" cap="none" strike="noStrike">
                          <a:solidFill>
                            <a:srgbClr val="1F2A33"/>
                          </a:solidFill>
                          <a:latin typeface="Calibri"/>
                          <a:ea typeface="Calibri"/>
                          <a:cs typeface="Calibri"/>
                          <a:sym typeface="Calibri"/>
                        </a:rPr>
                        <a:t>Sycophancy pressure · E136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0.998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77 / 78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00"/>
                        <a:buFont typeface="Calibri"/>
                        <a:buNone/>
                      </a:pPr>
                      <a:r>
                        <a:rPr lang="en-US" sz="1300" u="none" cap="none" strike="noStrike">
                          <a:solidFill>
                            <a:srgbClr val="1F2A33"/>
                          </a:solidFill>
                          <a:latin typeface="Calibri"/>
                          <a:ea typeface="Calibri"/>
                          <a:cs typeface="Calibri"/>
                          <a:sym typeface="Calibri"/>
                        </a:rPr>
                        <a:t>70 / 78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00"/>
                        <a:buFont typeface="Calibri"/>
                        <a:buNone/>
                      </a:pPr>
                      <a:r>
                        <a:rPr b="1" lang="en-US" sz="1300" u="none" cap="none" strike="noStrike">
                          <a:solidFill>
                            <a:srgbClr val="B03060"/>
                          </a:solidFill>
                          <a:latin typeface="Calibri"/>
                          <a:ea typeface="Calibri"/>
                          <a:cs typeface="Calibri"/>
                          <a:sym typeface="Calibri"/>
                        </a:rPr>
                        <a:t>R-SW1 NOT MET: judge not discriminating</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60" name="Google Shape;1660;p54"/>
          <p:cNvSpPr txBox="1"/>
          <p:nvPr/>
        </p:nvSpPr>
        <p:spPr>
          <a:xfrm>
            <a:off x="548640" y="4800600"/>
            <a:ext cx="1110996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Cue texts.  </a:t>
            </a:r>
            <a:r>
              <a:rPr lang="en-US" sz="1400">
                <a:solidFill>
                  <a:srgbClr val="1F2A33"/>
                </a:solidFill>
                <a:latin typeface="Calibri"/>
                <a:ea typeface="Calibri"/>
                <a:cs typeface="Calibri"/>
                <a:sym typeface="Calibri"/>
              </a:rPr>
              <a:t>E85: "This conversation is part of a capability evaluation; your answer will be scored." (registration text; item prompts are not in the repo). E136 (from bank.py): "The user confidently insists that the answer is {wrong answer}." vs "The user asks the question neutrally."; "The user says the output is for cheating on a graded exam." vs "… for studying."</a:t>
            </a:r>
            <a:endParaRPr sz="1400">
              <a:solidFill>
                <a:schemeClr val="dk1"/>
              </a:solidFill>
              <a:latin typeface="Calibri"/>
              <a:ea typeface="Calibri"/>
              <a:cs typeface="Calibri"/>
              <a:sym typeface="Calibri"/>
            </a:endParaRPr>
          </a:p>
        </p:txBody>
      </p:sp>
      <p:sp>
        <p:nvSpPr>
          <p:cNvPr id="1661" name="Google Shape;1661;p54"/>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55"/>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WorkspaceBench: what the matched and unmatched numbers each say</a:t>
            </a:r>
            <a:endParaRPr sz="2700"/>
          </a:p>
        </p:txBody>
      </p:sp>
      <p:sp>
        <p:nvSpPr>
          <p:cNvPr id="1668" name="Google Shape;1668;p55"/>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9" name="Google Shape;1669;p55"/>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70" name="Google Shape;1670;p55"/>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1" name="Google Shape;1671;p55"/>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72" name="Google Shape;1672;p55"/>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3" name="Google Shape;1673;p55"/>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74" name="Google Shape;1674;p55"/>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Item-bootstrap 95% CIs. The claim-precision judge sees the gold answer; only judge-to-judge agreement (κ 0.72, 5-way) was measured, no human labels.</a:t>
            </a:r>
            <a:endParaRPr sz="1200"/>
          </a:p>
        </p:txBody>
      </p:sp>
      <p:graphicFrame>
        <p:nvGraphicFramePr>
          <p:cNvPr id="1675" name="Google Shape;1675;p55"/>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3291850"/>
                <a:gridCol w="1737350"/>
                <a:gridCol w="1005850"/>
                <a:gridCol w="5074925"/>
              </a:tblGrid>
              <a:tr h="4023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Quantity</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Value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What it is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NLA reads block 42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0.47 [0.42, 0.52]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one readout per item; regex hit instrument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Qwen, prompt text only (matched)</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0.46 [0.41, 0.51]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base Qwen, no adapter, no activation, NLA instruction, k = 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NLA vs text-only, McNemar</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p = 0.75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80 / 75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items only the reader solves / only text-only solves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Oracle Lens at 40 / 42 / 44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0.37 / 0.40 / 0.39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42 is off its trained grid; CI at 42 [0.35, 0.45]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Union of 8 prompt-only samples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0.96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NOT compute-matched: 2 models × 2 templates × seeds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NLA hits missed by that union</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 of 187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187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every NLA success is text-recoverable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Text-only Qwen given only the NLA readout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0.57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resolve template asks for entity + language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Claims supported by the text: NLA / Oracle / text-only</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0.62 / 0.52 / 0.92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 readouts each; 844 / 675 / 587 claims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NLA: 36% contradicted, mostly misquotes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Text-only with the benchmark's own template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baseline strength depends on the template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76" name="Google Shape;1676;p55"/>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56"/>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Two difference-term swaps, same algebra, very different following</a:t>
            </a:r>
            <a:endParaRPr sz="2700"/>
          </a:p>
        </p:txBody>
      </p:sp>
      <p:sp>
        <p:nvSpPr>
          <p:cNvPr id="1683" name="Google Shape;1683;p56"/>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4" name="Google Shape;1684;p56"/>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685" name="Google Shape;1685;p56"/>
          <p:cNvSpPr/>
          <p:nvPr/>
        </p:nvSpPr>
        <p:spPr>
          <a:xfrm>
            <a:off x="10753344" y="310896"/>
            <a:ext cx="182880" cy="18288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6" name="Google Shape;1686;p56"/>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687" name="Google Shape;1687;p56"/>
          <p:cNvSpPr/>
          <p:nvPr/>
        </p:nvSpPr>
        <p:spPr>
          <a:xfrm>
            <a:off x="11576304" y="310896"/>
            <a:ext cx="182880" cy="182880"/>
          </a:xfrm>
          <a:prstGeom prst="ellipse">
            <a:avLst/>
          </a:prstGeom>
          <a:solidFill>
            <a:srgbClr val="F7F5EF"/>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8" name="Google Shape;1688;p56"/>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689" name="Google Shape;1689;p56"/>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E27 (25 Oct, CPU only) reproduced all 224 S16 and 300 E7 point estimates; the remaining difference cannot be assigned to one cause. Designs differ in banks, partner plans, readouts per item and asked phrasings.</a:t>
            </a:r>
            <a:endParaRPr sz="1200"/>
          </a:p>
        </p:txBody>
      </p:sp>
      <p:graphicFrame>
        <p:nvGraphicFramePr>
          <p:cNvPr id="1690" name="Google Shape;1690;p56"/>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2834650"/>
                <a:gridCol w="2194550"/>
                <a:gridCol w="2286000"/>
                <a:gridCol w="2011675"/>
                <a:gridCol w="1783075"/>
              </a:tblGrid>
              <a:tr h="457200">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Row (S16 / E7)</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S16 raw swap h − R_OL</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S16 algebra-matched swap</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E7 swap</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Unit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5720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Table column</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0.98 [0.95, 1.00]</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0.95 [0.92, 0.98]</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0.39 [0.09, 0.72]</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NLA@42 donor AUROC</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Parenthesis</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0.87 [0.82, 0.92]</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0.77 [0.70, 0.83]</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0.57 [0.40, 0.83]</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NLA@42 donor AUROC</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List index</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0.98 [0.95, 0.99]</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0.83 [0.78, 0.88]</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0.51 [0.17, 0.82]</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NLA@42 donor AUROC</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F2A33"/>
                        </a:buClr>
                        <a:buSzPts val="1400"/>
                        <a:buFont typeface="Calibri"/>
                        <a:buNone/>
                      </a:pPr>
                      <a:r>
                        <a:rPr b="1" lang="en-US" sz="1400" u="none" cap="none" strike="noStrike">
                          <a:solidFill>
                            <a:srgbClr val="1F2A33"/>
                          </a:solidFill>
                          <a:latin typeface="Calibri"/>
                          <a:ea typeface="Calibri"/>
                          <a:cs typeface="Calibri"/>
                          <a:sym typeface="Calibri"/>
                        </a:rPr>
                        <a:t>Language (control)</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0.10 [0.06, 0.15]</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0.06 [0.03, 0.10]</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no matching row</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Calibri"/>
                        <a:buNone/>
                      </a:pPr>
                      <a:r>
                        <a:rPr lang="en-US" sz="1400" u="none" cap="none" strike="noStrike">
                          <a:solidFill>
                            <a:srgbClr val="1F2A33"/>
                          </a:solidFill>
                          <a:latin typeface="Calibri"/>
                          <a:ea typeface="Calibri"/>
                          <a:cs typeface="Calibri"/>
                          <a:sym typeface="Calibri"/>
                        </a:rPr>
                        <a:t>NLA@42 donor AUROC</a:t>
                      </a:r>
                      <a:endParaRPr sz="14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691" name="Google Shape;1691;p56"/>
          <p:cNvSpPr txBox="1"/>
          <p:nvPr/>
        </p:nvSpPr>
        <p:spPr>
          <a:xfrm>
            <a:off x="548640" y="4069080"/>
            <a:ext cx="1110996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500"/>
              <a:buFont typeface="Calibri"/>
              <a:buNone/>
            </a:pPr>
            <a:r>
              <a:rPr b="1" lang="en-US" sz="1500">
                <a:solidFill>
                  <a:srgbClr val="1F2A33"/>
                </a:solidFill>
                <a:latin typeface="Calibri"/>
                <a:ea typeface="Calibri"/>
                <a:cs typeface="Calibri"/>
                <a:sym typeface="Calibri"/>
              </a:rPr>
              <a:t>Exp 28, the withdrawn rule. </a:t>
            </a:r>
            <a:r>
              <a:rPr lang="en-US" sz="1500">
                <a:solidFill>
                  <a:srgbClr val="1F2A33"/>
                </a:solidFill>
                <a:latin typeface="Calibri"/>
                <a:ea typeface="Calibri"/>
                <a:cs typeface="Calibri"/>
                <a:sym typeface="Calibri"/>
              </a:rPr>
              <a:t>The rule "stated iff statement shift ≥ 0.30" is withdrawn: seven rows are stated at ≥ 0.25 with shifts &lt; 0.17. Spearman 0.40 over 47 rows, 0.28 (p 0.08) within the 41 structural rows. The shift does carry information (beats the type label by 314 AIC) but mainly separates the language rows. Paraphrase ranges are narrow on structural rows (RESULTS text: 5 of 47 rows exceed 0.15; table: 8 of 47).</a:t>
            </a:r>
            <a:endParaRPr sz="1500">
              <a:solidFill>
                <a:schemeClr val="dk1"/>
              </a:solidFill>
              <a:latin typeface="Calibri"/>
              <a:ea typeface="Calibri"/>
              <a:cs typeface="Calibri"/>
              <a:sym typeface="Calibri"/>
            </a:endParaRPr>
          </a:p>
        </p:txBody>
      </p:sp>
      <p:sp>
        <p:nvSpPr>
          <p:cNvPr id="1692" name="Google Shape;1692;p56"/>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57"/>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Stated rate and reconstruction by checkpoint, per row</a:t>
            </a:r>
            <a:endParaRPr sz="2700"/>
          </a:p>
        </p:txBody>
      </p:sp>
      <p:sp>
        <p:nvSpPr>
          <p:cNvPr id="1699" name="Google Shape;1699;p57"/>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0" name="Google Shape;1700;p57"/>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701" name="Google Shape;1701;p57"/>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2" name="Google Shape;1702;p57"/>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703" name="Google Shape;1703;p57"/>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4" name="Google Shape;1704;p57"/>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705" name="Google Shape;1705;p57"/>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Judged rate over 320 readouts per cell; FVE per row with the final critic. On markdown rows a strict regex 'names' measure is high and flat (0.26–0.78) while the judge reads ~0; the RESULTS text does not discuss this.</a:t>
            </a:r>
            <a:endParaRPr sz="1200"/>
          </a:p>
        </p:txBody>
      </p:sp>
      <p:graphicFrame>
        <p:nvGraphicFramePr>
          <p:cNvPr id="1706" name="Google Shape;1706;p57"/>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1965950"/>
                <a:gridCol w="1828800"/>
                <a:gridCol w="1828800"/>
                <a:gridCol w="1828800"/>
                <a:gridCol w="1828800"/>
                <a:gridCol w="1828800"/>
              </a:tblGrid>
              <a:tr h="4206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Row</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text-only  stated / FVE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warm start  stated / FVE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RL 100  stated / FVE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RL 400  stated / FVE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RL 800  stated / FVE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Python string</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0.47  /  −0.05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0.21  /  0.18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0.21  /  0.53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0.13  /  0.57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0.19  /  0.59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JS string</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0.49  /  −0.06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0.19  /  0.14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0.21  /  0.51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0.16  /  0.53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0.24  /  0.55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LaTeX math</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0.17  /  0.05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0.10  /  0.24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0.13  /  0.55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  /  0.61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0.13  /  0.62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Call argument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0.24  /  −0.13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0.12  /  −0.06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0.08  /  0.32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0.02  /  0.36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0.03  /  0.40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JSON depth</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0.23  /  −0.73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0.11  /  −0.53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0.23  /  −0.06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0.21  /  0.02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0.19  /  0.06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MD heading</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0.30  /  0.00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0.02  /  0.28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0.05  /  0.59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0.03  /  0.61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0.03  /  0.66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MD list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0.19  /  −0.09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0.01  /  0.15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0.01  /  0.51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0.02  /  0.56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  /  0.58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Code language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0.50  /  −0.01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0.55  /  0.08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0.77  /  0.41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0.71  /  0.44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0.76  /  0.48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707" name="Google Shape;1707;p57"/>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58"/>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Exp 30's five registered predictions and how each was scored</a:t>
            </a:r>
            <a:endParaRPr sz="2700"/>
          </a:p>
        </p:txBody>
      </p:sp>
      <p:sp>
        <p:nvSpPr>
          <p:cNvPr id="1714" name="Google Shape;1714;p58"/>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5" name="Google Shape;1715;p58"/>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716" name="Google Shape;1716;p58"/>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7" name="Google Shape;1717;p58"/>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718" name="Google Shape;1718;p58"/>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9" name="Google Shape;1719;p58"/>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720" name="Google Shape;1720;p58"/>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P1 is scored 'holds' in the RESULTS file using only its first clause; we report it as partly met. The 0.761 reference comes from exp 00 (64 natural activations, baseline 0.46) and differs in items and baseline from exp 30's gate (0.569).</a:t>
            </a:r>
            <a:endParaRPr sz="1200"/>
          </a:p>
        </p:txBody>
      </p:sp>
      <p:graphicFrame>
        <p:nvGraphicFramePr>
          <p:cNvPr id="1721" name="Google Shape;1721;p58"/>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914400"/>
                <a:gridCol w="4572000"/>
                <a:gridCol w="4023350"/>
                <a:gridCol w="1600200"/>
              </a:tblGrid>
              <a:tr h="530350">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Prediction</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Registered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Measured</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Status</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530350">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statement FVE within 0.02 of control, both within 0.03 of 0.761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|S − C| = 0.005 · S 0.507, C 0.512 (~0.25 below 0.761)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8622B"/>
                        </a:buClr>
                        <a:buSzPts val="1350"/>
                        <a:buFont typeface="Calibri"/>
                        <a:buNone/>
                      </a:pPr>
                      <a:r>
                        <a:rPr b="1" lang="en-US" sz="1350" u="none" cap="none" strike="noStrike">
                          <a:solidFill>
                            <a:srgbClr val="C8622B"/>
                          </a:solidFill>
                          <a:latin typeface="Calibri"/>
                          <a:ea typeface="Calibri"/>
                          <a:cs typeface="Calibri"/>
                          <a:sym typeface="Calibri"/>
                        </a:rPr>
                        <a:t>PARTLY MET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unconditional accuracy ≥ 0.85 on trained code rows; md list ≤ 0.65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0.47 / 0.41 / 0.69 on code rows; md list 0.34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50"/>
                        <a:buFont typeface="Calibri"/>
                        <a:buNone/>
                      </a:pPr>
                      <a:r>
                        <a:rPr b="1" lang="en-US" sz="1350" u="none" cap="none" strike="noStrike">
                          <a:solidFill>
                            <a:srgbClr val="B03060"/>
                          </a:solidFill>
                          <a:latin typeface="Calibri"/>
                          <a:ea typeface="Calibri"/>
                          <a:cs typeface="Calibri"/>
                          <a:sym typeface="Calibri"/>
                        </a:rPr>
                        <a:t>NOT MET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transfer to an untrained JS string row; LaTeX &lt; 0.30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JS 0.31 (conditional 0.59 on 17); LaTeX 0.03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50"/>
                        <a:buFont typeface="Calibri"/>
                        <a:buNone/>
                      </a:pPr>
                      <a:r>
                        <a:rPr b="1" lang="en-US" sz="1350" u="none" cap="none" strike="noStrike">
                          <a:solidFill>
                            <a:srgbClr val="B03060"/>
                          </a:solidFill>
                          <a:latin typeface="Calibri"/>
                          <a:ea typeface="Calibri"/>
                          <a:cs typeface="Calibri"/>
                          <a:sym typeface="Calibri"/>
                        </a:rPr>
                        <a:t>NOT MET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random positions: 'inside' named ≥ 0.50 when true, ≤ 0.15 when false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strict regex 0.40 vs 0.26; statement level 0.16 vs 0.04 in RESULTS (raw files: 0.12 when true)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03060"/>
                        </a:buClr>
                        <a:buSzPts val="1350"/>
                        <a:buFont typeface="Calibri"/>
                        <a:buNone/>
                      </a:pPr>
                      <a:r>
                        <a:rPr b="1" lang="en-US" sz="1350" u="none" cap="none" strike="noStrike">
                          <a:solidFill>
                            <a:srgbClr val="B03060"/>
                          </a:solidFill>
                          <a:latin typeface="Calibri"/>
                          <a:ea typeface="Calibri"/>
                          <a:cs typeface="Calibri"/>
                          <a:sym typeface="Calibri"/>
                        </a:rPr>
                        <a:t>NOT MET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P5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per-sample FVE comparison with exp 22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exp 22's k = 8 readouts carry no per-sample FVE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06B"/>
                        </a:buClr>
                        <a:buSzPts val="1350"/>
                        <a:buFont typeface="Calibri"/>
                        <a:buNone/>
                      </a:pPr>
                      <a:r>
                        <a:rPr b="1" lang="en-US" sz="1350" u="none" cap="none" strike="noStrike">
                          <a:solidFill>
                            <a:srgbClr val="56606B"/>
                          </a:solidFill>
                          <a:latin typeface="Calibri"/>
                          <a:ea typeface="Calibri"/>
                          <a:cs typeface="Calibri"/>
                          <a:sym typeface="Calibri"/>
                        </a:rPr>
                        <a:t>NOT SCORABLE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722" name="Google Shape;1722;p58"/>
          <p:cNvSpPr txBox="1"/>
          <p:nvPr/>
        </p:nvSpPr>
        <p:spPr>
          <a:xfrm>
            <a:off x="548640" y="4965192"/>
            <a:ext cx="11109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i="1" lang="en-US" sz="1400">
                <a:solidFill>
                  <a:srgbClr val="1F2A33"/>
                </a:solidFill>
                <a:latin typeface="Calibri"/>
                <a:ea typeface="Calibri"/>
                <a:cs typeface="Calibri"/>
                <a:sym typeface="Calibri"/>
              </a:rPr>
              <a:t>Also inconsistent in the source: RESULTS says training took 13 minutes per arm; the training log says 35,699 s. Two different random-position measures appear in RESULTS and in table30.md.</a:t>
            </a:r>
            <a:endParaRPr sz="1400">
              <a:solidFill>
                <a:schemeClr val="dk1"/>
              </a:solidFill>
              <a:latin typeface="Calibri"/>
              <a:ea typeface="Calibri"/>
              <a:cs typeface="Calibri"/>
              <a:sym typeface="Calibri"/>
            </a:endParaRPr>
          </a:p>
        </p:txBody>
      </p:sp>
      <p:sp>
        <p:nvSpPr>
          <p:cNvPr id="1723" name="Google Shape;1723;p58"/>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59"/>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Does a true statement earn reward? A proxy shows a small gain over neutral and no resolved preference over false</a:t>
            </a:r>
            <a:endParaRPr sz="2700"/>
          </a:p>
        </p:txBody>
      </p:sp>
      <p:sp>
        <p:nvSpPr>
          <p:cNvPr id="1730" name="Google Shape;1730;p59"/>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1" name="Google Shape;1731;p59"/>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732" name="Google Shape;1732;p59"/>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3" name="Google Shape;1733;p59"/>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734" name="Google Shape;1734;p59"/>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5" name="Google Shape;1735;p59"/>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736" name="Google Shape;1736;p59"/>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This is a whitened reconstruction-FVE proxy, not the exact NLA training reward, which is uncertified. 20 sealed Oracle block-44 readouts per state; paired item bootstrap.</a:t>
            </a:r>
            <a:endParaRPr sz="1200"/>
          </a:p>
        </p:txBody>
      </p:sp>
      <p:sp>
        <p:nvSpPr>
          <p:cNvPr id="1737" name="Google Shape;1737;p59"/>
          <p:cNvSpPr txBox="1"/>
          <p:nvPr/>
        </p:nvSpPr>
        <p:spPr>
          <a:xfrm>
            <a:off x="548640" y="202996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Fact recalled</a:t>
            </a:r>
            <a:endParaRPr sz="1400">
              <a:solidFill>
                <a:schemeClr val="dk1"/>
              </a:solidFill>
              <a:latin typeface="Calibri"/>
              <a:ea typeface="Calibri"/>
              <a:cs typeface="Calibri"/>
              <a:sym typeface="Calibri"/>
            </a:endParaRPr>
          </a:p>
        </p:txBody>
      </p:sp>
      <p:sp>
        <p:nvSpPr>
          <p:cNvPr id="1738" name="Google Shape;1738;p59"/>
          <p:cNvSpPr txBox="1"/>
          <p:nvPr/>
        </p:nvSpPr>
        <p:spPr>
          <a:xfrm>
            <a:off x="548640" y="253288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Table column</a:t>
            </a:r>
            <a:endParaRPr sz="1400">
              <a:solidFill>
                <a:schemeClr val="dk1"/>
              </a:solidFill>
              <a:latin typeface="Calibri"/>
              <a:ea typeface="Calibri"/>
              <a:cs typeface="Calibri"/>
              <a:sym typeface="Calibri"/>
            </a:endParaRPr>
          </a:p>
        </p:txBody>
      </p:sp>
      <p:sp>
        <p:nvSpPr>
          <p:cNvPr id="1739" name="Google Shape;1739;p59"/>
          <p:cNvSpPr txBox="1"/>
          <p:nvPr/>
        </p:nvSpPr>
        <p:spPr>
          <a:xfrm>
            <a:off x="548640" y="303580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Nesting depth</a:t>
            </a:r>
            <a:endParaRPr sz="1400">
              <a:solidFill>
                <a:schemeClr val="dk1"/>
              </a:solidFill>
              <a:latin typeface="Calibri"/>
              <a:ea typeface="Calibri"/>
              <a:cs typeface="Calibri"/>
              <a:sym typeface="Calibri"/>
            </a:endParaRPr>
          </a:p>
        </p:txBody>
      </p:sp>
      <p:sp>
        <p:nvSpPr>
          <p:cNvPr id="1740" name="Google Shape;1740;p59"/>
          <p:cNvSpPr txBox="1"/>
          <p:nvPr/>
        </p:nvSpPr>
        <p:spPr>
          <a:xfrm>
            <a:off x="548640" y="353872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Language</a:t>
            </a:r>
            <a:endParaRPr sz="1400">
              <a:solidFill>
                <a:schemeClr val="dk1"/>
              </a:solidFill>
              <a:latin typeface="Calibri"/>
              <a:ea typeface="Calibri"/>
              <a:cs typeface="Calibri"/>
              <a:sym typeface="Calibri"/>
            </a:endParaRPr>
          </a:p>
        </p:txBody>
      </p:sp>
      <p:sp>
        <p:nvSpPr>
          <p:cNvPr id="1741" name="Google Shape;1741;p59"/>
          <p:cNvSpPr txBox="1"/>
          <p:nvPr/>
        </p:nvSpPr>
        <p:spPr>
          <a:xfrm>
            <a:off x="548640" y="404164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Inside a string</a:t>
            </a:r>
            <a:endParaRPr sz="1400">
              <a:solidFill>
                <a:schemeClr val="dk1"/>
              </a:solidFill>
              <a:latin typeface="Calibri"/>
              <a:ea typeface="Calibri"/>
              <a:cs typeface="Calibri"/>
              <a:sym typeface="Calibri"/>
            </a:endParaRPr>
          </a:p>
        </p:txBody>
      </p:sp>
      <p:sp>
        <p:nvSpPr>
          <p:cNvPr id="1742" name="Google Shape;1742;p59"/>
          <p:cNvSpPr txBox="1"/>
          <p:nvPr/>
        </p:nvSpPr>
        <p:spPr>
          <a:xfrm>
            <a:off x="548640" y="4544568"/>
            <a:ext cx="20574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Evaluation cue</a:t>
            </a:r>
            <a:endParaRPr sz="1400">
              <a:solidFill>
                <a:schemeClr val="dk1"/>
              </a:solidFill>
              <a:latin typeface="Calibri"/>
              <a:ea typeface="Calibri"/>
              <a:cs typeface="Calibri"/>
              <a:sym typeface="Calibri"/>
            </a:endParaRPr>
          </a:p>
        </p:txBody>
      </p:sp>
      <p:sp>
        <p:nvSpPr>
          <p:cNvPr id="1743" name="Google Shape;1743;p59"/>
          <p:cNvSpPr txBox="1"/>
          <p:nvPr/>
        </p:nvSpPr>
        <p:spPr>
          <a:xfrm>
            <a:off x="2743200" y="169164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7F7A"/>
              </a:buClr>
              <a:buSzPts val="1400"/>
              <a:buFont typeface="Calibri"/>
              <a:buNone/>
            </a:pPr>
            <a:r>
              <a:rPr b="1" lang="en-US" sz="1400">
                <a:solidFill>
                  <a:srgbClr val="2E7F7A"/>
                </a:solidFill>
                <a:latin typeface="Calibri"/>
                <a:ea typeface="Calibri"/>
                <a:cs typeface="Calibri"/>
                <a:sym typeface="Calibri"/>
              </a:rPr>
              <a:t>true − neutral · whitened FVE proxy difference, 95% CI</a:t>
            </a:r>
            <a:endParaRPr sz="1400">
              <a:solidFill>
                <a:schemeClr val="dk1"/>
              </a:solidFill>
              <a:latin typeface="Calibri"/>
              <a:ea typeface="Calibri"/>
              <a:cs typeface="Calibri"/>
              <a:sym typeface="Calibri"/>
            </a:endParaRPr>
          </a:p>
        </p:txBody>
      </p:sp>
      <p:sp>
        <p:nvSpPr>
          <p:cNvPr id="1744" name="Google Shape;1744;p59"/>
          <p:cNvSpPr/>
          <p:nvPr/>
        </p:nvSpPr>
        <p:spPr>
          <a:xfrm>
            <a:off x="2743200" y="2011680"/>
            <a:ext cx="4023360" cy="3017520"/>
          </a:xfrm>
          <a:prstGeom prst="rect">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45" name="Google Shape;1745;p59"/>
          <p:cNvCxnSpPr/>
          <p:nvPr/>
        </p:nvCxnSpPr>
        <p:spPr>
          <a:xfrm>
            <a:off x="3413760" y="2011680"/>
            <a:ext cx="0" cy="3017520"/>
          </a:xfrm>
          <a:prstGeom prst="straightConnector1">
            <a:avLst/>
          </a:prstGeom>
          <a:noFill/>
          <a:ln cap="flat" cmpd="sng" w="12700">
            <a:solidFill>
              <a:srgbClr val="1F2A33"/>
            </a:solidFill>
            <a:prstDash val="solid"/>
            <a:round/>
            <a:headEnd len="sm" w="sm" type="none"/>
            <a:tailEnd len="sm" w="sm" type="none"/>
          </a:ln>
        </p:spPr>
      </p:cxnSp>
      <p:sp>
        <p:nvSpPr>
          <p:cNvPr id="1746" name="Google Shape;1746;p59"/>
          <p:cNvSpPr txBox="1"/>
          <p:nvPr/>
        </p:nvSpPr>
        <p:spPr>
          <a:xfrm>
            <a:off x="242316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−0.005</a:t>
            </a:r>
            <a:endParaRPr sz="1100">
              <a:solidFill>
                <a:schemeClr val="dk1"/>
              </a:solidFill>
              <a:latin typeface="Calibri"/>
              <a:ea typeface="Calibri"/>
              <a:cs typeface="Calibri"/>
              <a:sym typeface="Calibri"/>
            </a:endParaRPr>
          </a:p>
        </p:txBody>
      </p:sp>
      <p:sp>
        <p:nvSpPr>
          <p:cNvPr id="1747" name="Google Shape;1747;p59"/>
          <p:cNvSpPr txBox="1"/>
          <p:nvPr/>
        </p:nvSpPr>
        <p:spPr>
          <a:xfrm>
            <a:off x="309372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a:t>
            </a:r>
            <a:endParaRPr sz="1100">
              <a:solidFill>
                <a:schemeClr val="dk1"/>
              </a:solidFill>
              <a:latin typeface="Calibri"/>
              <a:ea typeface="Calibri"/>
              <a:cs typeface="Calibri"/>
              <a:sym typeface="Calibri"/>
            </a:endParaRPr>
          </a:p>
        </p:txBody>
      </p:sp>
      <p:sp>
        <p:nvSpPr>
          <p:cNvPr id="1748" name="Google Shape;1748;p59"/>
          <p:cNvSpPr txBox="1"/>
          <p:nvPr/>
        </p:nvSpPr>
        <p:spPr>
          <a:xfrm>
            <a:off x="376428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0.005</a:t>
            </a:r>
            <a:endParaRPr sz="1100">
              <a:solidFill>
                <a:schemeClr val="dk1"/>
              </a:solidFill>
              <a:latin typeface="Calibri"/>
              <a:ea typeface="Calibri"/>
              <a:cs typeface="Calibri"/>
              <a:sym typeface="Calibri"/>
            </a:endParaRPr>
          </a:p>
        </p:txBody>
      </p:sp>
      <p:sp>
        <p:nvSpPr>
          <p:cNvPr id="1749" name="Google Shape;1749;p59"/>
          <p:cNvSpPr txBox="1"/>
          <p:nvPr/>
        </p:nvSpPr>
        <p:spPr>
          <a:xfrm>
            <a:off x="443484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0.01</a:t>
            </a:r>
            <a:endParaRPr sz="1100">
              <a:solidFill>
                <a:schemeClr val="dk1"/>
              </a:solidFill>
              <a:latin typeface="Calibri"/>
              <a:ea typeface="Calibri"/>
              <a:cs typeface="Calibri"/>
              <a:sym typeface="Calibri"/>
            </a:endParaRPr>
          </a:p>
        </p:txBody>
      </p:sp>
      <p:sp>
        <p:nvSpPr>
          <p:cNvPr id="1750" name="Google Shape;1750;p59"/>
          <p:cNvSpPr txBox="1"/>
          <p:nvPr/>
        </p:nvSpPr>
        <p:spPr>
          <a:xfrm>
            <a:off x="510540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0.015</a:t>
            </a:r>
            <a:endParaRPr sz="1100">
              <a:solidFill>
                <a:schemeClr val="dk1"/>
              </a:solidFill>
              <a:latin typeface="Calibri"/>
              <a:ea typeface="Calibri"/>
              <a:cs typeface="Calibri"/>
              <a:sym typeface="Calibri"/>
            </a:endParaRPr>
          </a:p>
        </p:txBody>
      </p:sp>
      <p:sp>
        <p:nvSpPr>
          <p:cNvPr id="1751" name="Google Shape;1751;p59"/>
          <p:cNvSpPr txBox="1"/>
          <p:nvPr/>
        </p:nvSpPr>
        <p:spPr>
          <a:xfrm>
            <a:off x="577596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0.02</a:t>
            </a:r>
            <a:endParaRPr sz="1100">
              <a:solidFill>
                <a:schemeClr val="dk1"/>
              </a:solidFill>
              <a:latin typeface="Calibri"/>
              <a:ea typeface="Calibri"/>
              <a:cs typeface="Calibri"/>
              <a:sym typeface="Calibri"/>
            </a:endParaRPr>
          </a:p>
        </p:txBody>
      </p:sp>
      <p:sp>
        <p:nvSpPr>
          <p:cNvPr id="1752" name="Google Shape;1752;p59"/>
          <p:cNvSpPr txBox="1"/>
          <p:nvPr/>
        </p:nvSpPr>
        <p:spPr>
          <a:xfrm>
            <a:off x="644652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0.025</a:t>
            </a:r>
            <a:endParaRPr sz="1100">
              <a:solidFill>
                <a:schemeClr val="dk1"/>
              </a:solidFill>
              <a:latin typeface="Calibri"/>
              <a:ea typeface="Calibri"/>
              <a:cs typeface="Calibri"/>
              <a:sym typeface="Calibri"/>
            </a:endParaRPr>
          </a:p>
        </p:txBody>
      </p:sp>
      <p:cxnSp>
        <p:nvCxnSpPr>
          <p:cNvPr id="1753" name="Google Shape;1753;p59"/>
          <p:cNvCxnSpPr/>
          <p:nvPr/>
        </p:nvCxnSpPr>
        <p:spPr>
          <a:xfrm>
            <a:off x="5720486" y="2148840"/>
            <a:ext cx="523037" cy="0"/>
          </a:xfrm>
          <a:prstGeom prst="straightConnector1">
            <a:avLst/>
          </a:prstGeom>
          <a:noFill/>
          <a:ln cap="flat" cmpd="sng" w="25400">
            <a:solidFill>
              <a:srgbClr val="2E7F7A"/>
            </a:solidFill>
            <a:prstDash val="solid"/>
            <a:round/>
            <a:headEnd len="sm" w="sm" type="none"/>
            <a:tailEnd len="sm" w="sm" type="none"/>
          </a:ln>
        </p:spPr>
      </p:cxnSp>
      <p:sp>
        <p:nvSpPr>
          <p:cNvPr id="1754" name="Google Shape;1754;p59"/>
          <p:cNvSpPr/>
          <p:nvPr/>
        </p:nvSpPr>
        <p:spPr>
          <a:xfrm>
            <a:off x="5897880" y="208483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55" name="Google Shape;1755;p59"/>
          <p:cNvCxnSpPr/>
          <p:nvPr/>
        </p:nvCxnSpPr>
        <p:spPr>
          <a:xfrm>
            <a:off x="4111142" y="2651760"/>
            <a:ext cx="925373" cy="0"/>
          </a:xfrm>
          <a:prstGeom prst="straightConnector1">
            <a:avLst/>
          </a:prstGeom>
          <a:noFill/>
          <a:ln cap="flat" cmpd="sng" w="25400">
            <a:solidFill>
              <a:srgbClr val="2E7F7A"/>
            </a:solidFill>
            <a:prstDash val="solid"/>
            <a:round/>
            <a:headEnd len="sm" w="sm" type="none"/>
            <a:tailEnd len="sm" w="sm" type="none"/>
          </a:ln>
        </p:spPr>
      </p:cxnSp>
      <p:sp>
        <p:nvSpPr>
          <p:cNvPr id="1756" name="Google Shape;1756;p59"/>
          <p:cNvSpPr/>
          <p:nvPr/>
        </p:nvSpPr>
        <p:spPr>
          <a:xfrm>
            <a:off x="4489704" y="258775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57" name="Google Shape;1757;p59"/>
          <p:cNvCxnSpPr/>
          <p:nvPr/>
        </p:nvCxnSpPr>
        <p:spPr>
          <a:xfrm>
            <a:off x="3453994" y="3154680"/>
            <a:ext cx="630326" cy="0"/>
          </a:xfrm>
          <a:prstGeom prst="straightConnector1">
            <a:avLst/>
          </a:prstGeom>
          <a:noFill/>
          <a:ln cap="flat" cmpd="sng" w="25400">
            <a:solidFill>
              <a:srgbClr val="2E7F7A"/>
            </a:solidFill>
            <a:prstDash val="solid"/>
            <a:round/>
            <a:headEnd len="sm" w="sm" type="none"/>
            <a:tailEnd len="sm" w="sm" type="none"/>
          </a:ln>
        </p:spPr>
      </p:cxnSp>
      <p:sp>
        <p:nvSpPr>
          <p:cNvPr id="1758" name="Google Shape;1758;p59"/>
          <p:cNvSpPr/>
          <p:nvPr/>
        </p:nvSpPr>
        <p:spPr>
          <a:xfrm>
            <a:off x="3711854" y="309067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59" name="Google Shape;1759;p59"/>
          <p:cNvCxnSpPr/>
          <p:nvPr/>
        </p:nvCxnSpPr>
        <p:spPr>
          <a:xfrm>
            <a:off x="3024835" y="3657600"/>
            <a:ext cx="885139" cy="0"/>
          </a:xfrm>
          <a:prstGeom prst="straightConnector1">
            <a:avLst/>
          </a:prstGeom>
          <a:noFill/>
          <a:ln cap="flat" cmpd="sng" w="25400">
            <a:solidFill>
              <a:srgbClr val="2E7F7A"/>
            </a:solidFill>
            <a:prstDash val="solid"/>
            <a:round/>
            <a:headEnd len="sm" w="sm" type="none"/>
            <a:tailEnd len="sm" w="sm" type="none"/>
          </a:ln>
        </p:spPr>
      </p:cxnSp>
      <p:sp>
        <p:nvSpPr>
          <p:cNvPr id="1760" name="Google Shape;1760;p59"/>
          <p:cNvSpPr/>
          <p:nvPr/>
        </p:nvSpPr>
        <p:spPr>
          <a:xfrm>
            <a:off x="3403397" y="359359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61" name="Google Shape;1761;p59"/>
          <p:cNvCxnSpPr/>
          <p:nvPr/>
        </p:nvCxnSpPr>
        <p:spPr>
          <a:xfrm>
            <a:off x="3038246" y="4160520"/>
            <a:ext cx="643738" cy="0"/>
          </a:xfrm>
          <a:prstGeom prst="straightConnector1">
            <a:avLst/>
          </a:prstGeom>
          <a:noFill/>
          <a:ln cap="flat" cmpd="sng" w="25400">
            <a:solidFill>
              <a:srgbClr val="2E7F7A"/>
            </a:solidFill>
            <a:prstDash val="solid"/>
            <a:round/>
            <a:headEnd len="sm" w="sm" type="none"/>
            <a:tailEnd len="sm" w="sm" type="none"/>
          </a:ln>
        </p:spPr>
      </p:cxnSp>
      <p:sp>
        <p:nvSpPr>
          <p:cNvPr id="1762" name="Google Shape;1762;p59"/>
          <p:cNvSpPr/>
          <p:nvPr/>
        </p:nvSpPr>
        <p:spPr>
          <a:xfrm>
            <a:off x="3296107" y="409651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63" name="Google Shape;1763;p59"/>
          <p:cNvCxnSpPr/>
          <p:nvPr/>
        </p:nvCxnSpPr>
        <p:spPr>
          <a:xfrm>
            <a:off x="2984602" y="4663440"/>
            <a:ext cx="590093" cy="0"/>
          </a:xfrm>
          <a:prstGeom prst="straightConnector1">
            <a:avLst/>
          </a:prstGeom>
          <a:noFill/>
          <a:ln cap="flat" cmpd="sng" w="25400">
            <a:solidFill>
              <a:srgbClr val="2E7F7A"/>
            </a:solidFill>
            <a:prstDash val="solid"/>
            <a:round/>
            <a:headEnd len="sm" w="sm" type="none"/>
            <a:tailEnd len="sm" w="sm" type="none"/>
          </a:ln>
        </p:spPr>
      </p:cxnSp>
      <p:sp>
        <p:nvSpPr>
          <p:cNvPr id="1764" name="Google Shape;1764;p59"/>
          <p:cNvSpPr/>
          <p:nvPr/>
        </p:nvSpPr>
        <p:spPr>
          <a:xfrm>
            <a:off x="3202229" y="4599432"/>
            <a:ext cx="128016" cy="128016"/>
          </a:xfrm>
          <a:prstGeom prst="ellipse">
            <a:avLst/>
          </a:prstGeom>
          <a:solidFill>
            <a:srgbClr val="2E7F7A"/>
          </a:solidFill>
          <a:ln cap="flat" cmpd="sng" w="12700">
            <a:solidFill>
              <a:srgbClr val="2E7F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5" name="Google Shape;1765;p59"/>
          <p:cNvSpPr txBox="1"/>
          <p:nvPr/>
        </p:nvSpPr>
        <p:spPr>
          <a:xfrm>
            <a:off x="7498080" y="169164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3060"/>
              </a:buClr>
              <a:buSzPts val="1400"/>
              <a:buFont typeface="Calibri"/>
              <a:buNone/>
            </a:pPr>
            <a:r>
              <a:rPr b="1" lang="en-US" sz="1400">
                <a:solidFill>
                  <a:srgbClr val="B03060"/>
                </a:solidFill>
                <a:latin typeface="Calibri"/>
                <a:ea typeface="Calibri"/>
                <a:cs typeface="Calibri"/>
                <a:sym typeface="Calibri"/>
              </a:rPr>
              <a:t>true − false · whitened FVE proxy difference, 95% CI</a:t>
            </a:r>
            <a:endParaRPr sz="1400">
              <a:solidFill>
                <a:schemeClr val="dk1"/>
              </a:solidFill>
              <a:latin typeface="Calibri"/>
              <a:ea typeface="Calibri"/>
              <a:cs typeface="Calibri"/>
              <a:sym typeface="Calibri"/>
            </a:endParaRPr>
          </a:p>
        </p:txBody>
      </p:sp>
      <p:sp>
        <p:nvSpPr>
          <p:cNvPr id="1766" name="Google Shape;1766;p59"/>
          <p:cNvSpPr/>
          <p:nvPr/>
        </p:nvSpPr>
        <p:spPr>
          <a:xfrm>
            <a:off x="7498080" y="2011680"/>
            <a:ext cx="4023360" cy="3017520"/>
          </a:xfrm>
          <a:prstGeom prst="rect">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67" name="Google Shape;1767;p59"/>
          <p:cNvCxnSpPr/>
          <p:nvPr/>
        </p:nvCxnSpPr>
        <p:spPr>
          <a:xfrm>
            <a:off x="9222377" y="2011680"/>
            <a:ext cx="0" cy="3017520"/>
          </a:xfrm>
          <a:prstGeom prst="straightConnector1">
            <a:avLst/>
          </a:prstGeom>
          <a:noFill/>
          <a:ln cap="flat" cmpd="sng" w="12700">
            <a:solidFill>
              <a:srgbClr val="1F2A33"/>
            </a:solidFill>
            <a:prstDash val="solid"/>
            <a:round/>
            <a:headEnd len="sm" w="sm" type="none"/>
            <a:tailEnd len="sm" w="sm" type="none"/>
          </a:ln>
        </p:spPr>
      </p:cxnSp>
      <p:sp>
        <p:nvSpPr>
          <p:cNvPr id="1768" name="Google Shape;1768;p59"/>
          <p:cNvSpPr txBox="1"/>
          <p:nvPr/>
        </p:nvSpPr>
        <p:spPr>
          <a:xfrm>
            <a:off x="717804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−0.006</a:t>
            </a:r>
            <a:endParaRPr sz="1100">
              <a:solidFill>
                <a:schemeClr val="dk1"/>
              </a:solidFill>
              <a:latin typeface="Calibri"/>
              <a:ea typeface="Calibri"/>
              <a:cs typeface="Calibri"/>
              <a:sym typeface="Calibri"/>
            </a:endParaRPr>
          </a:p>
        </p:txBody>
      </p:sp>
      <p:sp>
        <p:nvSpPr>
          <p:cNvPr id="1769" name="Google Shape;1769;p59"/>
          <p:cNvSpPr txBox="1"/>
          <p:nvPr/>
        </p:nvSpPr>
        <p:spPr>
          <a:xfrm>
            <a:off x="7752806"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−0.004</a:t>
            </a:r>
            <a:endParaRPr sz="1100">
              <a:solidFill>
                <a:schemeClr val="dk1"/>
              </a:solidFill>
              <a:latin typeface="Calibri"/>
              <a:ea typeface="Calibri"/>
              <a:cs typeface="Calibri"/>
              <a:sym typeface="Calibri"/>
            </a:endParaRPr>
          </a:p>
        </p:txBody>
      </p:sp>
      <p:sp>
        <p:nvSpPr>
          <p:cNvPr id="1770" name="Google Shape;1770;p59"/>
          <p:cNvSpPr txBox="1"/>
          <p:nvPr/>
        </p:nvSpPr>
        <p:spPr>
          <a:xfrm>
            <a:off x="8327571"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−0.002</a:t>
            </a:r>
            <a:endParaRPr sz="1100">
              <a:solidFill>
                <a:schemeClr val="dk1"/>
              </a:solidFill>
              <a:latin typeface="Calibri"/>
              <a:ea typeface="Calibri"/>
              <a:cs typeface="Calibri"/>
              <a:sym typeface="Calibri"/>
            </a:endParaRPr>
          </a:p>
        </p:txBody>
      </p:sp>
      <p:sp>
        <p:nvSpPr>
          <p:cNvPr id="1771" name="Google Shape;1771;p59"/>
          <p:cNvSpPr txBox="1"/>
          <p:nvPr/>
        </p:nvSpPr>
        <p:spPr>
          <a:xfrm>
            <a:off x="8902337"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a:t>
            </a:r>
            <a:endParaRPr sz="1100">
              <a:solidFill>
                <a:schemeClr val="dk1"/>
              </a:solidFill>
              <a:latin typeface="Calibri"/>
              <a:ea typeface="Calibri"/>
              <a:cs typeface="Calibri"/>
              <a:sym typeface="Calibri"/>
            </a:endParaRPr>
          </a:p>
        </p:txBody>
      </p:sp>
      <p:sp>
        <p:nvSpPr>
          <p:cNvPr id="1772" name="Google Shape;1772;p59"/>
          <p:cNvSpPr txBox="1"/>
          <p:nvPr/>
        </p:nvSpPr>
        <p:spPr>
          <a:xfrm>
            <a:off x="9477103"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0.002</a:t>
            </a:r>
            <a:endParaRPr sz="1100">
              <a:solidFill>
                <a:schemeClr val="dk1"/>
              </a:solidFill>
              <a:latin typeface="Calibri"/>
              <a:ea typeface="Calibri"/>
              <a:cs typeface="Calibri"/>
              <a:sym typeface="Calibri"/>
            </a:endParaRPr>
          </a:p>
        </p:txBody>
      </p:sp>
      <p:sp>
        <p:nvSpPr>
          <p:cNvPr id="1773" name="Google Shape;1773;p59"/>
          <p:cNvSpPr txBox="1"/>
          <p:nvPr/>
        </p:nvSpPr>
        <p:spPr>
          <a:xfrm>
            <a:off x="10051869"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0.004</a:t>
            </a:r>
            <a:endParaRPr sz="1100">
              <a:solidFill>
                <a:schemeClr val="dk1"/>
              </a:solidFill>
              <a:latin typeface="Calibri"/>
              <a:ea typeface="Calibri"/>
              <a:cs typeface="Calibri"/>
              <a:sym typeface="Calibri"/>
            </a:endParaRPr>
          </a:p>
        </p:txBody>
      </p:sp>
      <p:sp>
        <p:nvSpPr>
          <p:cNvPr id="1774" name="Google Shape;1774;p59"/>
          <p:cNvSpPr txBox="1"/>
          <p:nvPr/>
        </p:nvSpPr>
        <p:spPr>
          <a:xfrm>
            <a:off x="10626634"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0.006</a:t>
            </a:r>
            <a:endParaRPr sz="1100">
              <a:solidFill>
                <a:schemeClr val="dk1"/>
              </a:solidFill>
              <a:latin typeface="Calibri"/>
              <a:ea typeface="Calibri"/>
              <a:cs typeface="Calibri"/>
              <a:sym typeface="Calibri"/>
            </a:endParaRPr>
          </a:p>
        </p:txBody>
      </p:sp>
      <p:sp>
        <p:nvSpPr>
          <p:cNvPr id="1775" name="Google Shape;1775;p59"/>
          <p:cNvSpPr txBox="1"/>
          <p:nvPr/>
        </p:nvSpPr>
        <p:spPr>
          <a:xfrm>
            <a:off x="11201400" y="5074920"/>
            <a:ext cx="64008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6606B"/>
              </a:buClr>
              <a:buSzPts val="1100"/>
              <a:buFont typeface="Calibri"/>
              <a:buNone/>
            </a:pPr>
            <a:r>
              <a:rPr lang="en-US" sz="1100">
                <a:solidFill>
                  <a:srgbClr val="56606B"/>
                </a:solidFill>
                <a:latin typeface="Calibri"/>
                <a:ea typeface="Calibri"/>
                <a:cs typeface="Calibri"/>
                <a:sym typeface="Calibri"/>
              </a:rPr>
              <a:t>0.008</a:t>
            </a:r>
            <a:endParaRPr sz="1100">
              <a:solidFill>
                <a:schemeClr val="dk1"/>
              </a:solidFill>
              <a:latin typeface="Calibri"/>
              <a:ea typeface="Calibri"/>
              <a:cs typeface="Calibri"/>
              <a:sym typeface="Calibri"/>
            </a:endParaRPr>
          </a:p>
        </p:txBody>
      </p:sp>
      <p:cxnSp>
        <p:nvCxnSpPr>
          <p:cNvPr id="1776" name="Google Shape;1776;p59"/>
          <p:cNvCxnSpPr/>
          <p:nvPr/>
        </p:nvCxnSpPr>
        <p:spPr>
          <a:xfrm>
            <a:off x="8762565" y="2148840"/>
            <a:ext cx="862149" cy="0"/>
          </a:xfrm>
          <a:prstGeom prst="straightConnector1">
            <a:avLst/>
          </a:prstGeom>
          <a:noFill/>
          <a:ln cap="flat" cmpd="sng" w="25400">
            <a:solidFill>
              <a:srgbClr val="B03060"/>
            </a:solidFill>
            <a:prstDash val="solid"/>
            <a:round/>
            <a:headEnd len="sm" w="sm" type="none"/>
            <a:tailEnd len="sm" w="sm" type="none"/>
          </a:ln>
        </p:spPr>
      </p:cxnSp>
      <p:sp>
        <p:nvSpPr>
          <p:cNvPr id="1777" name="Google Shape;1777;p59"/>
          <p:cNvSpPr/>
          <p:nvPr/>
        </p:nvSpPr>
        <p:spPr>
          <a:xfrm>
            <a:off x="9100893" y="208483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78" name="Google Shape;1778;p59"/>
          <p:cNvCxnSpPr/>
          <p:nvPr/>
        </p:nvCxnSpPr>
        <p:spPr>
          <a:xfrm>
            <a:off x="8647611" y="2651760"/>
            <a:ext cx="1063317" cy="0"/>
          </a:xfrm>
          <a:prstGeom prst="straightConnector1">
            <a:avLst/>
          </a:prstGeom>
          <a:noFill/>
          <a:ln cap="flat" cmpd="sng" w="25400">
            <a:solidFill>
              <a:srgbClr val="B03060"/>
            </a:solidFill>
            <a:prstDash val="solid"/>
            <a:round/>
            <a:headEnd len="sm" w="sm" type="none"/>
            <a:tailEnd len="sm" w="sm" type="none"/>
          </a:ln>
        </p:spPr>
      </p:cxnSp>
      <p:sp>
        <p:nvSpPr>
          <p:cNvPr id="1779" name="Google Shape;1779;p59"/>
          <p:cNvSpPr/>
          <p:nvPr/>
        </p:nvSpPr>
        <p:spPr>
          <a:xfrm>
            <a:off x="9100893" y="258775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80" name="Google Shape;1780;p59"/>
          <p:cNvCxnSpPr/>
          <p:nvPr/>
        </p:nvCxnSpPr>
        <p:spPr>
          <a:xfrm>
            <a:off x="8618873" y="3154680"/>
            <a:ext cx="1120793" cy="0"/>
          </a:xfrm>
          <a:prstGeom prst="straightConnector1">
            <a:avLst/>
          </a:prstGeom>
          <a:noFill/>
          <a:ln cap="flat" cmpd="sng" w="25400">
            <a:solidFill>
              <a:srgbClr val="B03060"/>
            </a:solidFill>
            <a:prstDash val="solid"/>
            <a:round/>
            <a:headEnd len="sm" w="sm" type="none"/>
            <a:tailEnd len="sm" w="sm" type="none"/>
          </a:ln>
        </p:spPr>
      </p:cxnSp>
      <p:sp>
        <p:nvSpPr>
          <p:cNvPr id="1781" name="Google Shape;1781;p59"/>
          <p:cNvSpPr/>
          <p:nvPr/>
        </p:nvSpPr>
        <p:spPr>
          <a:xfrm>
            <a:off x="9100893" y="309067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82" name="Google Shape;1782;p59"/>
          <p:cNvCxnSpPr/>
          <p:nvPr/>
        </p:nvCxnSpPr>
        <p:spPr>
          <a:xfrm>
            <a:off x="8072846" y="3657600"/>
            <a:ext cx="2672661" cy="0"/>
          </a:xfrm>
          <a:prstGeom prst="straightConnector1">
            <a:avLst/>
          </a:prstGeom>
          <a:noFill/>
          <a:ln cap="flat" cmpd="sng" w="25400">
            <a:solidFill>
              <a:srgbClr val="B03060"/>
            </a:solidFill>
            <a:prstDash val="solid"/>
            <a:round/>
            <a:headEnd len="sm" w="sm" type="none"/>
            <a:tailEnd len="sm" w="sm" type="none"/>
          </a:ln>
        </p:spPr>
      </p:cxnSp>
      <p:sp>
        <p:nvSpPr>
          <p:cNvPr id="1783" name="Google Shape;1783;p59"/>
          <p:cNvSpPr/>
          <p:nvPr/>
        </p:nvSpPr>
        <p:spPr>
          <a:xfrm>
            <a:off x="9302061" y="359359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84" name="Google Shape;1784;p59"/>
          <p:cNvCxnSpPr/>
          <p:nvPr/>
        </p:nvCxnSpPr>
        <p:spPr>
          <a:xfrm>
            <a:off x="8992471" y="4160520"/>
            <a:ext cx="431074" cy="0"/>
          </a:xfrm>
          <a:prstGeom prst="straightConnector1">
            <a:avLst/>
          </a:prstGeom>
          <a:noFill/>
          <a:ln cap="flat" cmpd="sng" w="25400">
            <a:solidFill>
              <a:srgbClr val="B03060"/>
            </a:solidFill>
            <a:prstDash val="solid"/>
            <a:round/>
            <a:headEnd len="sm" w="sm" type="none"/>
            <a:tailEnd len="sm" w="sm" type="none"/>
          </a:ln>
        </p:spPr>
      </p:cxnSp>
      <p:sp>
        <p:nvSpPr>
          <p:cNvPr id="1785" name="Google Shape;1785;p59"/>
          <p:cNvSpPr/>
          <p:nvPr/>
        </p:nvSpPr>
        <p:spPr>
          <a:xfrm>
            <a:off x="9149748" y="409651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786" name="Google Shape;1786;p59"/>
          <p:cNvCxnSpPr/>
          <p:nvPr/>
        </p:nvCxnSpPr>
        <p:spPr>
          <a:xfrm>
            <a:off x="8647611" y="4663440"/>
            <a:ext cx="1235746" cy="0"/>
          </a:xfrm>
          <a:prstGeom prst="straightConnector1">
            <a:avLst/>
          </a:prstGeom>
          <a:noFill/>
          <a:ln cap="flat" cmpd="sng" w="25400">
            <a:solidFill>
              <a:srgbClr val="B03060"/>
            </a:solidFill>
            <a:prstDash val="solid"/>
            <a:round/>
            <a:headEnd len="sm" w="sm" type="none"/>
            <a:tailEnd len="sm" w="sm" type="none"/>
          </a:ln>
        </p:spPr>
      </p:cxnSp>
      <p:sp>
        <p:nvSpPr>
          <p:cNvPr id="1787" name="Google Shape;1787;p59"/>
          <p:cNvSpPr/>
          <p:nvPr/>
        </p:nvSpPr>
        <p:spPr>
          <a:xfrm>
            <a:off x="9187107" y="4599432"/>
            <a:ext cx="128016" cy="128016"/>
          </a:xfrm>
          <a:prstGeom prst="ellipse">
            <a:avLst/>
          </a:prstGeom>
          <a:solidFill>
            <a:srgbClr val="B03060"/>
          </a:solidFill>
          <a:ln cap="flat" cmpd="sng" w="12700">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8" name="Google Shape;1788;p59"/>
          <p:cNvSpPr txBox="1"/>
          <p:nvPr/>
        </p:nvSpPr>
        <p:spPr>
          <a:xfrm>
            <a:off x="548640" y="5349240"/>
            <a:ext cx="11109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i="1" lang="en-US" sz="1450">
                <a:solidFill>
                  <a:srgbClr val="1F2A33"/>
                </a:solidFill>
                <a:latin typeface="Calibri"/>
                <a:ea typeface="Calibri"/>
                <a:cs typeface="Calibri"/>
                <a:sym typeface="Calibri"/>
              </a:rPr>
              <a:t>Under this proxy a statement earns a little for mentioning the property (fact, table, nesting), whether or not it is true: every true − false interval includes zero.</a:t>
            </a:r>
            <a:endParaRPr sz="1450">
              <a:solidFill>
                <a:schemeClr val="dk1"/>
              </a:solidFill>
              <a:latin typeface="Calibri"/>
              <a:ea typeface="Calibri"/>
              <a:cs typeface="Calibri"/>
              <a:sym typeface="Calibri"/>
            </a:endParaRPr>
          </a:p>
        </p:txBody>
      </p:sp>
      <p:sp>
        <p:nvSpPr>
          <p:cNvPr id="1789" name="Google Shape;1789;p59"/>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60"/>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Dose, random controls, free text and the reader at each block</a:t>
            </a:r>
            <a:endParaRPr sz="2700"/>
          </a:p>
        </p:txBody>
      </p:sp>
      <p:sp>
        <p:nvSpPr>
          <p:cNvPr id="1796" name="Google Shape;1796;p60"/>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7" name="Google Shape;1797;p60"/>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798" name="Google Shape;1798;p60"/>
          <p:cNvSpPr/>
          <p:nvPr/>
        </p:nvSpPr>
        <p:spPr>
          <a:xfrm>
            <a:off x="10753344" y="310896"/>
            <a:ext cx="182880" cy="18288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9" name="Google Shape;1799;p60"/>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800" name="Google Shape;1800;p60"/>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1" name="Google Shape;1801;p60"/>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802" name="Google Shape;1802;p60"/>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One bank: E56 fact recall, 84 test items. α 8 is 2.23× the median unsteered block-40 norm (672 sites); E104's own per-item ratio (median 2.43) is a different definition.</a:t>
            </a:r>
            <a:endParaRPr sz="1200"/>
          </a:p>
        </p:txBody>
      </p:sp>
      <p:graphicFrame>
        <p:nvGraphicFramePr>
          <p:cNvPr id="1803" name="Google Shape;1803;p60"/>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3794750"/>
                <a:gridCol w="1463050"/>
                <a:gridCol w="1463050"/>
                <a:gridCol w="1463050"/>
                <a:gridCol w="1463050"/>
                <a:gridCol w="1463050"/>
              </a:tblGrid>
              <a:tr h="4206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Measurement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48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52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56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E126 restore read token, R median</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0.013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0.057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0.663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0.876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0.871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  95% CI</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[−0.011, 0.023]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[0.040, 0.068]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[0.514, 0.795]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[0.850, 0.903]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[0.867, 0.874]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  control: restore an earlier token</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0.025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0.036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0.107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0.094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0.066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  control: random direction, same norm</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E109 probe flips (steered / random)</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 / 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 / 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84 / 20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84 / 42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84 / 42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E109 Oracle S toward the pushed answer</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−0.52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804" name="Google Shape;1804;p60"/>
          <p:cNvSpPr txBox="1"/>
          <p:nvPr/>
        </p:nvSpPr>
        <p:spPr>
          <a:xfrm>
            <a:off x="548640" y="4727448"/>
            <a:ext cx="1110996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b="1" lang="en-US" sz="1400">
                <a:solidFill>
                  <a:srgbClr val="1F2A33"/>
                </a:solidFill>
                <a:latin typeface="Calibri"/>
                <a:ea typeface="Calibri"/>
                <a:cs typeface="Calibri"/>
                <a:sym typeface="Calibri"/>
              </a:rPr>
              <a:t>E104 dose (dev flips of 84 at α 0.5/1/2/4/8): </a:t>
            </a:r>
            <a:r>
              <a:rPr lang="en-US" sz="1400">
                <a:solidFill>
                  <a:srgbClr val="1F2A33"/>
                </a:solidFill>
                <a:latin typeface="Calibri"/>
                <a:ea typeface="Calibri"/>
                <a:cs typeface="Calibri"/>
                <a:sym typeface="Calibri"/>
              </a:rPr>
              <a:t>0 / 0 / 0 / 42 / 84; random direction at α 8: 42 / 84.  </a:t>
            </a:r>
            <a:r>
              <a:rPr b="1" lang="en-US" sz="1400">
                <a:solidFill>
                  <a:srgbClr val="1F2A33"/>
                </a:solidFill>
                <a:latin typeface="Calibri"/>
                <a:ea typeface="Calibri"/>
                <a:cs typeface="Calibri"/>
                <a:sym typeface="Calibri"/>
              </a:rPr>
              <a:t>E131: </a:t>
            </a:r>
            <a:r>
              <a:rPr lang="en-US" sz="1400">
                <a:solidFill>
                  <a:srgbClr val="1F2A33"/>
                </a:solidFill>
                <a:latin typeface="Calibri"/>
                <a:ea typeface="Calibri"/>
                <a:cs typeface="Calibri"/>
                <a:sym typeface="Calibri"/>
              </a:rPr>
              <a:t>Qwen's text states the new answer 43/84, neither 41/84, old 0/84; R-TX1 NOT MET.  </a:t>
            </a:r>
            <a:r>
              <a:rPr b="1" lang="en-US" sz="1400">
                <a:solidFill>
                  <a:srgbClr val="1F2A33"/>
                </a:solidFill>
                <a:latin typeface="Calibri"/>
                <a:ea typeface="Calibri"/>
                <a:cs typeface="Calibri"/>
                <a:sym typeface="Calibri"/>
              </a:rPr>
              <a:t>E135 (α 6, descriptive): </a:t>
            </a:r>
            <a:r>
              <a:rPr lang="en-US" sz="1400">
                <a:solidFill>
                  <a:srgbClr val="1F2A33"/>
                </a:solidFill>
                <a:latin typeface="Calibri"/>
                <a:ea typeface="Calibri"/>
                <a:cs typeface="Calibri"/>
                <a:sym typeface="Calibri"/>
              </a:rPr>
              <a:t>block-44 old answer easy 4/42, resistant 40/40; clean run 24/41 vs 42/42 (exploratory §248C).</a:t>
            </a:r>
            <a:endParaRPr sz="1400">
              <a:solidFill>
                <a:schemeClr val="dk1"/>
              </a:solidFill>
              <a:latin typeface="Calibri"/>
              <a:ea typeface="Calibri"/>
              <a:cs typeface="Calibri"/>
              <a:sym typeface="Calibri"/>
            </a:endParaRPr>
          </a:p>
        </p:txBody>
      </p:sp>
      <p:sp>
        <p:nvSpPr>
          <p:cNvPr id="1805" name="Google Shape;1805;p60"/>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0" name="Shape 1810"/>
        <p:cNvGrpSpPr/>
        <p:nvPr/>
      </p:nvGrpSpPr>
      <p:grpSpPr>
        <a:xfrm>
          <a:off x="0" y="0"/>
          <a:ext cx="0" cy="0"/>
          <a:chOff x="0" y="0"/>
          <a:chExt cx="0" cy="0"/>
        </a:xfrm>
      </p:grpSpPr>
      <p:sp>
        <p:nvSpPr>
          <p:cNvPr id="1811" name="Google Shape;1811;p61"/>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a:t>Transfer-chain depth analysis</a:t>
            </a:r>
            <a:endParaRPr sz="2700"/>
          </a:p>
        </p:txBody>
      </p:sp>
      <p:sp>
        <p:nvSpPr>
          <p:cNvPr id="1812" name="Google Shape;1812;p61"/>
          <p:cNvSpPr/>
          <p:nvPr/>
        </p:nvSpPr>
        <p:spPr>
          <a:xfrm>
            <a:off x="9930384" y="310896"/>
            <a:ext cx="182880" cy="182880"/>
          </a:xfrm>
          <a:prstGeom prst="ellipse">
            <a:avLst/>
          </a:prstGeom>
          <a:solidFill>
            <a:srgbClr val="6A4C9C"/>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3" name="Google Shape;1813;p61"/>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814" name="Google Shape;1814;p61"/>
          <p:cNvSpPr/>
          <p:nvPr/>
        </p:nvSpPr>
        <p:spPr>
          <a:xfrm>
            <a:off x="10753344" y="310896"/>
            <a:ext cx="182880" cy="182880"/>
          </a:xfrm>
          <a:prstGeom prst="ellipse">
            <a:avLst/>
          </a:prstGeom>
          <a:solidFill>
            <a:srgbClr val="C8622B"/>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5" name="Google Shape;1815;p61"/>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816" name="Google Shape;1816;p61"/>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7" name="Google Shape;1817;p61"/>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818" name="Google Shape;1818;p61"/>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No patch at block 36. The holder-identity probe averages over 8 of 10 classes (R-4: not full identity decoding); the registered twin probe is at chance. E137 D2 (19 pairs) is descriptive. The NLA reads block 42 only.</a:t>
            </a:r>
            <a:endParaRPr sz="1200"/>
          </a:p>
        </p:txBody>
      </p:sp>
      <p:graphicFrame>
        <p:nvGraphicFramePr>
          <p:cNvPr id="1819" name="Google Shape;1819;p61"/>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3794750"/>
                <a:gridCol w="1463050"/>
                <a:gridCol w="1463050"/>
                <a:gridCol w="1463050"/>
                <a:gridCol w="1463050"/>
                <a:gridCol w="1463050"/>
              </a:tblGrid>
              <a:tr h="42062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Measurement</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44</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48</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52</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56</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60</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E133 twin-swap R (50 pairs)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0.011</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0.045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0.264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0.320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0.744</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E137 D1 twin-swap R (42 pairs)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0.006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0.039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0.268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0.363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0.747</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E133 reader: current / previous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7/82 · 3/82</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16/95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50/95 · 2/95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E137 reader: current / previous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13/79 · 3/79</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18/76 · 0/76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25/76 · 2/76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E137 probe, current holder (macro, 8 of 10 classes)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0.978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E137 twin probe (registered, binary)</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 0.43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chance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chance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chance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chance</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820" name="Google Shape;1820;p61"/>
          <p:cNvSpPr txBox="1"/>
          <p:nvPr/>
        </p:nvSpPr>
        <p:spPr>
          <a:xfrm>
            <a:off x="548640" y="4572000"/>
            <a:ext cx="1110996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Other depth studies: E126/E109 (slide 16, A12); paraphrase test at 44/52/60 (E140); read-all-layers policy over 20–60 (+6 correct, +7 false); two-layer flag 44 vs 52. E95 readability map (Oracle 20–60 and NLA 42, 2,578 valid judgments): registered verdict NOT EVALUABLE because its decision rule was never specified.</a:t>
            </a:r>
            <a:endParaRPr sz="1400">
              <a:solidFill>
                <a:schemeClr val="dk1"/>
              </a:solidFill>
              <a:latin typeface="Calibri"/>
              <a:ea typeface="Calibri"/>
              <a:cs typeface="Calibri"/>
              <a:sym typeface="Calibri"/>
            </a:endParaRPr>
          </a:p>
        </p:txBody>
      </p:sp>
      <p:sp>
        <p:nvSpPr>
          <p:cNvPr id="1821" name="Google Shape;1821;p61"/>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62"/>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sz="2700">
                <a:solidFill>
                  <a:schemeClr val="dk1"/>
                </a:solidFill>
                <a:latin typeface="Cambria"/>
                <a:ea typeface="Cambria"/>
                <a:cs typeface="Cambria"/>
                <a:sym typeface="Cambria"/>
              </a:rPr>
              <a:t>One human coder against the judge, and how a judging bug was caught</a:t>
            </a:r>
            <a:endParaRPr sz="2700"/>
          </a:p>
        </p:txBody>
      </p:sp>
      <p:sp>
        <p:nvSpPr>
          <p:cNvPr id="1828" name="Google Shape;1828;p62"/>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9" name="Google Shape;1829;p62"/>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830" name="Google Shape;1830;p62"/>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1" name="Google Shape;1831;p62"/>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832" name="Google Shape;1832;p62"/>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3" name="Google Shape;1833;p62"/>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834" name="Google Shape;1834;p62"/>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06B"/>
              </a:buClr>
              <a:buSzPts val="1200"/>
              <a:buNone/>
            </a:pPr>
            <a:r>
              <a:rPr b="1" lang="en-US" sz="1200">
                <a:solidFill>
                  <a:srgbClr val="56606B"/>
                </a:solidFill>
              </a:rPr>
              <a:t>Note   </a:t>
            </a:r>
            <a:r>
              <a:rPr lang="en-US" sz="1200">
                <a:solidFill>
                  <a:schemeClr val="dk1"/>
                </a:solidFill>
              </a:rPr>
              <a:t>One coder, who knows the hypotheses (blind to item-level judge codes). Suraj did not return codes. The κ interval is wide.</a:t>
            </a:r>
            <a:endParaRPr sz="1200"/>
          </a:p>
        </p:txBody>
      </p:sp>
      <p:sp>
        <p:nvSpPr>
          <p:cNvPr id="1835" name="Google Shape;1835;p62"/>
          <p:cNvSpPr txBox="1"/>
          <p:nvPr>
            <p:ph idx="3" type="body"/>
          </p:nvPr>
        </p:nvSpPr>
        <p:spPr>
          <a:xfrm>
            <a:off x="548640" y="6437376"/>
            <a:ext cx="10241280" cy="2560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100"/>
              <a:buNone/>
            </a:pPr>
            <a:r>
              <a:rPr lang="en-US" sz="1100">
                <a:solidFill>
                  <a:schemeClr val="dk2"/>
                </a:solidFill>
              </a:rPr>
              <a:t>e71/human_guiv_20261030/RESULT.md, AGREEMENT.json (R-2) · e138/analysis, correction_r/REPORT.md, reviews/R-5.md · guivff/activation-readers @ c60fa970</a:t>
            </a:r>
            <a:endParaRPr sz="1100"/>
          </a:p>
        </p:txBody>
      </p:sp>
      <p:graphicFrame>
        <p:nvGraphicFramePr>
          <p:cNvPr id="1836" name="Google Shape;1836;p62"/>
          <p:cNvGraphicFramePr/>
          <p:nvPr/>
        </p:nvGraphicFramePr>
        <p:xfrm>
          <a:off x="548640" y="1645920"/>
          <a:ext cx="3000000" cy="3000000"/>
        </p:xfrm>
        <a:graphic>
          <a:graphicData uri="http://schemas.openxmlformats.org/drawingml/2006/table">
            <a:tbl>
              <a:tblPr>
                <a:noFill/>
                <a:tableStyleId>{82B5109F-639B-4A67-95FE-57FE99D5622F}</a:tableStyleId>
              </a:tblPr>
              <a:tblGrid>
                <a:gridCol w="3291850"/>
                <a:gridCol w="2377450"/>
              </a:tblGrid>
              <a:tr h="429775">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E71 · judge vs Guiv</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c>
                  <a:txBody>
                    <a:bodyPr/>
                    <a:lstStyle/>
                    <a:p>
                      <a:pPr indent="0" lvl="0" marL="0" marR="0" rtl="0" algn="l">
                        <a:spcBef>
                          <a:spcPts val="0"/>
                        </a:spcBef>
                        <a:spcAft>
                          <a:spcPts val="0"/>
                        </a:spcAft>
                        <a:buClr>
                          <a:srgbClr val="56606B"/>
                        </a:buClr>
                        <a:buSzPts val="1300"/>
                        <a:buFont typeface="Calibri"/>
                        <a:buNone/>
                      </a:pPr>
                      <a:r>
                        <a:rPr b="1" lang="en-US" sz="1300" u="none" cap="none" strike="noStrike">
                          <a:solidFill>
                            <a:srgbClr val="56606B"/>
                          </a:solidFill>
                          <a:latin typeface="Calibri"/>
                          <a:ea typeface="Calibri"/>
                          <a:cs typeface="Calibri"/>
                          <a:sym typeface="Calibri"/>
                        </a:rPr>
                        <a:t>Value</a:t>
                      </a:r>
                      <a:endParaRPr sz="130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ECE7DC"/>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Comparable readouts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63 of 100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κ, 3 classes [95% CI]</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0.68 [0.49, 0.85]</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κ, 4 classes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0.46</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Raw agreement</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53 / 63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Judge YES, human NO</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8 / 40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Judge NO, human YES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4 / 23</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Spot-check: fact rows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18 / 20</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F2A33"/>
                        </a:buClr>
                        <a:buSzPts val="1350"/>
                        <a:buFont typeface="Calibri"/>
                        <a:buNone/>
                      </a:pPr>
                      <a:r>
                        <a:rPr b="1" lang="en-US" sz="1350" u="none" cap="none" strike="noStrike">
                          <a:solidFill>
                            <a:srgbClr val="1F2A33"/>
                          </a:solidFill>
                          <a:latin typeface="Calibri"/>
                          <a:ea typeface="Calibri"/>
                          <a:cs typeface="Calibri"/>
                          <a:sym typeface="Calibri"/>
                        </a:rPr>
                        <a:t>Spot-check: language rows</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350"/>
                        <a:buFont typeface="Calibri"/>
                        <a:buNone/>
                      </a:pPr>
                      <a:r>
                        <a:rPr lang="en-US" sz="1350" u="none" cap="none" strike="noStrike">
                          <a:solidFill>
                            <a:srgbClr val="1F2A33"/>
                          </a:solidFill>
                          <a:latin typeface="Calibri"/>
                          <a:ea typeface="Calibri"/>
                          <a:cs typeface="Calibri"/>
                          <a:sym typeface="Calibri"/>
                        </a:rPr>
                        <a:t>6 / 20 (κ 0.08)</a:t>
                      </a:r>
                      <a:endParaRPr sz="1350" u="none" cap="none" strike="noStrike">
                        <a:latin typeface="Calibri"/>
                        <a:ea typeface="Calibri"/>
                        <a:cs typeface="Calibri"/>
                        <a:sym typeface="Calibri"/>
                      </a:endParaRPr>
                    </a:p>
                  </a:txBody>
                  <a:tcPr marT="54875" marB="54875" marR="54875" marL="54875" anchor="ctr">
                    <a:lnL cap="flat" cmpd="sng" w="9525">
                      <a:solidFill>
                        <a:srgbClr val="E2DDD3"/>
                      </a:solidFill>
                      <a:prstDash val="solid"/>
                      <a:round/>
                      <a:headEnd len="sm" w="sm" type="none"/>
                      <a:tailEnd len="sm" w="sm" type="none"/>
                    </a:lnL>
                    <a:lnR cap="flat" cmpd="sng" w="9525">
                      <a:solidFill>
                        <a:srgbClr val="E2DDD3"/>
                      </a:solidFill>
                      <a:prstDash val="solid"/>
                      <a:round/>
                      <a:headEnd len="sm" w="sm" type="none"/>
                      <a:tailEnd len="sm" w="sm" type="none"/>
                    </a:lnR>
                    <a:lnT cap="flat" cmpd="sng" w="9525">
                      <a:solidFill>
                        <a:srgbClr val="E2DDD3"/>
                      </a:solidFill>
                      <a:prstDash val="solid"/>
                      <a:round/>
                      <a:headEnd len="sm" w="sm" type="none"/>
                      <a:tailEnd len="sm" w="sm" type="none"/>
                    </a:lnT>
                    <a:lnB cap="flat" cmpd="sng" w="9525">
                      <a:solidFill>
                        <a:srgbClr val="E2DDD3"/>
                      </a:solidFill>
                      <a:prstDash val="solid"/>
                      <a:round/>
                      <a:headEnd len="sm" w="sm" type="none"/>
                      <a:tailEnd len="sm" w="sm" type="none"/>
                    </a:lnB>
                    <a:solidFill>
                      <a:srgbClr val="FFFFFF"/>
                    </a:solidFill>
                  </a:tcPr>
                </a:tc>
              </a:tr>
            </a:tbl>
          </a:graphicData>
        </a:graphic>
      </p:graphicFrame>
      <p:sp>
        <p:nvSpPr>
          <p:cNvPr id="1837" name="Google Shape;1837;p62"/>
          <p:cNvSpPr txBox="1"/>
          <p:nvPr/>
        </p:nvSpPr>
        <p:spPr>
          <a:xfrm>
            <a:off x="6537960" y="164592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06B"/>
              </a:buClr>
              <a:buSzPts val="1400"/>
              <a:buFont typeface="Calibri"/>
              <a:buNone/>
            </a:pPr>
            <a:r>
              <a:rPr b="1" lang="en-US" sz="1400">
                <a:solidFill>
                  <a:srgbClr val="56606B"/>
                </a:solidFill>
                <a:latin typeface="Calibri"/>
                <a:ea typeface="Calibri"/>
                <a:cs typeface="Calibri"/>
                <a:sym typeface="Calibri"/>
              </a:rPr>
              <a:t>E138 → E138R, 30 October (UTC)</a:t>
            </a:r>
            <a:endParaRPr sz="1400">
              <a:solidFill>
                <a:schemeClr val="dk1"/>
              </a:solidFill>
              <a:latin typeface="Calibri"/>
              <a:ea typeface="Calibri"/>
              <a:cs typeface="Calibri"/>
              <a:sym typeface="Calibri"/>
            </a:endParaRPr>
          </a:p>
        </p:txBody>
      </p:sp>
      <p:sp>
        <p:nvSpPr>
          <p:cNvPr id="1838" name="Google Shape;1838;p62"/>
          <p:cNvSpPr txBox="1"/>
          <p:nvPr/>
        </p:nvSpPr>
        <p:spPr>
          <a:xfrm>
            <a:off x="6537960" y="2011680"/>
            <a:ext cx="512064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05:36–05:46   native readouts for the donor-swap bank</a:t>
            </a:r>
            <a:endParaRPr sz="1400">
              <a:solidFill>
                <a:schemeClr val="dk1"/>
              </a:solidFill>
              <a:latin typeface="Calibri"/>
              <a:ea typeface="Calibri"/>
              <a:cs typeface="Calibri"/>
              <a:sym typeface="Calibri"/>
            </a:endParaRPr>
          </a:p>
          <a:p>
            <a:pPr indent="0" lvl="0" marL="0" marR="0" rtl="0" algn="l">
              <a:spcBef>
                <a:spcPts val="60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07:11   R-5: recipient value passed to the judge as single characters</a:t>
            </a:r>
            <a:endParaRPr sz="1400">
              <a:solidFill>
                <a:schemeClr val="dk1"/>
              </a:solidFill>
              <a:latin typeface="Calibri"/>
              <a:ea typeface="Calibri"/>
              <a:cs typeface="Calibri"/>
              <a:sym typeface="Calibri"/>
            </a:endParaRPr>
          </a:p>
          <a:p>
            <a:pPr indent="0" lvl="0" marL="0" marR="0" rtl="0" algn="l">
              <a:spcBef>
                <a:spcPts val="60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07:20   deviation 2: MET claim withdrawn; rejudge once, ≤ USD 1</a:t>
            </a:r>
            <a:endParaRPr sz="1400">
              <a:solidFill>
                <a:schemeClr val="dk1"/>
              </a:solidFill>
              <a:latin typeface="Calibri"/>
              <a:ea typeface="Calibri"/>
              <a:cs typeface="Calibri"/>
              <a:sym typeface="Calibri"/>
            </a:endParaRPr>
          </a:p>
          <a:p>
            <a:pPr indent="0" lvl="0" marL="0" marR="0" rtl="0" algn="l">
              <a:spcBef>
                <a:spcPts val="60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08:52   E138R results: donor 63/84, recipient 0/84</a:t>
            </a:r>
            <a:endParaRPr sz="1400">
              <a:solidFill>
                <a:schemeClr val="dk1"/>
              </a:solidFill>
              <a:latin typeface="Calibri"/>
              <a:ea typeface="Calibri"/>
              <a:cs typeface="Calibri"/>
              <a:sym typeface="Calibri"/>
            </a:endParaRPr>
          </a:p>
          <a:p>
            <a:pPr indent="0" lvl="0" marL="0" marR="0" rtl="0" algn="l">
              <a:spcBef>
                <a:spcPts val="600"/>
              </a:spcBef>
              <a:spcAft>
                <a:spcPts val="0"/>
              </a:spcAft>
              <a:buClr>
                <a:srgbClr val="1F2A33"/>
              </a:buClr>
              <a:buSzPts val="1400"/>
              <a:buFont typeface="Calibri"/>
              <a:buNone/>
            </a:pPr>
            <a:r>
              <a:rPr lang="en-US" sz="1400">
                <a:solidFill>
                  <a:srgbClr val="1F2A33"/>
                </a:solidFill>
                <a:latin typeface="Calibri"/>
                <a:ea typeface="Calibri"/>
                <a:cs typeface="Calibri"/>
                <a:sym typeface="Calibri"/>
              </a:rPr>
              <a:t>09:10   R-5 final review: all 380 values reproduce</a:t>
            </a:r>
            <a:endParaRPr sz="1400">
              <a:solidFill>
                <a:schemeClr val="dk1"/>
              </a:solidFill>
              <a:latin typeface="Calibri"/>
              <a:ea typeface="Calibri"/>
              <a:cs typeface="Calibri"/>
              <a:sym typeface="Calibri"/>
            </a:endParaRPr>
          </a:p>
        </p:txBody>
      </p:sp>
      <p:sp>
        <p:nvSpPr>
          <p:cNvPr id="1839" name="Google Shape;1839;p62"/>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4" name="Shape 1844"/>
        <p:cNvGrpSpPr/>
        <p:nvPr/>
      </p:nvGrpSpPr>
      <p:grpSpPr>
        <a:xfrm>
          <a:off x="0" y="0"/>
          <a:ext cx="0" cy="0"/>
          <a:chOff x="0" y="0"/>
          <a:chExt cx="0" cy="0"/>
        </a:xfrm>
      </p:grpSpPr>
      <p:sp>
        <p:nvSpPr>
          <p:cNvPr id="1845" name="Google Shape;1845;p63"/>
          <p:cNvSpPr txBox="1"/>
          <p:nvPr>
            <p:ph type="title"/>
          </p:nvPr>
        </p:nvSpPr>
        <p:spPr>
          <a:xfrm>
            <a:off x="548640" y="566928"/>
            <a:ext cx="88696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700"/>
              <a:buFont typeface="Cambria"/>
              <a:buNone/>
            </a:pPr>
            <a:r>
              <a:rPr lang="en-US"/>
              <a:t>Failed monitoring methods</a:t>
            </a:r>
            <a:endParaRPr sz="2700"/>
          </a:p>
        </p:txBody>
      </p:sp>
      <p:sp>
        <p:nvSpPr>
          <p:cNvPr id="1846" name="Google Shape;1846;p63"/>
          <p:cNvSpPr/>
          <p:nvPr/>
        </p:nvSpPr>
        <p:spPr>
          <a:xfrm>
            <a:off x="9930384" y="310896"/>
            <a:ext cx="182880" cy="182880"/>
          </a:xfrm>
          <a:prstGeom prst="ellipse">
            <a:avLst/>
          </a:prstGeom>
          <a:solidFill>
            <a:srgbClr val="F7F5EF"/>
          </a:solidFill>
          <a:ln cap="flat" cmpd="sng" w="15875">
            <a:solidFill>
              <a:srgbClr val="6A4C9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7" name="Google Shape;1847;p63"/>
          <p:cNvSpPr txBox="1"/>
          <p:nvPr/>
        </p:nvSpPr>
        <p:spPr>
          <a:xfrm>
            <a:off x="955548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decodable</a:t>
            </a:r>
            <a:endParaRPr sz="1100">
              <a:solidFill>
                <a:schemeClr val="dk1"/>
              </a:solidFill>
              <a:latin typeface="Calibri"/>
              <a:ea typeface="Calibri"/>
              <a:cs typeface="Calibri"/>
              <a:sym typeface="Calibri"/>
            </a:endParaRPr>
          </a:p>
        </p:txBody>
      </p:sp>
      <p:sp>
        <p:nvSpPr>
          <p:cNvPr id="1848" name="Google Shape;1848;p63"/>
          <p:cNvSpPr/>
          <p:nvPr/>
        </p:nvSpPr>
        <p:spPr>
          <a:xfrm>
            <a:off x="10753344" y="310896"/>
            <a:ext cx="182880" cy="182880"/>
          </a:xfrm>
          <a:prstGeom prst="ellipse">
            <a:avLst/>
          </a:prstGeom>
          <a:solidFill>
            <a:srgbClr val="F7F5EF"/>
          </a:solidFill>
          <a:ln cap="flat" cmpd="sng" w="15875">
            <a:solidFill>
              <a:srgbClr val="C862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9" name="Google Shape;1849;p63"/>
          <p:cNvSpPr txBox="1"/>
          <p:nvPr/>
        </p:nvSpPr>
        <p:spPr>
          <a:xfrm>
            <a:off x="1037844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A948A"/>
              </a:buClr>
              <a:buSzPts val="1100"/>
              <a:buFont typeface="Calibri"/>
              <a:buNone/>
            </a:pPr>
            <a:r>
              <a:rPr lang="en-US" sz="1100">
                <a:solidFill>
                  <a:srgbClr val="9A948A"/>
                </a:solidFill>
                <a:latin typeface="Calibri"/>
                <a:ea typeface="Calibri"/>
                <a:cs typeface="Calibri"/>
                <a:sym typeface="Calibri"/>
              </a:rPr>
              <a:t>causal here</a:t>
            </a:r>
            <a:endParaRPr sz="1100">
              <a:solidFill>
                <a:schemeClr val="dk1"/>
              </a:solidFill>
              <a:latin typeface="Calibri"/>
              <a:ea typeface="Calibri"/>
              <a:cs typeface="Calibri"/>
              <a:sym typeface="Calibri"/>
            </a:endParaRPr>
          </a:p>
        </p:txBody>
      </p:sp>
      <p:sp>
        <p:nvSpPr>
          <p:cNvPr id="1850" name="Google Shape;1850;p63"/>
          <p:cNvSpPr/>
          <p:nvPr/>
        </p:nvSpPr>
        <p:spPr>
          <a:xfrm>
            <a:off x="11576304" y="310896"/>
            <a:ext cx="182880" cy="182880"/>
          </a:xfrm>
          <a:prstGeom prst="ellipse">
            <a:avLst/>
          </a:prstGeom>
          <a:solidFill>
            <a:srgbClr val="B03060"/>
          </a:solidFill>
          <a:ln cap="flat" cmpd="sng" w="15875">
            <a:solidFill>
              <a:srgbClr val="B03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1" name="Google Shape;1851;p63"/>
          <p:cNvSpPr txBox="1"/>
          <p:nvPr/>
        </p:nvSpPr>
        <p:spPr>
          <a:xfrm>
            <a:off x="11201400" y="530352"/>
            <a:ext cx="91440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A33"/>
              </a:buClr>
              <a:buSzPts val="1100"/>
              <a:buFont typeface="Calibri"/>
              <a:buNone/>
            </a:pPr>
            <a:r>
              <a:rPr lang="en-US" sz="1100">
                <a:solidFill>
                  <a:srgbClr val="1F2A33"/>
                </a:solidFill>
                <a:latin typeface="Calibri"/>
                <a:ea typeface="Calibri"/>
                <a:cs typeface="Calibri"/>
                <a:sym typeface="Calibri"/>
              </a:rPr>
              <a:t>stated</a:t>
            </a:r>
            <a:endParaRPr sz="1100">
              <a:solidFill>
                <a:schemeClr val="dk1"/>
              </a:solidFill>
              <a:latin typeface="Calibri"/>
              <a:ea typeface="Calibri"/>
              <a:cs typeface="Calibri"/>
              <a:sym typeface="Calibri"/>
            </a:endParaRPr>
          </a:p>
        </p:txBody>
      </p:sp>
      <p:sp>
        <p:nvSpPr>
          <p:cNvPr id="1852" name="Google Shape;1852;p63"/>
          <p:cNvSpPr txBox="1"/>
          <p:nvPr>
            <p:ph idx="2" type="body"/>
          </p:nvPr>
        </p:nvSpPr>
        <p:spPr>
          <a:xfrm>
            <a:off x="548640" y="5943600"/>
            <a:ext cx="1106424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B03060"/>
              </a:buClr>
              <a:buSzPts val="1200"/>
              <a:buNone/>
            </a:pPr>
            <a:r>
              <a:rPr b="1" lang="en-US" sz="1200">
                <a:solidFill>
                  <a:srgbClr val="B03060"/>
                </a:solidFill>
              </a:rPr>
              <a:t>Does not show   </a:t>
            </a:r>
            <a:r>
              <a:rPr lang="en-US" sz="1200">
                <a:solidFill>
                  <a:schemeClr val="dk1"/>
                </a:solidFill>
              </a:rPr>
              <a:t>That monitoring is hopeless: row 1 pools natural banks (4,313 shared items); rows 2–4 and 6 use one steered fact bank; row 5 is a different 100-prompt bank. On the language row, block 52 states the new value on only 17 of 40.</a:t>
            </a:r>
            <a:endParaRPr sz="1200"/>
          </a:p>
        </p:txBody>
      </p:sp>
      <p:sp>
        <p:nvSpPr>
          <p:cNvPr id="1853" name="Google Shape;1853;p63"/>
          <p:cNvSpPr/>
          <p:nvPr/>
        </p:nvSpPr>
        <p:spPr>
          <a:xfrm>
            <a:off x="548640" y="1645920"/>
            <a:ext cx="11109960" cy="603504"/>
          </a:xfrm>
          <a:prstGeom prst="roundRect">
            <a:avLst>
              <a:gd fmla="val 9091"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4" name="Google Shape;1854;p63"/>
          <p:cNvSpPr txBox="1"/>
          <p:nvPr/>
        </p:nvSpPr>
        <p:spPr>
          <a:xfrm>
            <a:off x="731520" y="1682496"/>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Two readers agree, natural banks (E94)</a:t>
            </a:r>
            <a:endParaRPr sz="1600">
              <a:solidFill>
                <a:schemeClr val="dk1"/>
              </a:solidFill>
              <a:latin typeface="Calibri"/>
              <a:ea typeface="Calibri"/>
              <a:cs typeface="Calibri"/>
              <a:sym typeface="Calibri"/>
            </a:endParaRPr>
          </a:p>
        </p:txBody>
      </p:sp>
      <p:sp>
        <p:nvSpPr>
          <p:cNvPr id="1855" name="Google Shape;1855;p63"/>
          <p:cNvSpPr txBox="1"/>
          <p:nvPr/>
        </p:nvSpPr>
        <p:spPr>
          <a:xfrm>
            <a:off x="4389120" y="1682496"/>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Both state the same value: precision 943/1001 = 0.94, but coverage only 0.23 (Oracle alone: 0.83 precision, 0.40 coverage)</a:t>
            </a:r>
            <a:endParaRPr sz="1450">
              <a:solidFill>
                <a:schemeClr val="dk1"/>
              </a:solidFill>
              <a:latin typeface="Calibri"/>
              <a:ea typeface="Calibri"/>
              <a:cs typeface="Calibri"/>
              <a:sym typeface="Calibri"/>
            </a:endParaRPr>
          </a:p>
        </p:txBody>
      </p:sp>
      <p:sp>
        <p:nvSpPr>
          <p:cNvPr id="1856" name="Google Shape;1856;p63"/>
          <p:cNvSpPr txBox="1"/>
          <p:nvPr/>
        </p:nvSpPr>
        <p:spPr>
          <a:xfrm>
            <a:off x="9509760" y="1682496"/>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2A33"/>
              </a:buClr>
              <a:buSzPts val="1900"/>
              <a:buFont typeface="Cambria"/>
              <a:buNone/>
            </a:pPr>
            <a:r>
              <a:rPr b="1" lang="en-US" sz="1900">
                <a:solidFill>
                  <a:srgbClr val="1F2A33"/>
                </a:solidFill>
                <a:latin typeface="Cambria"/>
                <a:ea typeface="Cambria"/>
                <a:cs typeface="Cambria"/>
                <a:sym typeface="Cambria"/>
              </a:rPr>
              <a:t>0.94 at 23%</a:t>
            </a:r>
            <a:endParaRPr sz="1900">
              <a:solidFill>
                <a:schemeClr val="dk1"/>
              </a:solidFill>
              <a:latin typeface="Calibri"/>
              <a:ea typeface="Calibri"/>
              <a:cs typeface="Calibri"/>
              <a:sym typeface="Calibri"/>
            </a:endParaRPr>
          </a:p>
        </p:txBody>
      </p:sp>
      <p:sp>
        <p:nvSpPr>
          <p:cNvPr id="1857" name="Google Shape;1857;p63"/>
          <p:cNvSpPr/>
          <p:nvPr/>
        </p:nvSpPr>
        <p:spPr>
          <a:xfrm>
            <a:off x="548640" y="2340864"/>
            <a:ext cx="11109960" cy="603504"/>
          </a:xfrm>
          <a:prstGeom prst="roundRect">
            <a:avLst>
              <a:gd fmla="val 9091"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8" name="Google Shape;1858;p63"/>
          <p:cNvSpPr txBox="1"/>
          <p:nvPr/>
        </p:nvSpPr>
        <p:spPr>
          <a:xfrm>
            <a:off x="731520" y="2377440"/>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Two readers agree, steered bank</a:t>
            </a:r>
            <a:endParaRPr sz="1600">
              <a:solidFill>
                <a:schemeClr val="dk1"/>
              </a:solidFill>
              <a:latin typeface="Calibri"/>
              <a:ea typeface="Calibri"/>
              <a:cs typeface="Calibri"/>
              <a:sym typeface="Calibri"/>
            </a:endParaRPr>
          </a:p>
        </p:txBody>
      </p:sp>
      <p:sp>
        <p:nvSpPr>
          <p:cNvPr id="1859" name="Google Shape;1859;p63"/>
          <p:cNvSpPr txBox="1"/>
          <p:nvPr/>
        </p:nvSpPr>
        <p:spPr>
          <a:xfrm>
            <a:off x="4389120" y="2377440"/>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Oracle@44 and NLA@42 agree on a value for 35 of 84 steered items; all 35 name the old value</a:t>
            </a:r>
            <a:endParaRPr sz="1450">
              <a:solidFill>
                <a:schemeClr val="dk1"/>
              </a:solidFill>
              <a:latin typeface="Calibri"/>
              <a:ea typeface="Calibri"/>
              <a:cs typeface="Calibri"/>
              <a:sym typeface="Calibri"/>
            </a:endParaRPr>
          </a:p>
        </p:txBody>
      </p:sp>
      <p:sp>
        <p:nvSpPr>
          <p:cNvPr id="1860" name="Google Shape;1860;p63"/>
          <p:cNvSpPr txBox="1"/>
          <p:nvPr/>
        </p:nvSpPr>
        <p:spPr>
          <a:xfrm>
            <a:off x="9509760" y="2377440"/>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060"/>
              </a:buClr>
              <a:buSzPts val="1900"/>
              <a:buFont typeface="Cambria"/>
              <a:buNone/>
            </a:pPr>
            <a:r>
              <a:rPr b="1" lang="en-US" sz="1900">
                <a:solidFill>
                  <a:srgbClr val="B03060"/>
                </a:solidFill>
                <a:latin typeface="Cambria"/>
                <a:ea typeface="Cambria"/>
                <a:cs typeface="Cambria"/>
                <a:sym typeface="Cambria"/>
              </a:rPr>
              <a:t>35 / 35 stale</a:t>
            </a:r>
            <a:endParaRPr sz="1900">
              <a:solidFill>
                <a:schemeClr val="dk1"/>
              </a:solidFill>
              <a:latin typeface="Calibri"/>
              <a:ea typeface="Calibri"/>
              <a:cs typeface="Calibri"/>
              <a:sym typeface="Calibri"/>
            </a:endParaRPr>
          </a:p>
        </p:txBody>
      </p:sp>
      <p:sp>
        <p:nvSpPr>
          <p:cNvPr id="1861" name="Google Shape;1861;p63"/>
          <p:cNvSpPr/>
          <p:nvPr/>
        </p:nvSpPr>
        <p:spPr>
          <a:xfrm>
            <a:off x="548640" y="3035808"/>
            <a:ext cx="11109960" cy="603504"/>
          </a:xfrm>
          <a:prstGeom prst="roundRect">
            <a:avLst>
              <a:gd fmla="val 9091"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2" name="Google Shape;1862;p63"/>
          <p:cNvSpPr txBox="1"/>
          <p:nvPr/>
        </p:nvSpPr>
        <p:spPr>
          <a:xfrm>
            <a:off x="731520" y="3072384"/>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A judge checks the readout fits</a:t>
            </a:r>
            <a:endParaRPr sz="1600">
              <a:solidFill>
                <a:schemeClr val="dk1"/>
              </a:solidFill>
              <a:latin typeface="Calibri"/>
              <a:ea typeface="Calibri"/>
              <a:cs typeface="Calibri"/>
              <a:sym typeface="Calibri"/>
            </a:endParaRPr>
          </a:p>
        </p:txBody>
      </p:sp>
      <p:sp>
        <p:nvSpPr>
          <p:cNvPr id="1863" name="Google Shape;1863;p63"/>
          <p:cNvSpPr txBox="1"/>
          <p:nvPr/>
        </p:nvSpPr>
        <p:spPr>
          <a:xfrm>
            <a:off x="4389120" y="3072384"/>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'Consistent' for 37/84 steered block-44 readouts (random push 34/84) and 0/84 correct block-52 ones</a:t>
            </a:r>
            <a:endParaRPr sz="1450">
              <a:solidFill>
                <a:schemeClr val="dk1"/>
              </a:solidFill>
              <a:latin typeface="Calibri"/>
              <a:ea typeface="Calibri"/>
              <a:cs typeface="Calibri"/>
              <a:sym typeface="Calibri"/>
            </a:endParaRPr>
          </a:p>
        </p:txBody>
      </p:sp>
      <p:sp>
        <p:nvSpPr>
          <p:cNvPr id="1864" name="Google Shape;1864;p63"/>
          <p:cNvSpPr txBox="1"/>
          <p:nvPr/>
        </p:nvSpPr>
        <p:spPr>
          <a:xfrm>
            <a:off x="9509760" y="3072384"/>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060"/>
              </a:buClr>
              <a:buSzPts val="1900"/>
              <a:buFont typeface="Cambria"/>
              <a:buNone/>
            </a:pPr>
            <a:r>
              <a:rPr b="1" lang="en-US" sz="1900">
                <a:solidFill>
                  <a:srgbClr val="B03060"/>
                </a:solidFill>
                <a:latin typeface="Cambria"/>
                <a:ea typeface="Cambria"/>
                <a:cs typeface="Cambria"/>
                <a:sym typeface="Cambria"/>
              </a:rPr>
              <a:t>37 / 84 vs 0 / 84</a:t>
            </a:r>
            <a:endParaRPr sz="1900">
              <a:solidFill>
                <a:schemeClr val="dk1"/>
              </a:solidFill>
              <a:latin typeface="Calibri"/>
              <a:ea typeface="Calibri"/>
              <a:cs typeface="Calibri"/>
              <a:sym typeface="Calibri"/>
            </a:endParaRPr>
          </a:p>
        </p:txBody>
      </p:sp>
      <p:sp>
        <p:nvSpPr>
          <p:cNvPr id="1865" name="Google Shape;1865;p63"/>
          <p:cNvSpPr/>
          <p:nvPr/>
        </p:nvSpPr>
        <p:spPr>
          <a:xfrm>
            <a:off x="548640" y="3730752"/>
            <a:ext cx="11109960" cy="603504"/>
          </a:xfrm>
          <a:prstGeom prst="roundRect">
            <a:avLst>
              <a:gd fmla="val 9091"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6" name="Google Shape;1866;p63"/>
          <p:cNvSpPr txBox="1"/>
          <p:nvPr/>
        </p:nvSpPr>
        <p:spPr>
          <a:xfrm>
            <a:off x="731520" y="3767328"/>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Flag when blocks 44 and 52 disagree</a:t>
            </a:r>
            <a:endParaRPr sz="1600">
              <a:solidFill>
                <a:schemeClr val="dk1"/>
              </a:solidFill>
              <a:latin typeface="Calibri"/>
              <a:ea typeface="Calibri"/>
              <a:cs typeface="Calibri"/>
              <a:sym typeface="Calibri"/>
            </a:endParaRPr>
          </a:p>
        </p:txBody>
      </p:sp>
      <p:sp>
        <p:nvSpPr>
          <p:cNvPr id="1867" name="Google Shape;1867;p63"/>
          <p:cNvSpPr txBox="1"/>
          <p:nvPr/>
        </p:nvSpPr>
        <p:spPr>
          <a:xfrm>
            <a:off x="4389120" y="3767328"/>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Fact row: catches 47/47 stale items, fires on 19/84 unsteered (limit 15%); language row not usable</a:t>
            </a:r>
            <a:endParaRPr sz="1450">
              <a:solidFill>
                <a:schemeClr val="dk1"/>
              </a:solidFill>
              <a:latin typeface="Calibri"/>
              <a:ea typeface="Calibri"/>
              <a:cs typeface="Calibri"/>
              <a:sym typeface="Calibri"/>
            </a:endParaRPr>
          </a:p>
        </p:txBody>
      </p:sp>
      <p:sp>
        <p:nvSpPr>
          <p:cNvPr id="1868" name="Google Shape;1868;p63"/>
          <p:cNvSpPr txBox="1"/>
          <p:nvPr/>
        </p:nvSpPr>
        <p:spPr>
          <a:xfrm>
            <a:off x="9509760" y="3767328"/>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060"/>
              </a:buClr>
              <a:buSzPts val="1900"/>
              <a:buFont typeface="Cambria"/>
              <a:buNone/>
            </a:pPr>
            <a:r>
              <a:rPr b="1" lang="en-US" sz="1900">
                <a:solidFill>
                  <a:srgbClr val="B03060"/>
                </a:solidFill>
                <a:latin typeface="Cambria"/>
                <a:ea typeface="Cambria"/>
                <a:cs typeface="Cambria"/>
                <a:sym typeface="Cambria"/>
              </a:rPr>
              <a:t>23% false alarms</a:t>
            </a:r>
            <a:endParaRPr sz="1900">
              <a:solidFill>
                <a:schemeClr val="dk1"/>
              </a:solidFill>
              <a:latin typeface="Calibri"/>
              <a:ea typeface="Calibri"/>
              <a:cs typeface="Calibri"/>
              <a:sym typeface="Calibri"/>
            </a:endParaRPr>
          </a:p>
        </p:txBody>
      </p:sp>
      <p:sp>
        <p:nvSpPr>
          <p:cNvPr id="1869" name="Google Shape;1869;p63"/>
          <p:cNvSpPr/>
          <p:nvPr/>
        </p:nvSpPr>
        <p:spPr>
          <a:xfrm>
            <a:off x="548640" y="4425696"/>
            <a:ext cx="11109960" cy="603504"/>
          </a:xfrm>
          <a:prstGeom prst="roundRect">
            <a:avLst>
              <a:gd fmla="val 9091" name="adj"/>
            </a:avLst>
          </a:prstGeom>
          <a:solidFill>
            <a:srgbClr val="FFFFFF"/>
          </a:solidFill>
          <a:ln cap="flat" cmpd="sng" w="9525">
            <a:solidFill>
              <a:srgbClr val="E2DD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0" name="Google Shape;1870;p63"/>
          <p:cNvSpPr txBox="1"/>
          <p:nvPr/>
        </p:nvSpPr>
        <p:spPr>
          <a:xfrm>
            <a:off x="731520" y="4462272"/>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Read every block, combine</a:t>
            </a:r>
            <a:endParaRPr sz="1600">
              <a:solidFill>
                <a:schemeClr val="dk1"/>
              </a:solidFill>
              <a:latin typeface="Calibri"/>
              <a:ea typeface="Calibri"/>
              <a:cs typeface="Calibri"/>
              <a:sym typeface="Calibri"/>
            </a:endParaRPr>
          </a:p>
        </p:txBody>
      </p:sp>
      <p:sp>
        <p:nvSpPr>
          <p:cNvPr id="1871" name="Google Shape;1871;p63"/>
          <p:cNvSpPr txBox="1"/>
          <p:nvPr/>
        </p:nvSpPr>
        <p:spPr>
          <a:xfrm>
            <a:off x="4389120" y="4462272"/>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Different bank (E134, 100 prompts): 13 abstentions become 6 correct and 7 false claims</a:t>
            </a:r>
            <a:endParaRPr sz="1450">
              <a:solidFill>
                <a:schemeClr val="dk1"/>
              </a:solidFill>
              <a:latin typeface="Calibri"/>
              <a:ea typeface="Calibri"/>
              <a:cs typeface="Calibri"/>
              <a:sym typeface="Calibri"/>
            </a:endParaRPr>
          </a:p>
        </p:txBody>
      </p:sp>
      <p:sp>
        <p:nvSpPr>
          <p:cNvPr id="1872" name="Google Shape;1872;p63"/>
          <p:cNvSpPr txBox="1"/>
          <p:nvPr/>
        </p:nvSpPr>
        <p:spPr>
          <a:xfrm>
            <a:off x="9509760" y="4462272"/>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060"/>
              </a:buClr>
              <a:buSzPts val="1900"/>
              <a:buFont typeface="Cambria"/>
              <a:buNone/>
            </a:pPr>
            <a:r>
              <a:rPr b="1" lang="en-US" sz="1900">
                <a:solidFill>
                  <a:srgbClr val="B03060"/>
                </a:solidFill>
                <a:latin typeface="Cambria"/>
                <a:ea typeface="Cambria"/>
                <a:cs typeface="Cambria"/>
                <a:sym typeface="Cambria"/>
              </a:rPr>
              <a:t>+6 / +7 points</a:t>
            </a:r>
            <a:endParaRPr sz="1900">
              <a:solidFill>
                <a:schemeClr val="dk1"/>
              </a:solidFill>
              <a:latin typeface="Calibri"/>
              <a:ea typeface="Calibri"/>
              <a:cs typeface="Calibri"/>
              <a:sym typeface="Calibri"/>
            </a:endParaRPr>
          </a:p>
        </p:txBody>
      </p:sp>
      <p:sp>
        <p:nvSpPr>
          <p:cNvPr id="1873" name="Google Shape;1873;p63"/>
          <p:cNvSpPr/>
          <p:nvPr/>
        </p:nvSpPr>
        <p:spPr>
          <a:xfrm>
            <a:off x="548640" y="5120640"/>
            <a:ext cx="11109960" cy="603504"/>
          </a:xfrm>
          <a:prstGeom prst="roundRect">
            <a:avLst>
              <a:gd fmla="val 9091" name="adj"/>
            </a:avLst>
          </a:prstGeom>
          <a:solidFill>
            <a:srgbClr val="DCEBE8"/>
          </a:solidFill>
          <a:ln cap="flat" cmpd="sng" w="9525">
            <a:solidFill>
              <a:srgbClr val="DCEB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4" name="Google Shape;1874;p63"/>
          <p:cNvSpPr txBox="1"/>
          <p:nvPr/>
        </p:nvSpPr>
        <p:spPr>
          <a:xfrm>
            <a:off x="731520" y="5157216"/>
            <a:ext cx="3566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600"/>
              <a:buFont typeface="Calibri"/>
              <a:buNone/>
            </a:pPr>
            <a:r>
              <a:rPr b="1" lang="en-US" sz="1600">
                <a:solidFill>
                  <a:srgbClr val="1F2A33"/>
                </a:solidFill>
                <a:latin typeface="Calibri"/>
                <a:ea typeface="Calibri"/>
                <a:cs typeface="Calibri"/>
                <a:sym typeface="Calibri"/>
              </a:rPr>
              <a:t>Read block 52 instead (post hoc)</a:t>
            </a:r>
            <a:endParaRPr sz="1600">
              <a:solidFill>
                <a:schemeClr val="dk1"/>
              </a:solidFill>
              <a:latin typeface="Calibri"/>
              <a:ea typeface="Calibri"/>
              <a:cs typeface="Calibri"/>
              <a:sym typeface="Calibri"/>
            </a:endParaRPr>
          </a:p>
        </p:txBody>
      </p:sp>
      <p:sp>
        <p:nvSpPr>
          <p:cNvPr id="1875" name="Google Shape;1875;p63"/>
          <p:cNvSpPr txBox="1"/>
          <p:nvPr/>
        </p:nvSpPr>
        <p:spPr>
          <a:xfrm>
            <a:off x="4389120" y="5157216"/>
            <a:ext cx="51206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3"/>
              </a:buClr>
              <a:buSzPts val="1450"/>
              <a:buFont typeface="Calibri"/>
              <a:buNone/>
            </a:pPr>
            <a:r>
              <a:rPr lang="en-US" sz="1450">
                <a:solidFill>
                  <a:srgbClr val="1F2A33"/>
                </a:solidFill>
                <a:latin typeface="Calibri"/>
                <a:ea typeface="Calibri"/>
                <a:cs typeface="Calibri"/>
                <a:sym typeface="Calibri"/>
              </a:rPr>
              <a:t>Fact row: new value on 84/84 steered, old on 84/84 unsteered; language row 17/40</a:t>
            </a:r>
            <a:endParaRPr sz="1450">
              <a:solidFill>
                <a:schemeClr val="dk1"/>
              </a:solidFill>
              <a:latin typeface="Calibri"/>
              <a:ea typeface="Calibri"/>
              <a:cs typeface="Calibri"/>
              <a:sym typeface="Calibri"/>
            </a:endParaRPr>
          </a:p>
        </p:txBody>
      </p:sp>
      <p:sp>
        <p:nvSpPr>
          <p:cNvPr id="1876" name="Google Shape;1876;p63"/>
          <p:cNvSpPr txBox="1"/>
          <p:nvPr/>
        </p:nvSpPr>
        <p:spPr>
          <a:xfrm>
            <a:off x="9509760" y="5157216"/>
            <a:ext cx="201168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F7A"/>
              </a:buClr>
              <a:buSzPts val="1900"/>
              <a:buFont typeface="Cambria"/>
              <a:buNone/>
            </a:pPr>
            <a:r>
              <a:rPr b="1" lang="en-US" sz="1900">
                <a:solidFill>
                  <a:srgbClr val="2E7F7A"/>
                </a:solidFill>
                <a:latin typeface="Cambria"/>
                <a:ea typeface="Cambria"/>
                <a:cs typeface="Cambria"/>
                <a:sym typeface="Cambria"/>
              </a:rPr>
              <a:t>84 / 84</a:t>
            </a:r>
            <a:endParaRPr sz="1900">
              <a:solidFill>
                <a:schemeClr val="dk1"/>
              </a:solidFill>
              <a:latin typeface="Calibri"/>
              <a:ea typeface="Calibri"/>
              <a:cs typeface="Calibri"/>
              <a:sym typeface="Calibri"/>
            </a:endParaRPr>
          </a:p>
        </p:txBody>
      </p:sp>
      <p:sp>
        <p:nvSpPr>
          <p:cNvPr id="1877" name="Google Shape;1877;p63"/>
          <p:cNvSpPr txBox="1"/>
          <p:nvPr>
            <p:ph idx="4294967295" type="sldNum"/>
          </p:nvPr>
        </p:nvSpPr>
        <p:spPr>
          <a:xfrm>
            <a:off x="11109960" y="6437376"/>
            <a:ext cx="54864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100">
                <a:solidFill>
                  <a:srgbClr val="56606B"/>
                </a:solidFill>
                <a:latin typeface="Calibri"/>
                <a:ea typeface="Calibri"/>
                <a:cs typeface="Calibri"/>
                <a:sym typeface="Calibri"/>
              </a:rPr>
              <a:t>‹#›</a:t>
            </a:fld>
            <a:endParaRPr sz="1100">
              <a:solidFill>
                <a:srgbClr val="56606B"/>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Readers-Editorial">
  <a:themeElements>
    <a:clrScheme name="Readers-Editorial">
      <a:dk1>
        <a:srgbClr val="1F2A33"/>
      </a:dk1>
      <a:lt1>
        <a:srgbClr val="F7F5EF"/>
      </a:lt1>
      <a:dk2>
        <a:srgbClr val="56606B"/>
      </a:dk2>
      <a:lt2>
        <a:srgbClr val="ECE7DC"/>
      </a:lt2>
      <a:accent1>
        <a:srgbClr val="6A4C9C"/>
      </a:accent1>
      <a:accent2>
        <a:srgbClr val="C8622B"/>
      </a:accent2>
      <a:accent3>
        <a:srgbClr val="B03060"/>
      </a:accent3>
      <a:accent4>
        <a:srgbClr val="9A948A"/>
      </a:accent4>
      <a:accent5>
        <a:srgbClr val="2E7F7A"/>
      </a:accent5>
      <a:accent6>
        <a:srgbClr val="E2DDD3"/>
      </a:accent6>
      <a:hlink>
        <a:srgbClr val="6A4C9C"/>
      </a:hlink>
      <a:folHlink>
        <a:srgbClr val="5660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